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6" r:id="rId2"/>
    <p:sldId id="257" r:id="rId3"/>
    <p:sldId id="265" r:id="rId4"/>
    <p:sldId id="271" r:id="rId5"/>
    <p:sldId id="272" r:id="rId6"/>
    <p:sldId id="258" r:id="rId7"/>
    <p:sldId id="266" r:id="rId8"/>
    <p:sldId id="273" r:id="rId9"/>
    <p:sldId id="274" r:id="rId10"/>
    <p:sldId id="275" r:id="rId11"/>
    <p:sldId id="276" r:id="rId12"/>
    <p:sldId id="278" r:id="rId13"/>
    <p:sldId id="277" r:id="rId14"/>
    <p:sldId id="279" r:id="rId15"/>
    <p:sldId id="280" r:id="rId16"/>
    <p:sldId id="281" r:id="rId17"/>
    <p:sldId id="282" r:id="rId18"/>
    <p:sldId id="291" r:id="rId19"/>
    <p:sldId id="283" r:id="rId20"/>
    <p:sldId id="284" r:id="rId21"/>
    <p:sldId id="259" r:id="rId22"/>
    <p:sldId id="267" r:id="rId23"/>
    <p:sldId id="285" r:id="rId24"/>
    <p:sldId id="286" r:id="rId25"/>
    <p:sldId id="287" r:id="rId26"/>
    <p:sldId id="288" r:id="rId27"/>
    <p:sldId id="289" r:id="rId28"/>
    <p:sldId id="309" r:id="rId29"/>
    <p:sldId id="310" r:id="rId30"/>
    <p:sldId id="311" r:id="rId31"/>
    <p:sldId id="312" r:id="rId32"/>
    <p:sldId id="313" r:id="rId33"/>
    <p:sldId id="314" r:id="rId34"/>
    <p:sldId id="260" r:id="rId35"/>
    <p:sldId id="268" r:id="rId36"/>
    <p:sldId id="290" r:id="rId37"/>
    <p:sldId id="292" r:id="rId38"/>
    <p:sldId id="293" r:id="rId39"/>
    <p:sldId id="294" r:id="rId40"/>
    <p:sldId id="295" r:id="rId41"/>
    <p:sldId id="296" r:id="rId42"/>
    <p:sldId id="315" r:id="rId43"/>
    <p:sldId id="261" r:id="rId44"/>
    <p:sldId id="269" r:id="rId45"/>
    <p:sldId id="297" r:id="rId46"/>
    <p:sldId id="298" r:id="rId47"/>
    <p:sldId id="300" r:id="rId48"/>
    <p:sldId id="299" r:id="rId49"/>
    <p:sldId id="301" r:id="rId50"/>
    <p:sldId id="302" r:id="rId51"/>
    <p:sldId id="303" r:id="rId52"/>
    <p:sldId id="304" r:id="rId53"/>
    <p:sldId id="263" r:id="rId54"/>
    <p:sldId id="305" r:id="rId55"/>
    <p:sldId id="270" r:id="rId56"/>
    <p:sldId id="306" r:id="rId57"/>
    <p:sldId id="307" r:id="rId58"/>
    <p:sldId id="308" r:id="rId59"/>
    <p:sldId id="264"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420097-B95C-4D7B-81EA-6E9984F6EC11}"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563F1A-2ABE-4BB7-A1CD-8B3C013A5FC7}" type="slidenum">
              <a:rPr lang="en-US" smtClean="0"/>
              <a:t>‹#›</a:t>
            </a:fld>
            <a:endParaRPr lang="en-US"/>
          </a:p>
        </p:txBody>
      </p:sp>
    </p:spTree>
    <p:extLst>
      <p:ext uri="{BB962C8B-B14F-4D97-AF65-F5344CB8AC3E}">
        <p14:creationId xmlns:p14="http://schemas.microsoft.com/office/powerpoint/2010/main" val="721380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563F1A-2ABE-4BB7-A1CD-8B3C013A5FC7}" type="slidenum">
              <a:rPr lang="en-US" smtClean="0"/>
              <a:t>14</a:t>
            </a:fld>
            <a:endParaRPr lang="en-US"/>
          </a:p>
        </p:txBody>
      </p:sp>
    </p:spTree>
    <p:extLst>
      <p:ext uri="{BB962C8B-B14F-4D97-AF65-F5344CB8AC3E}">
        <p14:creationId xmlns:p14="http://schemas.microsoft.com/office/powerpoint/2010/main" val="4236598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563F1A-2ABE-4BB7-A1CD-8B3C013A5FC7}" type="slidenum">
              <a:rPr lang="en-US" smtClean="0"/>
              <a:t>28</a:t>
            </a:fld>
            <a:endParaRPr lang="en-US"/>
          </a:p>
        </p:txBody>
      </p:sp>
    </p:spTree>
    <p:extLst>
      <p:ext uri="{BB962C8B-B14F-4D97-AF65-F5344CB8AC3E}">
        <p14:creationId xmlns:p14="http://schemas.microsoft.com/office/powerpoint/2010/main" val="3954180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563F1A-2ABE-4BB7-A1CD-8B3C013A5FC7}" type="slidenum">
              <a:rPr lang="en-US" smtClean="0"/>
              <a:t>34</a:t>
            </a:fld>
            <a:endParaRPr lang="en-US"/>
          </a:p>
        </p:txBody>
      </p:sp>
    </p:spTree>
    <p:extLst>
      <p:ext uri="{BB962C8B-B14F-4D97-AF65-F5344CB8AC3E}">
        <p14:creationId xmlns:p14="http://schemas.microsoft.com/office/powerpoint/2010/main" val="1461895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33B9DCA-4AF8-4BED-BFF4-55EBC2BE7C38}"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2998420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3B9DCA-4AF8-4BED-BFF4-55EBC2BE7C38}"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1602560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3B9DCA-4AF8-4BED-BFF4-55EBC2BE7C38}"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415525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33B9DCA-4AF8-4BED-BFF4-55EBC2BE7C38}"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352156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33B9DCA-4AF8-4BED-BFF4-55EBC2BE7C38}"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3741208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3B9DCA-4AF8-4BED-BFF4-55EBC2BE7C38}"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2846880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3B9DCA-4AF8-4BED-BFF4-55EBC2BE7C38}"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61837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3B9DCA-4AF8-4BED-BFF4-55EBC2BE7C38}"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2247976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3B9DCA-4AF8-4BED-BFF4-55EBC2BE7C38}"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419003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3B9DCA-4AF8-4BED-BFF4-55EBC2BE7C38}"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498495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3B9DCA-4AF8-4BED-BFF4-55EBC2BE7C38}"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25C10-E78B-4249-8542-1BEF063B531C}" type="slidenum">
              <a:rPr lang="en-US" smtClean="0"/>
              <a:t>‹#›</a:t>
            </a:fld>
            <a:endParaRPr lang="en-US"/>
          </a:p>
        </p:txBody>
      </p:sp>
    </p:spTree>
    <p:extLst>
      <p:ext uri="{BB962C8B-B14F-4D97-AF65-F5344CB8AC3E}">
        <p14:creationId xmlns:p14="http://schemas.microsoft.com/office/powerpoint/2010/main" val="742714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3B9DCA-4AF8-4BED-BFF4-55EBC2BE7C38}" type="datetimeFigureOut">
              <a:rPr lang="en-US" smtClean="0"/>
              <a:t>3/25/2026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25C10-E78B-4249-8542-1BEF063B531C}" type="slidenum">
              <a:rPr lang="en-US" smtClean="0"/>
              <a:t>‹#›</a:t>
            </a:fld>
            <a:endParaRPr lang="en-US"/>
          </a:p>
        </p:txBody>
      </p:sp>
    </p:spTree>
    <p:extLst>
      <p:ext uri="{BB962C8B-B14F-4D97-AF65-F5344CB8AC3E}">
        <p14:creationId xmlns:p14="http://schemas.microsoft.com/office/powerpoint/2010/main" val="4199045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a-search-algorithm/" TargetMode="External"/><Relationship Id="rId2" Type="http://schemas.openxmlformats.org/officeDocument/2006/relationships/hyperlink" Target="https://www.geeksforgeeks.org/iterative-deepening-searchids-iterative-deepening-depth-first-searchiddf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a-search-algorithm/" TargetMode="External"/><Relationship Id="rId2" Type="http://schemas.openxmlformats.org/officeDocument/2006/relationships/hyperlink" Target="https://www.geeksforgeeks.org/iterative-depth-first-traversal/" TargetMode="External"/><Relationship Id="rId1" Type="http://schemas.openxmlformats.org/officeDocument/2006/relationships/slideLayout" Target="../slideLayouts/slideLayout2.xml"/><Relationship Id="rId4" Type="http://schemas.openxmlformats.org/officeDocument/2006/relationships/hyperlink" Target="https://www.geeksforgeeks.org/depth-first-search-or-dfs-for-a-graph/"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a-search-algorithm/" TargetMode="External"/><Relationship Id="rId2" Type="http://schemas.openxmlformats.org/officeDocument/2006/relationships/hyperlink" Target="https://www.geeksforgeeks.org/depth-first-search-or-dfs-for-a-graph/"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geeksforgeeks.org/a-search-algorith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scholarhat.com/tutorial/artificialintelligence/natural-language-processing-in-ai"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codeproject.com/Articles/5300469/Backgammon-Artificial-Intelligenc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0146" y="1745818"/>
            <a:ext cx="9144000" cy="2387600"/>
          </a:xfrm>
        </p:spPr>
        <p:txBody>
          <a:bodyPr>
            <a:normAutofit/>
          </a:bodyPr>
          <a:lstStyle/>
          <a:p>
            <a:r>
              <a:rPr lang="en-US" sz="5400" b="1" dirty="0">
                <a:solidFill>
                  <a:srgbClr val="C00000"/>
                </a:solidFill>
                <a:latin typeface="Cambria" panose="02040503050406030204" pitchFamily="18" charset="0"/>
                <a:ea typeface="Cambria" panose="02040503050406030204" pitchFamily="18" charset="0"/>
              </a:rPr>
              <a:t>MORE ON A* ALGORITHM AND GAME PLAYING</a:t>
            </a:r>
            <a:endParaRPr lang="en-US" sz="5400" dirty="0">
              <a:solidFill>
                <a:srgbClr val="C00000"/>
              </a:solidFill>
              <a:latin typeface="Cambria" panose="02040503050406030204" pitchFamily="18" charset="0"/>
              <a:ea typeface="Cambria" panose="02040503050406030204" pitchFamily="18" charset="0"/>
            </a:endParaRPr>
          </a:p>
        </p:txBody>
      </p:sp>
      <p:sp>
        <p:nvSpPr>
          <p:cNvPr id="3" name="TextBox 2"/>
          <p:cNvSpPr txBox="1"/>
          <p:nvPr/>
        </p:nvSpPr>
        <p:spPr>
          <a:xfrm>
            <a:off x="3629891" y="1510145"/>
            <a:ext cx="4475018" cy="646331"/>
          </a:xfrm>
          <a:prstGeom prst="rect">
            <a:avLst/>
          </a:prstGeom>
          <a:noFill/>
        </p:spPr>
        <p:txBody>
          <a:bodyPr wrap="square" rtlCol="0">
            <a:spAutoFit/>
          </a:bodyPr>
          <a:lstStyle/>
          <a:p>
            <a:pPr algn="ctr"/>
            <a:r>
              <a:rPr lang="en-US" sz="3600" b="1" dirty="0" smtClean="0">
                <a:solidFill>
                  <a:srgbClr val="7030A0"/>
                </a:solidFill>
                <a:latin typeface="Times New Roman" panose="02020603050405020304" pitchFamily="18" charset="0"/>
                <a:cs typeface="Times New Roman" panose="02020603050405020304" pitchFamily="18" charset="0"/>
              </a:rPr>
              <a:t>Unit III</a:t>
            </a:r>
            <a:endParaRPr lang="en-US" sz="3600"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60361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mbria" panose="02040503050406030204" pitchFamily="18" charset="0"/>
                <a:ea typeface="Cambria" panose="02040503050406030204" pitchFamily="18" charset="0"/>
              </a:rPr>
              <a:t>Results related to Admissibility of A* </a:t>
            </a:r>
          </a:p>
        </p:txBody>
      </p:sp>
      <p:sp>
        <p:nvSpPr>
          <p:cNvPr id="3" name="Content Placeholder 2"/>
          <p:cNvSpPr>
            <a:spLocks noGrp="1"/>
          </p:cNvSpPr>
          <p:nvPr>
            <p:ph idx="1"/>
          </p:nvPr>
        </p:nvSpPr>
        <p:spPr/>
        <p:txBody>
          <a:bodyPr/>
          <a:lstStyle/>
          <a:p>
            <a:pPr algn="just"/>
            <a:r>
              <a:rPr lang="en-US" i="1" dirty="0">
                <a:latin typeface="Cambria" panose="02040503050406030204" pitchFamily="18" charset="0"/>
                <a:ea typeface="Cambria" panose="02040503050406030204" pitchFamily="18" charset="0"/>
              </a:rPr>
              <a:t>T</a:t>
            </a:r>
            <a:r>
              <a:rPr lang="en-US" i="1" dirty="0" smtClean="0">
                <a:latin typeface="Cambria" panose="02040503050406030204" pitchFamily="18" charset="0"/>
                <a:ea typeface="Cambria" panose="02040503050406030204" pitchFamily="18" charset="0"/>
              </a:rPr>
              <a:t>he </a:t>
            </a:r>
            <a:r>
              <a:rPr lang="en-US" i="1" dirty="0">
                <a:latin typeface="Cambria" panose="02040503050406030204" pitchFamily="18" charset="0"/>
                <a:ea typeface="Cambria" panose="02040503050406030204" pitchFamily="18" charset="0"/>
              </a:rPr>
              <a:t>heuristic function</a:t>
            </a:r>
            <a:r>
              <a:rPr lang="en-US" b="1" i="1" dirty="0">
                <a:latin typeface="Cambria" panose="02040503050406030204" pitchFamily="18" charset="0"/>
                <a:ea typeface="Cambria" panose="02040503050406030204" pitchFamily="18" charset="0"/>
              </a:rPr>
              <a:t> h(n)</a:t>
            </a:r>
            <a:r>
              <a:rPr lang="en-US" i="1" dirty="0">
                <a:latin typeface="Cambria" panose="02040503050406030204" pitchFamily="18" charset="0"/>
                <a:ea typeface="Cambria" panose="02040503050406030204" pitchFamily="18" charset="0"/>
              </a:rPr>
              <a:t> is referred to as acceptable, and it is always less than or equal to the actual cost, which is the true cost from the present point in the path. </a:t>
            </a:r>
            <a:endParaRPr lang="en-US" i="1" dirty="0" smtClean="0">
              <a:latin typeface="Cambria" panose="02040503050406030204" pitchFamily="18" charset="0"/>
              <a:ea typeface="Cambria" panose="02040503050406030204" pitchFamily="18" charset="0"/>
            </a:endParaRPr>
          </a:p>
          <a:p>
            <a:pPr algn="just"/>
            <a:r>
              <a:rPr lang="en-US" b="1" i="1" dirty="0" smtClean="0">
                <a:latin typeface="Cambria" panose="02040503050406030204" pitchFamily="18" charset="0"/>
                <a:ea typeface="Cambria" panose="02040503050406030204" pitchFamily="18" charset="0"/>
              </a:rPr>
              <a:t>H(n</a:t>
            </a:r>
            <a:r>
              <a:rPr lang="en-US" b="1" i="1" dirty="0">
                <a:latin typeface="Cambria" panose="02040503050406030204" pitchFamily="18" charset="0"/>
                <a:ea typeface="Cambria" panose="02040503050406030204" pitchFamily="18" charset="0"/>
              </a:rPr>
              <a:t>)</a:t>
            </a:r>
            <a:r>
              <a:rPr lang="en-US" i="1" dirty="0">
                <a:latin typeface="Cambria" panose="02040503050406030204" pitchFamily="18" charset="0"/>
                <a:ea typeface="Cambria" panose="02040503050406030204" pitchFamily="18" charset="0"/>
              </a:rPr>
              <a:t> is never bigger than </a:t>
            </a:r>
            <a:r>
              <a:rPr lang="en-US" b="1" i="1" dirty="0">
                <a:latin typeface="Cambria" panose="02040503050406030204" pitchFamily="18" charset="0"/>
                <a:ea typeface="Cambria" panose="02040503050406030204" pitchFamily="18" charset="0"/>
              </a:rPr>
              <a:t>h*(n</a:t>
            </a:r>
            <a:r>
              <a:rPr lang="en-US" i="1" dirty="0">
                <a:latin typeface="Cambria" panose="02040503050406030204" pitchFamily="18" charset="0"/>
                <a:ea typeface="Cambria" panose="02040503050406030204" pitchFamily="18" charset="0"/>
              </a:rPr>
              <a:t>) in this context. This has to do with the idea of reliable heuristics. All reliable heuristics can be used, however not all reliable heuristics can be used.</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050257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0491" y="1008207"/>
            <a:ext cx="10515600" cy="4351338"/>
          </a:xfrm>
        </p:spPr>
        <p:txBody>
          <a:bodyPr/>
          <a:lstStyle/>
          <a:p>
            <a:pPr marL="0" indent="0">
              <a:buNone/>
            </a:pPr>
            <a:r>
              <a:rPr lang="en-US" i="1" dirty="0"/>
              <a:t>The evaluation function in</a:t>
            </a:r>
            <a:r>
              <a:rPr lang="en-US" b="1" i="1" dirty="0"/>
              <a:t> A* </a:t>
            </a:r>
            <a:r>
              <a:rPr lang="en-US" i="1" dirty="0"/>
              <a:t>looks like this:</a:t>
            </a:r>
            <a:r>
              <a:rPr lang="en-US" dirty="0"/>
              <a:t/>
            </a:r>
            <a:br>
              <a:rPr lang="en-US" dirty="0"/>
            </a:br>
            <a:r>
              <a:rPr lang="en-US" b="1" i="1" dirty="0"/>
              <a:t>f(n) = g(n) + h(n)</a:t>
            </a:r>
            <a:r>
              <a:rPr lang="en-US" dirty="0"/>
              <a:t/>
            </a:r>
            <a:br>
              <a:rPr lang="en-US" dirty="0"/>
            </a:br>
            <a:r>
              <a:rPr lang="en-US" b="1" i="1" dirty="0"/>
              <a:t>f(n) = Actual cost + Estimated cost</a:t>
            </a:r>
            <a:r>
              <a:rPr lang="en-US" dirty="0"/>
              <a:t/>
            </a:r>
            <a:br>
              <a:rPr lang="en-US" dirty="0"/>
            </a:br>
            <a:r>
              <a:rPr lang="en-US" i="1" dirty="0"/>
              <a:t>here, </a:t>
            </a:r>
            <a:r>
              <a:rPr lang="en-US" dirty="0"/>
              <a:t/>
            </a:r>
            <a:br>
              <a:rPr lang="en-US" dirty="0"/>
            </a:br>
            <a:r>
              <a:rPr lang="en-US" i="1" dirty="0"/>
              <a:t>            n   = current node.</a:t>
            </a:r>
            <a:r>
              <a:rPr lang="en-US" dirty="0"/>
              <a:t/>
            </a:r>
            <a:br>
              <a:rPr lang="en-US" dirty="0"/>
            </a:br>
            <a:r>
              <a:rPr lang="en-US" i="1" dirty="0"/>
              <a:t>           f(n) = evaluation function.</a:t>
            </a:r>
            <a:r>
              <a:rPr lang="en-US" dirty="0"/>
              <a:t/>
            </a:r>
            <a:br>
              <a:rPr lang="en-US" dirty="0"/>
            </a:br>
            <a:r>
              <a:rPr lang="en-US" i="1" dirty="0"/>
              <a:t>           g(n) = the cost from the initial node to the current node.</a:t>
            </a:r>
            <a:r>
              <a:rPr lang="en-US" dirty="0"/>
              <a:t/>
            </a:r>
            <a:br>
              <a:rPr lang="en-US" dirty="0"/>
            </a:br>
            <a:r>
              <a:rPr lang="en-US" i="1" dirty="0"/>
              <a:t>           h(n) = estimated cost from the current node to the goal state.</a:t>
            </a:r>
            <a:endParaRPr lang="en-US" dirty="0"/>
          </a:p>
        </p:txBody>
      </p:sp>
    </p:spTree>
    <p:extLst>
      <p:ext uri="{BB962C8B-B14F-4D97-AF65-F5344CB8AC3E}">
        <p14:creationId xmlns:p14="http://schemas.microsoft.com/office/powerpoint/2010/main" val="29744545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054" y="952789"/>
            <a:ext cx="10515600" cy="4351338"/>
          </a:xfrm>
        </p:spPr>
        <p:txBody>
          <a:bodyPr/>
          <a:lstStyle/>
          <a:p>
            <a:pPr marL="0" indent="0" algn="just" fontAlgn="base">
              <a:buNone/>
            </a:pPr>
            <a:r>
              <a:rPr lang="en-US" b="1" dirty="0">
                <a:latin typeface="Cambria" panose="02040503050406030204" pitchFamily="18" charset="0"/>
                <a:ea typeface="Cambria" panose="02040503050406030204" pitchFamily="18" charset="0"/>
              </a:rPr>
              <a:t>Key Points:</a:t>
            </a:r>
          </a:p>
          <a:p>
            <a:pPr algn="just" fontAlgn="base"/>
            <a:r>
              <a:rPr lang="en-US" dirty="0">
                <a:latin typeface="Cambria" panose="02040503050406030204" pitchFamily="18" charset="0"/>
                <a:ea typeface="Cambria" panose="02040503050406030204" pitchFamily="18" charset="0"/>
              </a:rPr>
              <a:t>The heuristic function h(n) is admissible if </a:t>
            </a:r>
            <a:r>
              <a:rPr lang="en-US" b="1" dirty="0">
                <a:latin typeface="Cambria" panose="02040503050406030204" pitchFamily="18" charset="0"/>
                <a:ea typeface="Cambria" panose="02040503050406030204" pitchFamily="18" charset="0"/>
              </a:rPr>
              <a:t>h(n)</a:t>
            </a:r>
            <a:r>
              <a:rPr lang="en-US" dirty="0">
                <a:latin typeface="Cambria" panose="02040503050406030204" pitchFamily="18" charset="0"/>
                <a:ea typeface="Cambria" panose="02040503050406030204" pitchFamily="18" charset="0"/>
              </a:rPr>
              <a:t> is </a:t>
            </a:r>
            <a:r>
              <a:rPr lang="en-US" b="1" dirty="0">
                <a:latin typeface="Cambria" panose="02040503050406030204" pitchFamily="18" charset="0"/>
                <a:ea typeface="Cambria" panose="02040503050406030204" pitchFamily="18" charset="0"/>
              </a:rPr>
              <a:t>never larger</a:t>
            </a:r>
            <a:r>
              <a:rPr lang="en-US" dirty="0">
                <a:latin typeface="Cambria" panose="02040503050406030204" pitchFamily="18" charset="0"/>
                <a:ea typeface="Cambria" panose="02040503050406030204" pitchFamily="18" charset="0"/>
              </a:rPr>
              <a:t> than</a:t>
            </a:r>
            <a:r>
              <a:rPr lang="en-US" b="1" dirty="0">
                <a:latin typeface="Cambria" panose="02040503050406030204" pitchFamily="18" charset="0"/>
                <a:ea typeface="Cambria" panose="02040503050406030204" pitchFamily="18" charset="0"/>
              </a:rPr>
              <a:t> h*(n)</a:t>
            </a:r>
            <a:r>
              <a:rPr lang="en-US" dirty="0">
                <a:latin typeface="Cambria" panose="02040503050406030204" pitchFamily="18" charset="0"/>
                <a:ea typeface="Cambria" panose="02040503050406030204" pitchFamily="18" charset="0"/>
              </a:rPr>
              <a:t> or if </a:t>
            </a:r>
            <a:r>
              <a:rPr lang="en-US" b="1" dirty="0">
                <a:latin typeface="Cambria" panose="02040503050406030204" pitchFamily="18" charset="0"/>
                <a:ea typeface="Cambria" panose="02040503050406030204" pitchFamily="18" charset="0"/>
              </a:rPr>
              <a:t>h(n)</a:t>
            </a:r>
            <a:r>
              <a:rPr lang="en-US" dirty="0">
                <a:latin typeface="Cambria" panose="02040503050406030204" pitchFamily="18" charset="0"/>
                <a:ea typeface="Cambria" panose="02040503050406030204" pitchFamily="18" charset="0"/>
              </a:rPr>
              <a:t> is always less or equal to the true value.</a:t>
            </a:r>
          </a:p>
          <a:p>
            <a:pPr algn="just" fontAlgn="base"/>
            <a:r>
              <a:rPr lang="en-US" dirty="0">
                <a:latin typeface="Cambria" panose="02040503050406030204" pitchFamily="18" charset="0"/>
                <a:ea typeface="Cambria" panose="02040503050406030204" pitchFamily="18" charset="0"/>
              </a:rPr>
              <a:t>If</a:t>
            </a:r>
            <a:r>
              <a:rPr lang="en-US" b="1" dirty="0">
                <a:latin typeface="Cambria" panose="02040503050406030204" pitchFamily="18" charset="0"/>
                <a:ea typeface="Cambria" panose="02040503050406030204" pitchFamily="18" charset="0"/>
              </a:rPr>
              <a:t> A*</a:t>
            </a:r>
            <a:r>
              <a:rPr lang="en-US" dirty="0">
                <a:latin typeface="Cambria" panose="02040503050406030204" pitchFamily="18" charset="0"/>
                <a:ea typeface="Cambria" panose="02040503050406030204" pitchFamily="18" charset="0"/>
              </a:rPr>
              <a:t> employs an admissible heuristic and </a:t>
            </a:r>
            <a:r>
              <a:rPr lang="en-US" b="1" dirty="0">
                <a:latin typeface="Cambria" panose="02040503050406030204" pitchFamily="18" charset="0"/>
                <a:ea typeface="Cambria" panose="02040503050406030204" pitchFamily="18" charset="0"/>
              </a:rPr>
              <a:t>h(goal)=0</a:t>
            </a:r>
            <a:r>
              <a:rPr lang="en-US" dirty="0">
                <a:latin typeface="Cambria" panose="02040503050406030204" pitchFamily="18" charset="0"/>
                <a:ea typeface="Cambria" panose="02040503050406030204" pitchFamily="18" charset="0"/>
              </a:rPr>
              <a:t>, then we can argue that </a:t>
            </a:r>
            <a:r>
              <a:rPr lang="en-US" b="1" dirty="0">
                <a:latin typeface="Cambria" panose="02040503050406030204" pitchFamily="18" charset="0"/>
                <a:ea typeface="Cambria" panose="02040503050406030204" pitchFamily="18" charset="0"/>
              </a:rPr>
              <a:t>A* is admissible.</a:t>
            </a:r>
            <a:endParaRPr lang="en-US" dirty="0">
              <a:latin typeface="Cambria" panose="02040503050406030204" pitchFamily="18" charset="0"/>
              <a:ea typeface="Cambria" panose="02040503050406030204" pitchFamily="18" charset="0"/>
            </a:endParaRPr>
          </a:p>
          <a:p>
            <a:pPr algn="just" fontAlgn="base"/>
            <a:r>
              <a:rPr lang="en-US" dirty="0">
                <a:latin typeface="Cambria" panose="02040503050406030204" pitchFamily="18" charset="0"/>
                <a:ea typeface="Cambria" panose="02040503050406030204" pitchFamily="18" charset="0"/>
              </a:rPr>
              <a:t>If the heuristic function is constantly tuned to be low with respect to the true cost, i.e.</a:t>
            </a:r>
            <a:r>
              <a:rPr lang="en-US" b="1" dirty="0">
                <a:latin typeface="Cambria" panose="02040503050406030204" pitchFamily="18" charset="0"/>
                <a:ea typeface="Cambria" panose="02040503050406030204" pitchFamily="18" charset="0"/>
              </a:rPr>
              <a:t> h(n) ≤ h*(n)</a:t>
            </a:r>
            <a:r>
              <a:rPr lang="en-US" dirty="0">
                <a:latin typeface="Cambria" panose="02040503050406030204" pitchFamily="18" charset="0"/>
                <a:ea typeface="Cambria" panose="02040503050406030204" pitchFamily="18" charset="0"/>
              </a:rPr>
              <a:t>, then you are going to get an optimal solution of 100%</a:t>
            </a:r>
          </a:p>
          <a:p>
            <a:endParaRPr lang="en-US" dirty="0"/>
          </a:p>
        </p:txBody>
      </p:sp>
    </p:spTree>
    <p:extLst>
      <p:ext uri="{BB962C8B-B14F-4D97-AF65-F5344CB8AC3E}">
        <p14:creationId xmlns:p14="http://schemas.microsoft.com/office/powerpoint/2010/main" val="29032589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8206"/>
            <a:ext cx="10515600" cy="4351338"/>
          </a:xfrm>
        </p:spPr>
        <p:txBody>
          <a:bodyPr/>
          <a:lstStyle/>
          <a:p>
            <a:pPr fontAlgn="base"/>
            <a:r>
              <a:rPr lang="en-US" i="1" dirty="0"/>
              <a:t>Let’s suppose, you are going to purchase shoes and shoes have a price of</a:t>
            </a:r>
            <a:r>
              <a:rPr lang="en-US" b="1" i="1" dirty="0"/>
              <a:t> $1000</a:t>
            </a:r>
            <a:r>
              <a:rPr lang="en-US" i="1" dirty="0"/>
              <a:t>. Before making the purchase, you estimated that the shoes will be worth </a:t>
            </a:r>
            <a:r>
              <a:rPr lang="en-US" b="1" i="1" dirty="0"/>
              <a:t>$1200</a:t>
            </a:r>
            <a:r>
              <a:rPr lang="en-US" i="1" dirty="0"/>
              <a:t>, When you went to the store, the shopkeeper informed you that the shoe’s actual price was </a:t>
            </a:r>
            <a:r>
              <a:rPr lang="en-US" b="1" i="1" dirty="0"/>
              <a:t>$1, 000</a:t>
            </a:r>
            <a:r>
              <a:rPr lang="en-US" i="1" dirty="0"/>
              <a:t>, which is less than your estimated value, indicating that you had overestimated their value by</a:t>
            </a:r>
            <a:r>
              <a:rPr lang="en-US" b="1" i="1" dirty="0"/>
              <a:t> $200</a:t>
            </a:r>
            <a:r>
              <a:rPr lang="en-US" i="1" dirty="0"/>
              <a:t>. so this is the case of </a:t>
            </a:r>
            <a:r>
              <a:rPr lang="en-US" b="1" i="1" dirty="0"/>
              <a:t>Overestimation.</a:t>
            </a:r>
            <a:endParaRPr lang="en-US" i="1" dirty="0"/>
          </a:p>
          <a:p>
            <a:pPr fontAlgn="base"/>
            <a:r>
              <a:rPr lang="en-US" b="1" i="1" dirty="0"/>
              <a:t>1200 &gt; 1000</a:t>
            </a:r>
            <a:r>
              <a:rPr lang="en-US" i="1" dirty="0"/>
              <a:t/>
            </a:r>
            <a:br>
              <a:rPr lang="en-US" i="1" dirty="0"/>
            </a:br>
            <a:r>
              <a:rPr lang="en-US" b="1" i="1" dirty="0"/>
              <a:t>i.e. h(n) ≥ h*(n) ∴ Overestimation</a:t>
            </a:r>
            <a:endParaRPr lang="en-US" i="1" dirty="0"/>
          </a:p>
          <a:p>
            <a:endParaRPr lang="en-US" dirty="0"/>
          </a:p>
        </p:txBody>
      </p:sp>
    </p:spTree>
    <p:extLst>
      <p:ext uri="{BB962C8B-B14F-4D97-AF65-F5344CB8AC3E}">
        <p14:creationId xmlns:p14="http://schemas.microsoft.com/office/powerpoint/2010/main" val="22568510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sz="3600" dirty="0">
                <a:latin typeface="Cambria" panose="02040503050406030204" pitchFamily="18" charset="0"/>
                <a:ea typeface="Cambria" panose="02040503050406030204" pitchFamily="18" charset="0"/>
              </a:rPr>
              <a:t>Space Saving Version of A*: Iterative Deepening A</a:t>
            </a:r>
            <a:r>
              <a:rPr lang="en-US" sz="3600" dirty="0" smtClean="0">
                <a:latin typeface="Cambria" panose="02040503050406030204" pitchFamily="18" charset="0"/>
                <a:ea typeface="Cambria" panose="02040503050406030204" pitchFamily="18" charset="0"/>
              </a:rPr>
              <a:t>*</a:t>
            </a:r>
            <a:endParaRPr lang="en-US" sz="36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18655" y="1063625"/>
            <a:ext cx="11035145" cy="5628120"/>
          </a:xfrm>
        </p:spPr>
        <p:txBody>
          <a:bodyPr>
            <a:normAutofit fontScale="92500" lnSpcReduction="20000"/>
          </a:bodyPr>
          <a:lstStyle/>
          <a:p>
            <a:pPr algn="just">
              <a:lnSpc>
                <a:spcPct val="110000"/>
              </a:lnSpc>
            </a:pPr>
            <a:r>
              <a:rPr lang="en-US" dirty="0">
                <a:latin typeface="Cambria" panose="02040503050406030204" pitchFamily="18" charset="0"/>
                <a:ea typeface="Cambria" panose="02040503050406030204" pitchFamily="18" charset="0"/>
              </a:rPr>
              <a:t>Iterative deepening A* </a:t>
            </a:r>
            <a:r>
              <a:rPr lang="en-US" b="1" dirty="0">
                <a:latin typeface="Cambria" panose="02040503050406030204" pitchFamily="18" charset="0"/>
                <a:ea typeface="Cambria" panose="02040503050406030204" pitchFamily="18" charset="0"/>
              </a:rPr>
              <a:t>(IDA*)</a:t>
            </a:r>
            <a:r>
              <a:rPr lang="en-US" dirty="0">
                <a:latin typeface="Cambria" panose="02040503050406030204" pitchFamily="18" charset="0"/>
                <a:ea typeface="Cambria" panose="02040503050406030204" pitchFamily="18" charset="0"/>
              </a:rPr>
              <a:t> is a graph traversal and path-finding method that can determine the shortest route in a weighted graph between a defined start node and any one of a group of goal nodes. </a:t>
            </a:r>
            <a:endParaRPr lang="en-US" dirty="0" smtClean="0">
              <a:latin typeface="Cambria" panose="02040503050406030204" pitchFamily="18" charset="0"/>
              <a:ea typeface="Cambria" panose="02040503050406030204" pitchFamily="18" charset="0"/>
            </a:endParaRPr>
          </a:p>
          <a:p>
            <a:pPr algn="just">
              <a:lnSpc>
                <a:spcPct val="110000"/>
              </a:lnSpc>
            </a:pPr>
            <a:r>
              <a:rPr lang="en-US" dirty="0" smtClean="0">
                <a:latin typeface="Cambria" panose="02040503050406030204" pitchFamily="18" charset="0"/>
                <a:ea typeface="Cambria" panose="02040503050406030204" pitchFamily="18" charset="0"/>
              </a:rPr>
              <a:t>It </a:t>
            </a:r>
            <a:r>
              <a:rPr lang="en-US" dirty="0">
                <a:latin typeface="Cambria" panose="02040503050406030204" pitchFamily="18" charset="0"/>
                <a:ea typeface="Cambria" panose="02040503050406030204" pitchFamily="18" charset="0"/>
              </a:rPr>
              <a:t>is a kind of </a:t>
            </a:r>
            <a:r>
              <a:rPr lang="en-US" dirty="0">
                <a:latin typeface="Cambria" panose="02040503050406030204" pitchFamily="18" charset="0"/>
                <a:ea typeface="Cambria" panose="02040503050406030204" pitchFamily="18" charset="0"/>
                <a:hlinkClick r:id="rId2"/>
              </a:rPr>
              <a:t>iterative deepening depth-first search</a:t>
            </a:r>
            <a:r>
              <a:rPr lang="en-US" dirty="0">
                <a:latin typeface="Cambria" panose="02040503050406030204" pitchFamily="18" charset="0"/>
                <a:ea typeface="Cambria" panose="02040503050406030204" pitchFamily="18" charset="0"/>
              </a:rPr>
              <a:t> that adopts the </a:t>
            </a:r>
            <a:r>
              <a:rPr lang="en-US" dirty="0">
                <a:latin typeface="Cambria" panose="02040503050406030204" pitchFamily="18" charset="0"/>
                <a:ea typeface="Cambria" panose="02040503050406030204" pitchFamily="18" charset="0"/>
                <a:hlinkClick r:id="rId3"/>
              </a:rPr>
              <a:t>A* search algorithm’s</a:t>
            </a:r>
            <a:r>
              <a:rPr lang="en-US" dirty="0">
                <a:latin typeface="Cambria" panose="02040503050406030204" pitchFamily="18" charset="0"/>
                <a:ea typeface="Cambria" panose="02040503050406030204" pitchFamily="18" charset="0"/>
              </a:rPr>
              <a:t> idea of using a heuristic function to assess the remaining cost to reach the goal</a:t>
            </a:r>
            <a:r>
              <a:rPr lang="en-US" dirty="0" smtClean="0">
                <a:latin typeface="Cambria" panose="02040503050406030204" pitchFamily="18" charset="0"/>
                <a:ea typeface="Cambria" panose="02040503050406030204" pitchFamily="18" charset="0"/>
              </a:rPr>
              <a:t>.</a:t>
            </a:r>
          </a:p>
          <a:p>
            <a:pPr algn="just">
              <a:lnSpc>
                <a:spcPct val="110000"/>
              </a:lnSpc>
            </a:pPr>
            <a:r>
              <a:rPr lang="en-US" dirty="0">
                <a:latin typeface="Cambria" panose="02040503050406030204" pitchFamily="18" charset="0"/>
                <a:ea typeface="Cambria" panose="02040503050406030204" pitchFamily="18" charset="0"/>
              </a:rPr>
              <a:t>A memory-limited version of A* is called</a:t>
            </a:r>
            <a:r>
              <a:rPr lang="en-US" b="1" dirty="0">
                <a:latin typeface="Cambria" panose="02040503050406030204" pitchFamily="18" charset="0"/>
                <a:ea typeface="Cambria" panose="02040503050406030204" pitchFamily="18" charset="0"/>
              </a:rPr>
              <a:t> IDA*</a:t>
            </a:r>
            <a:r>
              <a:rPr lang="en-US" dirty="0">
                <a:latin typeface="Cambria" panose="02040503050406030204" pitchFamily="18" charset="0"/>
                <a:ea typeface="Cambria" panose="02040503050406030204" pitchFamily="18" charset="0"/>
              </a:rPr>
              <a:t>. It performs all operations that A* does and has optimal features for locating the shortest path, but </a:t>
            </a:r>
            <a:r>
              <a:rPr lang="en-US" dirty="0" smtClean="0">
                <a:latin typeface="Cambria" panose="02040503050406030204" pitchFamily="18" charset="0"/>
                <a:ea typeface="Cambria" panose="02040503050406030204" pitchFamily="18" charset="0"/>
              </a:rPr>
              <a:t>it  occupies less </a:t>
            </a:r>
            <a:r>
              <a:rPr lang="en-US" dirty="0">
                <a:latin typeface="Cambria" panose="02040503050406030204" pitchFamily="18" charset="0"/>
                <a:ea typeface="Cambria" panose="02040503050406030204" pitchFamily="18" charset="0"/>
              </a:rPr>
              <a:t>memory</a:t>
            </a:r>
            <a:r>
              <a:rPr lang="en-US" dirty="0" smtClean="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r>
            <a:br>
              <a:rPr lang="en-US" dirty="0">
                <a:latin typeface="Cambria" panose="02040503050406030204" pitchFamily="18" charset="0"/>
                <a:ea typeface="Cambria" panose="02040503050406030204" pitchFamily="18" charset="0"/>
              </a:rPr>
            </a:br>
            <a:endParaRPr lang="en-US" dirty="0" smtClean="0">
              <a:latin typeface="Cambria" panose="02040503050406030204" pitchFamily="18" charset="0"/>
              <a:ea typeface="Cambria" panose="02040503050406030204" pitchFamily="18" charset="0"/>
            </a:endParaRPr>
          </a:p>
          <a:p>
            <a:pPr algn="just">
              <a:lnSpc>
                <a:spcPct val="110000"/>
              </a:lnSpc>
            </a:pPr>
            <a:r>
              <a:rPr lang="en-US" dirty="0" smtClean="0">
                <a:latin typeface="Cambria" panose="02040503050406030204" pitchFamily="18" charset="0"/>
                <a:ea typeface="Cambria" panose="02040503050406030204" pitchFamily="18" charset="0"/>
              </a:rPr>
              <a:t>Iterative </a:t>
            </a:r>
            <a:r>
              <a:rPr lang="en-US" dirty="0">
                <a:latin typeface="Cambria" panose="02040503050406030204" pitchFamily="18" charset="0"/>
                <a:ea typeface="Cambria" panose="02040503050406030204" pitchFamily="18" charset="0"/>
              </a:rPr>
              <a:t>Deepening A Star uses a</a:t>
            </a:r>
            <a:r>
              <a:rPr lang="en-US" b="1" dirty="0">
                <a:latin typeface="Cambria" panose="02040503050406030204" pitchFamily="18" charset="0"/>
                <a:ea typeface="Cambria" panose="02040503050406030204" pitchFamily="18" charset="0"/>
              </a:rPr>
              <a:t> heuristic </a:t>
            </a:r>
            <a:r>
              <a:rPr lang="en-US" dirty="0">
                <a:latin typeface="Cambria" panose="02040503050406030204" pitchFamily="18" charset="0"/>
                <a:ea typeface="Cambria" panose="02040503050406030204" pitchFamily="18" charset="0"/>
              </a:rPr>
              <a:t>to choose which nodes to explore and at which depth to stop, as opposed to Iterative Deepening DFS, which utilizes simple depth to determine when to end the current iteration and continue with a higher depth.</a:t>
            </a:r>
          </a:p>
        </p:txBody>
      </p:sp>
    </p:spTree>
    <p:extLst>
      <p:ext uri="{BB962C8B-B14F-4D97-AF65-F5344CB8AC3E}">
        <p14:creationId xmlns:p14="http://schemas.microsoft.com/office/powerpoint/2010/main" val="16944031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073" y="952789"/>
            <a:ext cx="10515600" cy="4351338"/>
          </a:xfrm>
        </p:spPr>
        <p:txBody>
          <a:bodyPr>
            <a:normAutofit fontScale="92500" lnSpcReduction="10000"/>
          </a:bodyPr>
          <a:lstStyle/>
          <a:p>
            <a:pPr algn="just" fontAlgn="base"/>
            <a:r>
              <a:rPr lang="en-US" dirty="0">
                <a:latin typeface="Cambria" panose="02040503050406030204" pitchFamily="18" charset="0"/>
                <a:ea typeface="Cambria" panose="02040503050406030204" pitchFamily="18" charset="0"/>
              </a:rPr>
              <a:t>The graph traversal algorithm.</a:t>
            </a:r>
          </a:p>
          <a:p>
            <a:pPr algn="just" fontAlgn="base"/>
            <a:r>
              <a:rPr lang="en-US" dirty="0">
                <a:latin typeface="Cambria" panose="02040503050406030204" pitchFamily="18" charset="0"/>
                <a:ea typeface="Cambria" panose="02040503050406030204" pitchFamily="18" charset="0"/>
              </a:rPr>
              <a:t>Find the shortest path in a weighted graph between the start and goal nodes using the path search algorithm.</a:t>
            </a:r>
          </a:p>
          <a:p>
            <a:pPr algn="just" fontAlgn="base"/>
            <a:r>
              <a:rPr lang="en-US" dirty="0">
                <a:latin typeface="Cambria" panose="02040503050406030204" pitchFamily="18" charset="0"/>
                <a:ea typeface="Cambria" panose="02040503050406030204" pitchFamily="18" charset="0"/>
              </a:rPr>
              <a:t>An </a:t>
            </a:r>
            <a:r>
              <a:rPr lang="en-US" b="1" dirty="0">
                <a:latin typeface="Cambria" panose="02040503050406030204" pitchFamily="18" charset="0"/>
                <a:ea typeface="Cambria" panose="02040503050406030204" pitchFamily="18" charset="0"/>
              </a:rPr>
              <a:t>alternative</a:t>
            </a:r>
            <a:r>
              <a:rPr lang="en-US" dirty="0">
                <a:latin typeface="Cambria" panose="02040503050406030204" pitchFamily="18" charset="0"/>
                <a:ea typeface="Cambria" panose="02040503050406030204" pitchFamily="18" charset="0"/>
              </a:rPr>
              <a:t> to the </a:t>
            </a:r>
            <a:r>
              <a:rPr lang="en-US" u="sng" dirty="0">
                <a:latin typeface="Cambria" panose="02040503050406030204" pitchFamily="18" charset="0"/>
                <a:ea typeface="Cambria" panose="02040503050406030204" pitchFamily="18" charset="0"/>
                <a:hlinkClick r:id="rId2"/>
              </a:rPr>
              <a:t>iterative depth-first search algorithm</a:t>
            </a:r>
            <a:r>
              <a:rPr lang="en-US" dirty="0">
                <a:latin typeface="Cambria" panose="02040503050406030204" pitchFamily="18" charset="0"/>
                <a:ea typeface="Cambria" panose="02040503050406030204" pitchFamily="18" charset="0"/>
              </a:rPr>
              <a:t>.</a:t>
            </a:r>
          </a:p>
          <a:p>
            <a:pPr algn="just" fontAlgn="base"/>
            <a:r>
              <a:rPr lang="en-US" dirty="0">
                <a:latin typeface="Cambria" panose="02040503050406030204" pitchFamily="18" charset="0"/>
                <a:ea typeface="Cambria" panose="02040503050406030204" pitchFamily="18" charset="0"/>
              </a:rPr>
              <a:t>Uses a heuristic function, which is a technique taken from </a:t>
            </a:r>
            <a:r>
              <a:rPr lang="en-US" u="sng" dirty="0">
                <a:latin typeface="Cambria" panose="02040503050406030204" pitchFamily="18" charset="0"/>
                <a:ea typeface="Cambria" panose="02040503050406030204" pitchFamily="18" charset="0"/>
                <a:hlinkClick r:id="rId3"/>
              </a:rPr>
              <a:t>A* algorithm</a:t>
            </a:r>
            <a:r>
              <a:rPr lang="en-US" dirty="0">
                <a:latin typeface="Cambria" panose="02040503050406030204" pitchFamily="18" charset="0"/>
                <a:ea typeface="Cambria" panose="02040503050406030204" pitchFamily="18" charset="0"/>
              </a:rPr>
              <a:t>.</a:t>
            </a:r>
          </a:p>
          <a:p>
            <a:pPr algn="just" fontAlgn="base"/>
            <a:r>
              <a:rPr lang="en-US" dirty="0">
                <a:latin typeface="Cambria" panose="02040503050406030204" pitchFamily="18" charset="0"/>
                <a:ea typeface="Cambria" panose="02040503050406030204" pitchFamily="18" charset="0"/>
              </a:rPr>
              <a:t>It’s a </a:t>
            </a:r>
            <a:r>
              <a:rPr lang="en-US" u="sng" dirty="0">
                <a:latin typeface="Cambria" panose="02040503050406030204" pitchFamily="18" charset="0"/>
                <a:ea typeface="Cambria" panose="02040503050406030204" pitchFamily="18" charset="0"/>
                <a:hlinkClick r:id="rId4"/>
              </a:rPr>
              <a:t>Depth-First Search algorithm</a:t>
            </a:r>
            <a:r>
              <a:rPr lang="en-US" dirty="0">
                <a:latin typeface="Cambria" panose="02040503050406030204" pitchFamily="18" charset="0"/>
                <a:ea typeface="Cambria" panose="02040503050406030204" pitchFamily="18" charset="0"/>
              </a:rPr>
              <a:t>, So it used less memory than the </a:t>
            </a:r>
            <a:r>
              <a:rPr lang="en-US" u="sng" dirty="0">
                <a:latin typeface="Cambria" panose="02040503050406030204" pitchFamily="18" charset="0"/>
                <a:ea typeface="Cambria" panose="02040503050406030204" pitchFamily="18" charset="0"/>
                <a:hlinkClick r:id="rId3"/>
              </a:rPr>
              <a:t>A* algorithm</a:t>
            </a:r>
            <a:r>
              <a:rPr lang="en-US" dirty="0">
                <a:latin typeface="Cambria" panose="02040503050406030204" pitchFamily="18" charset="0"/>
                <a:ea typeface="Cambria" panose="02040503050406030204" pitchFamily="18" charset="0"/>
              </a:rPr>
              <a:t>.</a:t>
            </a:r>
          </a:p>
          <a:p>
            <a:pPr algn="just" fontAlgn="base"/>
            <a:r>
              <a:rPr lang="en-US" dirty="0">
                <a:latin typeface="Cambria" panose="02040503050406030204" pitchFamily="18" charset="0"/>
                <a:ea typeface="Cambria" panose="02040503050406030204" pitchFamily="18" charset="0"/>
              </a:rPr>
              <a:t>IDA* is an admissible heuristic because it never </a:t>
            </a:r>
            <a:r>
              <a:rPr lang="en-US" b="1" dirty="0">
                <a:latin typeface="Cambria" panose="02040503050406030204" pitchFamily="18" charset="0"/>
                <a:ea typeface="Cambria" panose="02040503050406030204" pitchFamily="18" charset="0"/>
              </a:rPr>
              <a:t>overestimates</a:t>
            </a:r>
            <a:r>
              <a:rPr lang="en-US" dirty="0">
                <a:latin typeface="Cambria" panose="02040503050406030204" pitchFamily="18" charset="0"/>
                <a:ea typeface="Cambria" panose="02040503050406030204" pitchFamily="18" charset="0"/>
              </a:rPr>
              <a:t> the cost of reaching the goal.</a:t>
            </a:r>
          </a:p>
          <a:p>
            <a:pPr algn="just" fontAlgn="base"/>
            <a:r>
              <a:rPr lang="en-US" dirty="0">
                <a:latin typeface="Cambria" panose="02040503050406030204" pitchFamily="18" charset="0"/>
                <a:ea typeface="Cambria" panose="02040503050406030204" pitchFamily="18" charset="0"/>
              </a:rPr>
              <a:t>It’s focused on searching the most promising nodes, so, it doesn’t go to the same depth everywhere.</a:t>
            </a:r>
          </a:p>
          <a:p>
            <a:endParaRPr lang="en-US" dirty="0"/>
          </a:p>
        </p:txBody>
      </p:sp>
    </p:spTree>
    <p:extLst>
      <p:ext uri="{BB962C8B-B14F-4D97-AF65-F5344CB8AC3E}">
        <p14:creationId xmlns:p14="http://schemas.microsoft.com/office/powerpoint/2010/main" val="277147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637" y="731116"/>
            <a:ext cx="10515600" cy="4351338"/>
          </a:xfrm>
        </p:spPr>
        <p:txBody>
          <a:bodyPr>
            <a:normAutofit lnSpcReduction="10000"/>
          </a:bodyPr>
          <a:lstStyle/>
          <a:p>
            <a:pPr fontAlgn="base"/>
            <a:r>
              <a:rPr lang="en-US" dirty="0">
                <a:latin typeface="Cambria" panose="02040503050406030204" pitchFamily="18" charset="0"/>
                <a:ea typeface="Cambria" panose="02040503050406030204" pitchFamily="18" charset="0"/>
              </a:rPr>
              <a:t>The evaluation function in </a:t>
            </a:r>
            <a:r>
              <a:rPr lang="en-US" b="1" dirty="0">
                <a:latin typeface="Cambria" panose="02040503050406030204" pitchFamily="18" charset="0"/>
                <a:ea typeface="Cambria" panose="02040503050406030204" pitchFamily="18" charset="0"/>
              </a:rPr>
              <a:t>IDA*</a:t>
            </a:r>
            <a:r>
              <a:rPr lang="en-US" dirty="0">
                <a:latin typeface="Cambria" panose="02040503050406030204" pitchFamily="18" charset="0"/>
                <a:ea typeface="Cambria" panose="02040503050406030204" pitchFamily="18" charset="0"/>
              </a:rPr>
              <a:t> looks like this:</a:t>
            </a:r>
          </a:p>
          <a:p>
            <a:pPr marL="0" indent="0">
              <a:buNone/>
            </a:pPr>
            <a:r>
              <a:rPr lang="en-US" dirty="0">
                <a:latin typeface="Cambria" panose="02040503050406030204" pitchFamily="18" charset="0"/>
                <a:ea typeface="Cambria" panose="02040503050406030204" pitchFamily="18" charset="0"/>
              </a:rPr>
              <a:t/>
            </a:r>
            <a:br>
              <a:rPr lang="en-US" dirty="0">
                <a:latin typeface="Cambria" panose="02040503050406030204" pitchFamily="18" charset="0"/>
                <a:ea typeface="Cambria" panose="02040503050406030204" pitchFamily="18" charset="0"/>
              </a:rPr>
            </a:br>
            <a:endParaRPr lang="en-US" dirty="0" smtClean="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pPr marL="0" indent="0">
              <a:buNone/>
            </a:pPr>
            <a:r>
              <a:rPr lang="en-US" dirty="0" smtClean="0">
                <a:latin typeface="Cambria" panose="02040503050406030204" pitchFamily="18" charset="0"/>
                <a:ea typeface="Cambria" panose="02040503050406030204" pitchFamily="18" charset="0"/>
              </a:rPr>
              <a:t>Where</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h</a:t>
            </a:r>
            <a:r>
              <a:rPr lang="en-US" dirty="0">
                <a:latin typeface="Cambria" panose="02040503050406030204" pitchFamily="18" charset="0"/>
                <a:ea typeface="Cambria" panose="02040503050406030204" pitchFamily="18" charset="0"/>
              </a:rPr>
              <a:t> is admissible.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here,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f(n)  = Total cost evaluation function.</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g(n) = The actual cost from the initial node to the current node.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h(n) = Heuristic estimated cost from the current node to the goal state. it is based on the approximation according to the problem characteristics.</a:t>
            </a:r>
          </a:p>
        </p:txBody>
      </p:sp>
      <p:pic>
        <p:nvPicPr>
          <p:cNvPr id="6" name="Picture 5"/>
          <p:cNvPicPr>
            <a:picLocks noChangeAspect="1"/>
          </p:cNvPicPr>
          <p:nvPr/>
        </p:nvPicPr>
        <p:blipFill>
          <a:blip r:embed="rId2"/>
          <a:stretch>
            <a:fillRect/>
          </a:stretch>
        </p:blipFill>
        <p:spPr>
          <a:xfrm>
            <a:off x="2601873" y="1369829"/>
            <a:ext cx="4491653" cy="983574"/>
          </a:xfrm>
          <a:prstGeom prst="rect">
            <a:avLst/>
          </a:prstGeom>
        </p:spPr>
      </p:pic>
    </p:spTree>
    <p:extLst>
      <p:ext uri="{BB962C8B-B14F-4D97-AF65-F5344CB8AC3E}">
        <p14:creationId xmlns:p14="http://schemas.microsoft.com/office/powerpoint/2010/main" val="8833937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9708" y="592569"/>
            <a:ext cx="10453255" cy="5226339"/>
          </a:xfrm>
        </p:spPr>
        <p:txBody>
          <a:bodyPr>
            <a:normAutofit/>
          </a:bodyPr>
          <a:lstStyle/>
          <a:p>
            <a:pPr marL="0" indent="0" fontAlgn="base">
              <a:buNone/>
            </a:pPr>
            <a:r>
              <a:rPr lang="en-US" b="1" dirty="0">
                <a:latin typeface="Cambria" panose="02040503050406030204" pitchFamily="18" charset="0"/>
                <a:ea typeface="Cambria" panose="02040503050406030204" pitchFamily="18" charset="0"/>
              </a:rPr>
              <a:t>What is the f score?</a:t>
            </a:r>
          </a:p>
          <a:p>
            <a:pPr fontAlgn="base"/>
            <a:r>
              <a:rPr lang="en-US" dirty="0">
                <a:latin typeface="Cambria" panose="02040503050406030204" pitchFamily="18" charset="0"/>
                <a:ea typeface="Cambria" panose="02040503050406030204" pitchFamily="18" charset="0"/>
              </a:rPr>
              <a:t>In the IDA* algorithm, F-score is a </a:t>
            </a:r>
            <a:r>
              <a:rPr lang="en-US" b="1" dirty="0">
                <a:latin typeface="Cambria" panose="02040503050406030204" pitchFamily="18" charset="0"/>
                <a:ea typeface="Cambria" panose="02040503050406030204" pitchFamily="18" charset="0"/>
              </a:rPr>
              <a:t>heuristic function</a:t>
            </a:r>
            <a:r>
              <a:rPr lang="en-US" dirty="0">
                <a:latin typeface="Cambria" panose="02040503050406030204" pitchFamily="18" charset="0"/>
                <a:ea typeface="Cambria" panose="02040503050406030204" pitchFamily="18" charset="0"/>
              </a:rPr>
              <a:t> that is used to estimate the cost of reaching the goal state from a given state. It is a combination of two other heuristic functions,</a:t>
            </a:r>
            <a:r>
              <a:rPr lang="en-US" b="1" dirty="0">
                <a:latin typeface="Cambria" panose="02040503050406030204" pitchFamily="18" charset="0"/>
                <a:ea typeface="Cambria" panose="02040503050406030204" pitchFamily="18" charset="0"/>
              </a:rPr>
              <a:t> g(n)</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h(n).</a:t>
            </a:r>
            <a:r>
              <a:rPr lang="en-US" dirty="0">
                <a:latin typeface="Cambria" panose="02040503050406030204" pitchFamily="18" charset="0"/>
                <a:ea typeface="Cambria" panose="02040503050406030204" pitchFamily="18" charset="0"/>
              </a:rPr>
              <a:t/>
            </a:r>
            <a:br>
              <a:rPr lang="en-US" dirty="0">
                <a:latin typeface="Cambria" panose="02040503050406030204" pitchFamily="18" charset="0"/>
                <a:ea typeface="Cambria" panose="02040503050406030204" pitchFamily="18" charset="0"/>
              </a:rPr>
            </a:br>
            <a:endParaRPr lang="en-US" dirty="0" smtClean="0">
              <a:latin typeface="Cambria" panose="02040503050406030204" pitchFamily="18" charset="0"/>
              <a:ea typeface="Cambria" panose="02040503050406030204" pitchFamily="18" charset="0"/>
            </a:endParaRPr>
          </a:p>
          <a:p>
            <a:pPr algn="just" fontAlgn="base"/>
            <a:r>
              <a:rPr lang="en-US" dirty="0" smtClean="0">
                <a:latin typeface="Cambria" panose="02040503050406030204" pitchFamily="18" charset="0"/>
                <a:ea typeface="Cambria" panose="02040503050406030204" pitchFamily="18" charset="0"/>
              </a:rPr>
              <a:t>It </a:t>
            </a:r>
            <a:r>
              <a:rPr lang="en-US" dirty="0">
                <a:latin typeface="Cambria" panose="02040503050406030204" pitchFamily="18" charset="0"/>
                <a:ea typeface="Cambria" panose="02040503050406030204" pitchFamily="18" charset="0"/>
              </a:rPr>
              <a:t>is used to determine the order in which the algorithm expands nodes in the search tree and thus, it plays an important role in how quickly the algorithm finds a solution. </a:t>
            </a:r>
            <a:endParaRPr lang="en-US" dirty="0" smtClean="0">
              <a:latin typeface="Cambria" panose="02040503050406030204" pitchFamily="18" charset="0"/>
              <a:ea typeface="Cambria" panose="02040503050406030204" pitchFamily="18" charset="0"/>
            </a:endParaRPr>
          </a:p>
          <a:p>
            <a:pPr algn="just" fontAlgn="base"/>
            <a:r>
              <a:rPr lang="en-US" dirty="0" smtClean="0">
                <a:latin typeface="Cambria" panose="02040503050406030204" pitchFamily="18" charset="0"/>
                <a:ea typeface="Cambria" panose="02040503050406030204" pitchFamily="18" charset="0"/>
              </a:rPr>
              <a:t>A </a:t>
            </a:r>
            <a:r>
              <a:rPr lang="en-US" dirty="0">
                <a:latin typeface="Cambria" panose="02040503050406030204" pitchFamily="18" charset="0"/>
                <a:ea typeface="Cambria" panose="02040503050406030204" pitchFamily="18" charset="0"/>
              </a:rPr>
              <a:t>lower F-score indicates that a node is closer to the goal state and will be expanded before a node with a higher F-score.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Simply it is nothing but </a:t>
            </a:r>
            <a:r>
              <a:rPr lang="en-US" b="1" dirty="0">
                <a:latin typeface="Cambria" panose="02040503050406030204" pitchFamily="18" charset="0"/>
                <a:ea typeface="Cambria" panose="02040503050406030204" pitchFamily="18" charset="0"/>
              </a:rPr>
              <a:t>g(n) + h(n).</a:t>
            </a:r>
            <a:endParaRPr lang="en-US" dirty="0">
              <a:latin typeface="Cambria" panose="02040503050406030204" pitchFamily="18" charset="0"/>
              <a:ea typeface="Cambria" panose="02040503050406030204" pitchFamily="18" charset="0"/>
            </a:endParaRPr>
          </a:p>
          <a:p>
            <a:pPr algn="just"/>
            <a:endParaRPr lang="en-US" dirty="0"/>
          </a:p>
        </p:txBody>
      </p:sp>
    </p:spTree>
    <p:extLst>
      <p:ext uri="{BB962C8B-B14F-4D97-AF65-F5344CB8AC3E}">
        <p14:creationId xmlns:p14="http://schemas.microsoft.com/office/powerpoint/2010/main" val="2445020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655" y="273917"/>
            <a:ext cx="10515600" cy="4351338"/>
          </a:xfrm>
        </p:spPr>
        <p:txBody>
          <a:bodyPr>
            <a:noAutofit/>
          </a:bodyPr>
          <a:lstStyle/>
          <a:p>
            <a:pPr marL="0" indent="0" fontAlgn="base">
              <a:buNone/>
            </a:pPr>
            <a:r>
              <a:rPr lang="en-US" sz="2000" b="1" dirty="0">
                <a:latin typeface="Cambria" panose="02040503050406030204" pitchFamily="18" charset="0"/>
                <a:ea typeface="Cambria" panose="02040503050406030204" pitchFamily="18" charset="0"/>
              </a:rPr>
              <a:t>How IDA* algorithm work?</a:t>
            </a:r>
          </a:p>
          <a:p>
            <a:pPr marL="0" indent="0" fontAlgn="base">
              <a:buNone/>
            </a:pPr>
            <a:r>
              <a:rPr lang="en-US" sz="2000" b="1" dirty="0">
                <a:latin typeface="Cambria" panose="02040503050406030204" pitchFamily="18" charset="0"/>
                <a:ea typeface="Cambria" panose="02040503050406030204" pitchFamily="18" charset="0"/>
              </a:rPr>
              <a:t>Step 1: Initialization</a:t>
            </a:r>
          </a:p>
          <a:p>
            <a:pPr fontAlgn="base"/>
            <a:r>
              <a:rPr lang="en-US" sz="2000" dirty="0">
                <a:latin typeface="Cambria" panose="02040503050406030204" pitchFamily="18" charset="0"/>
                <a:ea typeface="Cambria" panose="02040503050406030204" pitchFamily="18" charset="0"/>
              </a:rPr>
              <a:t>Set the root node as the current node, and find the f-score.</a:t>
            </a:r>
          </a:p>
          <a:p>
            <a:pPr marL="0" indent="0" fontAlgn="base">
              <a:buNone/>
            </a:pPr>
            <a:r>
              <a:rPr lang="en-US" sz="2000" b="1" dirty="0">
                <a:latin typeface="Cambria" panose="02040503050406030204" pitchFamily="18" charset="0"/>
                <a:ea typeface="Cambria" panose="02040503050406030204" pitchFamily="18" charset="0"/>
              </a:rPr>
              <a:t>Sep 2: Set threshold</a:t>
            </a:r>
          </a:p>
          <a:p>
            <a:pPr fontAlgn="base"/>
            <a:r>
              <a:rPr lang="en-US" sz="2000" dirty="0">
                <a:latin typeface="Cambria" panose="02040503050406030204" pitchFamily="18" charset="0"/>
                <a:ea typeface="Cambria" panose="02040503050406030204" pitchFamily="18" charset="0"/>
              </a:rPr>
              <a:t>Set the cost limit as a </a:t>
            </a:r>
            <a:r>
              <a:rPr lang="en-US" sz="2000" b="1" dirty="0">
                <a:latin typeface="Cambria" panose="02040503050406030204" pitchFamily="18" charset="0"/>
                <a:ea typeface="Cambria" panose="02040503050406030204" pitchFamily="18" charset="0"/>
              </a:rPr>
              <a:t>threshold</a:t>
            </a:r>
            <a:r>
              <a:rPr lang="en-US" sz="2000" dirty="0">
                <a:latin typeface="Cambria" panose="02040503050406030204" pitchFamily="18" charset="0"/>
                <a:ea typeface="Cambria" panose="02040503050406030204" pitchFamily="18" charset="0"/>
              </a:rPr>
              <a:t> for a </a:t>
            </a:r>
            <a:r>
              <a:rPr lang="en-US" sz="2000" b="1" dirty="0">
                <a:latin typeface="Cambria" panose="02040503050406030204" pitchFamily="18" charset="0"/>
                <a:ea typeface="Cambria" panose="02040503050406030204" pitchFamily="18" charset="0"/>
              </a:rPr>
              <a:t>node</a:t>
            </a:r>
            <a:r>
              <a:rPr lang="en-US" sz="2000" dirty="0">
                <a:latin typeface="Cambria" panose="02040503050406030204" pitchFamily="18" charset="0"/>
                <a:ea typeface="Cambria" panose="02040503050406030204" pitchFamily="18" charset="0"/>
              </a:rPr>
              <a:t>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the </a:t>
            </a:r>
            <a:r>
              <a:rPr lang="en-US" sz="2000" b="1" dirty="0">
                <a:latin typeface="Cambria" panose="02040503050406030204" pitchFamily="18" charset="0"/>
                <a:ea typeface="Cambria" panose="02040503050406030204" pitchFamily="18" charset="0"/>
              </a:rPr>
              <a:t>maximum f-score</a:t>
            </a:r>
            <a:r>
              <a:rPr lang="en-US" sz="2000" dirty="0">
                <a:latin typeface="Cambria" panose="02040503050406030204" pitchFamily="18" charset="0"/>
                <a:ea typeface="Cambria" panose="02040503050406030204" pitchFamily="18" charset="0"/>
              </a:rPr>
              <a:t> allowed for that node for further explorations.</a:t>
            </a:r>
          </a:p>
          <a:p>
            <a:pPr marL="0" indent="0" fontAlgn="base">
              <a:buNone/>
            </a:pPr>
            <a:r>
              <a:rPr lang="en-US" sz="2000" b="1" dirty="0">
                <a:latin typeface="Cambria" panose="02040503050406030204" pitchFamily="18" charset="0"/>
                <a:ea typeface="Cambria" panose="02040503050406030204" pitchFamily="18" charset="0"/>
              </a:rPr>
              <a:t>Step 3: Node Expansion</a:t>
            </a:r>
          </a:p>
          <a:p>
            <a:pPr fontAlgn="base"/>
            <a:r>
              <a:rPr lang="en-US" sz="2000" dirty="0">
                <a:latin typeface="Cambria" panose="02040503050406030204" pitchFamily="18" charset="0"/>
                <a:ea typeface="Cambria" panose="02040503050406030204" pitchFamily="18" charset="0"/>
              </a:rPr>
              <a:t>Expand the current node to its children and find f-scores.</a:t>
            </a:r>
          </a:p>
          <a:p>
            <a:pPr marL="0" indent="0" fontAlgn="base">
              <a:buNone/>
            </a:pPr>
            <a:r>
              <a:rPr lang="en-US" sz="2000" b="1" dirty="0">
                <a:latin typeface="Cambria" panose="02040503050406030204" pitchFamily="18" charset="0"/>
                <a:ea typeface="Cambria" panose="02040503050406030204" pitchFamily="18" charset="0"/>
              </a:rPr>
              <a:t>Step 4: Pruning</a:t>
            </a:r>
          </a:p>
          <a:p>
            <a:pPr fontAlgn="base"/>
            <a:r>
              <a:rPr lang="en-US" sz="2000" dirty="0">
                <a:latin typeface="Cambria" panose="02040503050406030204" pitchFamily="18" charset="0"/>
                <a:ea typeface="Cambria" panose="02040503050406030204" pitchFamily="18" charset="0"/>
              </a:rPr>
              <a:t>If for any </a:t>
            </a:r>
            <a:r>
              <a:rPr lang="en-US" sz="2000" b="1" dirty="0">
                <a:latin typeface="Cambria" panose="02040503050406030204" pitchFamily="18" charset="0"/>
                <a:ea typeface="Cambria" panose="02040503050406030204" pitchFamily="18" charset="0"/>
              </a:rPr>
              <a:t>node</a:t>
            </a:r>
            <a:r>
              <a:rPr lang="en-US" sz="2000" dirty="0">
                <a:latin typeface="Cambria" panose="02040503050406030204" pitchFamily="18" charset="0"/>
                <a:ea typeface="Cambria" panose="02040503050406030204" pitchFamily="18" charset="0"/>
              </a:rPr>
              <a:t> the </a:t>
            </a:r>
            <a:r>
              <a:rPr lang="en-US" sz="2000" b="1" dirty="0">
                <a:latin typeface="Cambria" panose="02040503050406030204" pitchFamily="18" charset="0"/>
                <a:ea typeface="Cambria" panose="02040503050406030204" pitchFamily="18" charset="0"/>
              </a:rPr>
              <a:t>f-score &gt; threshold</a:t>
            </a:r>
            <a:r>
              <a:rPr lang="en-US" sz="2000" dirty="0">
                <a:latin typeface="Cambria" panose="02040503050406030204" pitchFamily="18" charset="0"/>
                <a:ea typeface="Cambria" panose="02040503050406030204" pitchFamily="18" charset="0"/>
              </a:rPr>
              <a:t>, prune that node because it’s considered too expensive for that </a:t>
            </a:r>
            <a:r>
              <a:rPr lang="en-US" sz="2000" dirty="0" smtClean="0">
                <a:latin typeface="Cambria" panose="02040503050406030204" pitchFamily="18" charset="0"/>
                <a:ea typeface="Cambria" panose="02040503050406030204" pitchFamily="18" charset="0"/>
              </a:rPr>
              <a:t>node and </a:t>
            </a:r>
            <a:r>
              <a:rPr lang="en-US" sz="2000" dirty="0">
                <a:latin typeface="Cambria" panose="02040503050406030204" pitchFamily="18" charset="0"/>
                <a:ea typeface="Cambria" panose="02040503050406030204" pitchFamily="18" charset="0"/>
              </a:rPr>
              <a:t>store it in the </a:t>
            </a:r>
            <a:r>
              <a:rPr lang="en-US" sz="2000" b="1" dirty="0">
                <a:latin typeface="Cambria" panose="02040503050406030204" pitchFamily="18" charset="0"/>
                <a:ea typeface="Cambria" panose="02040503050406030204" pitchFamily="18" charset="0"/>
              </a:rPr>
              <a:t>visited node list.</a:t>
            </a:r>
            <a:endParaRPr lang="en-US" sz="2000" dirty="0">
              <a:latin typeface="Cambria" panose="02040503050406030204" pitchFamily="18" charset="0"/>
              <a:ea typeface="Cambria" panose="02040503050406030204" pitchFamily="18" charset="0"/>
            </a:endParaRPr>
          </a:p>
          <a:p>
            <a:pPr marL="0" indent="0" fontAlgn="base">
              <a:buNone/>
            </a:pPr>
            <a:r>
              <a:rPr lang="en-US" sz="2000" b="1" dirty="0">
                <a:latin typeface="Cambria" panose="02040503050406030204" pitchFamily="18" charset="0"/>
                <a:ea typeface="Cambria" panose="02040503050406030204" pitchFamily="18" charset="0"/>
              </a:rPr>
              <a:t>Step 5:  Return Path</a:t>
            </a:r>
          </a:p>
          <a:p>
            <a:pPr fontAlgn="base"/>
            <a:r>
              <a:rPr lang="en-US" sz="2000" dirty="0">
                <a:latin typeface="Cambria" panose="02040503050406030204" pitchFamily="18" charset="0"/>
                <a:ea typeface="Cambria" panose="02040503050406030204" pitchFamily="18" charset="0"/>
              </a:rPr>
              <a:t>If the</a:t>
            </a:r>
            <a:r>
              <a:rPr lang="en-US" sz="2000" b="1" dirty="0">
                <a:latin typeface="Cambria" panose="02040503050406030204" pitchFamily="18" charset="0"/>
                <a:ea typeface="Cambria" panose="02040503050406030204" pitchFamily="18" charset="0"/>
              </a:rPr>
              <a:t> Goal node</a:t>
            </a:r>
            <a:r>
              <a:rPr lang="en-US" sz="2000" dirty="0">
                <a:latin typeface="Cambria" panose="02040503050406030204" pitchFamily="18" charset="0"/>
                <a:ea typeface="Cambria" panose="02040503050406030204" pitchFamily="18" charset="0"/>
              </a:rPr>
              <a:t> is found then return the </a:t>
            </a:r>
            <a:r>
              <a:rPr lang="en-US" sz="2000" b="1" dirty="0">
                <a:latin typeface="Cambria" panose="02040503050406030204" pitchFamily="18" charset="0"/>
                <a:ea typeface="Cambria" panose="02040503050406030204" pitchFamily="18" charset="0"/>
              </a:rPr>
              <a:t>path</a:t>
            </a:r>
            <a:r>
              <a:rPr lang="en-US" sz="2000" dirty="0">
                <a:latin typeface="Cambria" panose="02040503050406030204" pitchFamily="18" charset="0"/>
                <a:ea typeface="Cambria" panose="02040503050406030204" pitchFamily="18" charset="0"/>
              </a:rPr>
              <a:t> from the start node Goal node.</a:t>
            </a:r>
          </a:p>
          <a:p>
            <a:pPr marL="0" indent="0" fontAlgn="base">
              <a:buNone/>
            </a:pPr>
            <a:r>
              <a:rPr lang="en-US" sz="2000" b="1" dirty="0">
                <a:latin typeface="Cambria" panose="02040503050406030204" pitchFamily="18" charset="0"/>
                <a:ea typeface="Cambria" panose="02040503050406030204" pitchFamily="18" charset="0"/>
              </a:rPr>
              <a:t>Step 6: Update the Threshold</a:t>
            </a:r>
          </a:p>
          <a:p>
            <a:pPr fontAlgn="base"/>
            <a:r>
              <a:rPr lang="en-US" sz="2000" dirty="0">
                <a:latin typeface="Cambria" panose="02040503050406030204" pitchFamily="18" charset="0"/>
                <a:ea typeface="Cambria" panose="02040503050406030204" pitchFamily="18" charset="0"/>
              </a:rPr>
              <a:t> If the Goal node is not found then </a:t>
            </a:r>
            <a:r>
              <a:rPr lang="en-US" sz="2000" b="1" dirty="0">
                <a:latin typeface="Cambria" panose="02040503050406030204" pitchFamily="18" charset="0"/>
                <a:ea typeface="Cambria" panose="02040503050406030204" pitchFamily="18" charset="0"/>
              </a:rPr>
              <a:t>repeat from step 2</a:t>
            </a:r>
            <a:r>
              <a:rPr lang="en-US" sz="2000" dirty="0">
                <a:latin typeface="Cambria" panose="02040503050406030204" pitchFamily="18" charset="0"/>
                <a:ea typeface="Cambria" panose="02040503050406030204" pitchFamily="18" charset="0"/>
              </a:rPr>
              <a:t> by changing the threshold with the minimum pruned value from the </a:t>
            </a:r>
            <a:r>
              <a:rPr lang="en-US" sz="2000" b="1" dirty="0">
                <a:latin typeface="Cambria" panose="02040503050406030204" pitchFamily="18" charset="0"/>
                <a:ea typeface="Cambria" panose="02040503050406030204" pitchFamily="18" charset="0"/>
              </a:rPr>
              <a:t>visited node list</a:t>
            </a:r>
            <a:r>
              <a:rPr lang="en-US" sz="2000" dirty="0">
                <a:latin typeface="Cambria" panose="02040503050406030204" pitchFamily="18" charset="0"/>
                <a:ea typeface="Cambria" panose="02040503050406030204" pitchFamily="18" charset="0"/>
              </a:rPr>
              <a:t>. And Continue it until you reach the goal node.  </a:t>
            </a:r>
          </a:p>
          <a:p>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44770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1" y="121517"/>
            <a:ext cx="11679381" cy="4351338"/>
          </a:xfrm>
        </p:spPr>
        <p:txBody>
          <a:bodyPr/>
          <a:lstStyle/>
          <a:p>
            <a:pPr fontAlgn="base"/>
            <a:r>
              <a:rPr lang="en-US" b="1" dirty="0"/>
              <a:t>Example</a:t>
            </a:r>
          </a:p>
          <a:p>
            <a:pPr fontAlgn="base"/>
            <a:r>
              <a:rPr lang="en-US" dirty="0">
                <a:latin typeface="Cambria" panose="02040503050406030204" pitchFamily="18" charset="0"/>
                <a:ea typeface="Cambria" panose="02040503050406030204" pitchFamily="18" charset="0"/>
              </a:rPr>
              <a:t>In the below tree, the</a:t>
            </a:r>
            <a:r>
              <a:rPr lang="en-US" b="1" dirty="0">
                <a:latin typeface="Cambria" panose="02040503050406030204" pitchFamily="18" charset="0"/>
                <a:ea typeface="Cambria" panose="02040503050406030204" pitchFamily="18" charset="0"/>
              </a:rPr>
              <a:t> f score</a:t>
            </a:r>
            <a:r>
              <a:rPr lang="en-US" dirty="0">
                <a:latin typeface="Cambria" panose="02040503050406030204" pitchFamily="18" charset="0"/>
                <a:ea typeface="Cambria" panose="02040503050406030204" pitchFamily="18" charset="0"/>
              </a:rPr>
              <a:t> is written inside the nodes means the f score is already computed and the start node is </a:t>
            </a:r>
            <a:r>
              <a:rPr lang="en-US" b="1" dirty="0">
                <a:latin typeface="Cambria" panose="02040503050406030204" pitchFamily="18" charset="0"/>
                <a:ea typeface="Cambria" panose="02040503050406030204" pitchFamily="18" charset="0"/>
              </a:rPr>
              <a:t>2</a:t>
            </a:r>
            <a:r>
              <a:rPr lang="en-US" dirty="0">
                <a:latin typeface="Cambria" panose="02040503050406030204" pitchFamily="18" charset="0"/>
                <a:ea typeface="Cambria" panose="02040503050406030204" pitchFamily="18" charset="0"/>
              </a:rPr>
              <a:t> whereas the goal node is </a:t>
            </a:r>
            <a:r>
              <a:rPr lang="en-US" b="1" dirty="0">
                <a:latin typeface="Cambria" panose="02040503050406030204" pitchFamily="18" charset="0"/>
                <a:ea typeface="Cambria" panose="02040503050406030204" pitchFamily="18" charset="0"/>
              </a:rPr>
              <a:t>15</a:t>
            </a:r>
            <a:r>
              <a:rPr lang="en-US" dirty="0">
                <a:latin typeface="Cambria" panose="02040503050406030204" pitchFamily="18" charset="0"/>
                <a:ea typeface="Cambria" panose="02040503050406030204" pitchFamily="18" charset="0"/>
              </a:rPr>
              <a:t>. the explored node is colored green color</a:t>
            </a:r>
            <a:r>
              <a:rPr lang="en-US" dirty="0" smtClean="0">
                <a:latin typeface="Cambria" panose="02040503050406030204" pitchFamily="18" charset="0"/>
                <a:ea typeface="Cambria" panose="02040503050406030204" pitchFamily="18" charset="0"/>
              </a:rPr>
              <a:t>. so </a:t>
            </a:r>
            <a:r>
              <a:rPr lang="en-US" dirty="0">
                <a:latin typeface="Cambria" panose="02040503050406030204" pitchFamily="18" charset="0"/>
                <a:ea typeface="Cambria" panose="02040503050406030204" pitchFamily="18" charset="0"/>
              </a:rPr>
              <a:t>now we have to go to a given goal by using IDA* algorithm</a:t>
            </a:r>
            <a:r>
              <a:rPr lang="en-US" dirty="0" smtClean="0">
                <a:latin typeface="Cambria" panose="02040503050406030204" pitchFamily="18" charset="0"/>
                <a:ea typeface="Cambria" panose="02040503050406030204" pitchFamily="18" charset="0"/>
              </a:rPr>
              <a:t>.</a:t>
            </a:r>
          </a:p>
          <a:p>
            <a:pPr fontAlgn="base"/>
            <a:r>
              <a:rPr lang="en-US" sz="2400" dirty="0">
                <a:latin typeface="Cambria" panose="02040503050406030204" pitchFamily="18" charset="0"/>
                <a:ea typeface="Cambria" panose="02040503050406030204" pitchFamily="18" charset="0"/>
              </a:rPr>
              <a:t>Root node as current node </a:t>
            </a:r>
            <a:r>
              <a:rPr lang="en-US" sz="2400" dirty="0" err="1">
                <a:latin typeface="Cambria" panose="02040503050406030204" pitchFamily="18" charset="0"/>
                <a:ea typeface="Cambria" panose="02040503050406030204" pitchFamily="18" charset="0"/>
              </a:rPr>
              <a:t>i.e</a:t>
            </a:r>
            <a:r>
              <a:rPr lang="en-US" sz="2400" dirty="0">
                <a:latin typeface="Cambria" panose="02040503050406030204" pitchFamily="18" charset="0"/>
                <a:ea typeface="Cambria" panose="02040503050406030204" pitchFamily="18" charset="0"/>
              </a:rPr>
              <a:t> 2 </a:t>
            </a:r>
          </a:p>
          <a:p>
            <a:pPr fontAlgn="base"/>
            <a:r>
              <a:rPr lang="en-US" sz="2400" dirty="0">
                <a:latin typeface="Cambria" panose="02040503050406030204" pitchFamily="18" charset="0"/>
                <a:ea typeface="Cambria" panose="02040503050406030204" pitchFamily="18" charset="0"/>
              </a:rPr>
              <a:t>Threshold = current node value (2=2). So explore its children.</a:t>
            </a:r>
          </a:p>
          <a:p>
            <a:pPr fontAlgn="base"/>
            <a:r>
              <a:rPr lang="en-US" sz="2400" dirty="0">
                <a:latin typeface="Cambria" panose="02040503050406030204" pitchFamily="18" charset="0"/>
                <a:ea typeface="Cambria" panose="02040503050406030204" pitchFamily="18" charset="0"/>
              </a:rPr>
              <a:t>4 &gt; Threshold &amp; 5&gt;Threshold. So, this iteration is over and the pruned values are 4, and 5.</a:t>
            </a:r>
          </a:p>
          <a:p>
            <a:pPr fontAlgn="base"/>
            <a:endParaRPr lang="en-US" dirty="0"/>
          </a:p>
          <a:p>
            <a:endParaRPr lang="en-US" dirty="0"/>
          </a:p>
        </p:txBody>
      </p:sp>
      <p:pic>
        <p:nvPicPr>
          <p:cNvPr id="4" name="Picture 3"/>
          <p:cNvPicPr>
            <a:picLocks noChangeAspect="1"/>
          </p:cNvPicPr>
          <p:nvPr/>
        </p:nvPicPr>
        <p:blipFill>
          <a:blip r:embed="rId2"/>
          <a:stretch>
            <a:fillRect/>
          </a:stretch>
        </p:blipFill>
        <p:spPr>
          <a:xfrm>
            <a:off x="2980835" y="3588327"/>
            <a:ext cx="6992326" cy="3269673"/>
          </a:xfrm>
          <a:prstGeom prst="rect">
            <a:avLst/>
          </a:prstGeom>
        </p:spPr>
      </p:pic>
    </p:spTree>
    <p:extLst>
      <p:ext uri="{BB962C8B-B14F-4D97-AF65-F5344CB8AC3E}">
        <p14:creationId xmlns:p14="http://schemas.microsoft.com/office/powerpoint/2010/main" val="604620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04809" y="201000"/>
            <a:ext cx="6792273" cy="3610479"/>
          </a:xfrm>
          <a:prstGeom prst="rect">
            <a:avLst/>
          </a:prstGeom>
        </p:spPr>
      </p:pic>
      <p:sp>
        <p:nvSpPr>
          <p:cNvPr id="5" name="TextBox 4"/>
          <p:cNvSpPr txBox="1"/>
          <p:nvPr/>
        </p:nvSpPr>
        <p:spPr>
          <a:xfrm>
            <a:off x="207818" y="3811479"/>
            <a:ext cx="11416146" cy="2862322"/>
          </a:xfrm>
          <a:prstGeom prst="rect">
            <a:avLst/>
          </a:prstGeom>
          <a:noFill/>
        </p:spPr>
        <p:txBody>
          <a:bodyPr wrap="square" rtlCol="0">
            <a:spAutoFit/>
          </a:bodyPr>
          <a:lstStyle/>
          <a:p>
            <a:pPr marL="285750" indent="-285750" algn="just"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In pruned values, the least is 4, So threshold = 4</a:t>
            </a:r>
          </a:p>
          <a:p>
            <a:pPr marL="285750" indent="-285750" algn="just"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current node = 2  and 2&lt; threshold, So explore its children.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two children explore one by one</a:t>
            </a:r>
          </a:p>
          <a:p>
            <a:pPr marL="285750" indent="-285750" algn="just"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So, first children 4, So, set current node = 4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equal to the threshold, so, explored its children also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5, 4 having 5&gt; threshold so, pruned it and explore second child of node 4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4, so set current node = 4 = threshold, and explore its children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8 &amp; 7 having both 8 &amp; 7 &gt; threshold so, pruned it. At the end of this, our pruned value is 5,8,7</a:t>
            </a:r>
          </a:p>
          <a:p>
            <a:pPr marL="285750" indent="-285750" algn="just"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Similarly, Explore the second child of root node 2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5 as the current node,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5&gt;threshold, So pruned it.</a:t>
            </a:r>
          </a:p>
          <a:p>
            <a:pPr marL="285750" indent="-285750" algn="just"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So, our pruned value is 5,8,7.</a:t>
            </a:r>
          </a:p>
        </p:txBody>
      </p:sp>
    </p:spTree>
    <p:extLst>
      <p:ext uri="{BB962C8B-B14F-4D97-AF65-F5344CB8AC3E}">
        <p14:creationId xmlns:p14="http://schemas.microsoft.com/office/powerpoint/2010/main" val="943596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03032" y="151215"/>
            <a:ext cx="6897063" cy="3543795"/>
          </a:xfrm>
          <a:prstGeom prst="rect">
            <a:avLst/>
          </a:prstGeom>
        </p:spPr>
      </p:pic>
      <p:sp>
        <p:nvSpPr>
          <p:cNvPr id="5" name="TextBox 4"/>
          <p:cNvSpPr txBox="1"/>
          <p:nvPr/>
        </p:nvSpPr>
        <p:spPr>
          <a:xfrm>
            <a:off x="526473" y="3695010"/>
            <a:ext cx="11152909" cy="3170099"/>
          </a:xfrm>
          <a:prstGeom prst="rect">
            <a:avLst/>
          </a:prstGeom>
          <a:noFill/>
        </p:spPr>
        <p:txBody>
          <a:bodyPr wrap="square" rtlCol="0">
            <a:spAutoFit/>
          </a:bodyPr>
          <a:lstStyle/>
          <a:p>
            <a:pPr marL="285750" indent="-285750"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In pruned values, the least is 5, So threshold = 5</a:t>
            </a:r>
          </a:p>
          <a:p>
            <a:pPr marL="285750" indent="-285750"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current node = root node = 2  and 2&lt; threshold, So explore its children.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two children explore one by one</a:t>
            </a:r>
          </a:p>
          <a:p>
            <a:pPr marL="285750" indent="-285750"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So, first children 4, So, set current node = 4 &lt; threshold, so, explored its children also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5, 4 having 5= threshold so explore its child also 7&amp;8 &gt; threshold. So, pruned it and explore the second child of node 4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4, so set current node = 4 &lt; threshold, and explore its children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8 &amp; 7 here, both 8 &amp; 7 &gt; threshold so, pruned it. At the end of this, our pruned value is 7 &amp; 8</a:t>
            </a:r>
          </a:p>
          <a:p>
            <a:pPr marL="285750" indent="-285750"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Similarly, Explore the second child of root node 2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5 as the current node,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5 = threshold, so, explored its children also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6 &amp; 6, </a:t>
            </a:r>
            <a:r>
              <a:rPr lang="en-US" sz="2000" dirty="0" err="1">
                <a:latin typeface="Cambria" panose="02040503050406030204" pitchFamily="18" charset="0"/>
                <a:ea typeface="Cambria" panose="02040503050406030204" pitchFamily="18" charset="0"/>
              </a:rPr>
              <a:t>i.e</a:t>
            </a:r>
            <a:r>
              <a:rPr lang="en-US" sz="2000" dirty="0">
                <a:latin typeface="Cambria" panose="02040503050406030204" pitchFamily="18" charset="0"/>
                <a:ea typeface="Cambria" panose="02040503050406030204" pitchFamily="18" charset="0"/>
              </a:rPr>
              <a:t> both 6 &amp; 6 &gt; threshold. So pruned it</a:t>
            </a:r>
          </a:p>
          <a:p>
            <a:pPr marL="285750" indent="-285750" fontAlgn="base">
              <a:buFont typeface="Arial" panose="020B0604020202020204" pitchFamily="34" charset="0"/>
              <a:buChar char="•"/>
            </a:pPr>
            <a:r>
              <a:rPr lang="en-US" sz="2000" dirty="0">
                <a:latin typeface="Cambria" panose="02040503050406030204" pitchFamily="18" charset="0"/>
                <a:ea typeface="Cambria" panose="02040503050406030204" pitchFamily="18" charset="0"/>
              </a:rPr>
              <a:t>So, our pruned value is 7,8 &amp; 6</a:t>
            </a:r>
          </a:p>
        </p:txBody>
      </p:sp>
    </p:spTree>
    <p:extLst>
      <p:ext uri="{BB962C8B-B14F-4D97-AF65-F5344CB8AC3E}">
        <p14:creationId xmlns:p14="http://schemas.microsoft.com/office/powerpoint/2010/main" val="945184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212962" y="123941"/>
            <a:ext cx="6944694" cy="3515216"/>
          </a:xfrm>
          <a:prstGeom prst="rect">
            <a:avLst/>
          </a:prstGeom>
        </p:spPr>
      </p:pic>
      <p:sp>
        <p:nvSpPr>
          <p:cNvPr id="5" name="TextBox 4"/>
          <p:cNvSpPr txBox="1"/>
          <p:nvPr/>
        </p:nvSpPr>
        <p:spPr>
          <a:xfrm>
            <a:off x="6968836" y="236783"/>
            <a:ext cx="5223163" cy="3693319"/>
          </a:xfrm>
          <a:prstGeom prst="rect">
            <a:avLst/>
          </a:prstGeom>
          <a:noFill/>
        </p:spPr>
        <p:txBody>
          <a:bodyPr wrap="square" rtlCol="0">
            <a:spAutoFit/>
          </a:bodyPr>
          <a:lstStyle/>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In pruned values, the least value is 6, So threshold = 6</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current node = root node = 2  and 2&lt; threshold, So explore its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two children explore one by one</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So, the first child is 4, So, set current node = 4 &lt; threshold, so, explored its children also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5, 4 having 5&lt; threshold so explore its child also 7&amp;8 &gt; threshold. So, pruned it and explore the second child of node 4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4, so set current node = 4 &lt; threshold, and explore its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8 &amp; 7 here, both 8 &amp; 7 &gt; threshold so, pruned it. At the end of this, our pruned value is 7 &amp; </a:t>
            </a:r>
            <a:r>
              <a:rPr lang="en-US" dirty="0" smtClean="0">
                <a:latin typeface="Cambria" panose="02040503050406030204" pitchFamily="18" charset="0"/>
                <a:ea typeface="Cambria" panose="02040503050406030204" pitchFamily="18" charset="0"/>
              </a:rPr>
              <a:t>8</a:t>
            </a:r>
            <a:endParaRPr lang="en-US" dirty="0">
              <a:latin typeface="Cambria" panose="02040503050406030204" pitchFamily="18" charset="0"/>
              <a:ea typeface="Cambria" panose="02040503050406030204" pitchFamily="18" charset="0"/>
            </a:endParaRPr>
          </a:p>
        </p:txBody>
      </p:sp>
      <p:sp>
        <p:nvSpPr>
          <p:cNvPr id="7" name="TextBox 6"/>
          <p:cNvSpPr txBox="1"/>
          <p:nvPr/>
        </p:nvSpPr>
        <p:spPr>
          <a:xfrm>
            <a:off x="734291" y="3930102"/>
            <a:ext cx="10834254" cy="2585323"/>
          </a:xfrm>
          <a:prstGeom prst="rect">
            <a:avLst/>
          </a:prstGeom>
          <a:noFill/>
        </p:spPr>
        <p:txBody>
          <a:bodyPr wrap="square" rtlCol="0">
            <a:spAutoFit/>
          </a:bodyPr>
          <a:lstStyle/>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Similarly, Explore the second child of root node 2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5 as the current node,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5 = threshold, so, explored its children also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6 &amp; 6,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both 6 &amp; 6 = threshold, So, explore one by one,</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 The first 6 has two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6 &amp; 8, having 6 = threshold. So, explore its child also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13 &amp; 7. here both 13 &amp; 7 &gt; Threshold. So, pruned it. next is 8 &gt; Threshold. pruned it, So, pruned value at this stage is 13,7 &amp; 8.</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Explore the second child of 5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6 = Threshold. So, explore its child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7 &amp; 9. Both are greater than Threshold. So, pruned it</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So, our pruned values are 13,7,8 &amp; 9. </a:t>
            </a:r>
          </a:p>
          <a:p>
            <a:pPr marL="285750" indent="-285750">
              <a:buFont typeface="Arial" panose="020B0604020202020204" pitchFamily="34" charset="0"/>
              <a:buChar char="•"/>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62516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13538"/>
            <a:ext cx="6773220" cy="3458058"/>
          </a:xfrm>
          <a:prstGeom prst="rect">
            <a:avLst/>
          </a:prstGeom>
        </p:spPr>
      </p:pic>
      <p:sp>
        <p:nvSpPr>
          <p:cNvPr id="5" name="TextBox 4"/>
          <p:cNvSpPr txBox="1"/>
          <p:nvPr/>
        </p:nvSpPr>
        <p:spPr>
          <a:xfrm>
            <a:off x="6483927" y="134407"/>
            <a:ext cx="5708073" cy="3416320"/>
          </a:xfrm>
          <a:prstGeom prst="rect">
            <a:avLst/>
          </a:prstGeom>
          <a:noFill/>
        </p:spPr>
        <p:txBody>
          <a:bodyPr wrap="square" rtlCol="0">
            <a:spAutoFit/>
          </a:bodyPr>
          <a:lstStyle/>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In pruned values, the least value is 7, So threshold = 7</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current node = root node = 2  and 2&lt; threshold, So explore its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two children explore one by one</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So, the first child is 4, So, set current node = 4 &lt; threshold, so, explored its children also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5, 4 </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The first child of 4 is 5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5&lt; threshold so explore its child also 7&amp;8, Here 7 = threshold. So, explore its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12 &amp; 14, both &gt; Threshold. So, pruned it. And the second child of 5 is 8 &gt; Threshold, So, pruned it. At this stage, our pruned value is 12, 14  &amp; 7.</a:t>
            </a:r>
          </a:p>
          <a:p>
            <a:endParaRPr lang="en-US" dirty="0"/>
          </a:p>
        </p:txBody>
      </p:sp>
      <p:sp>
        <p:nvSpPr>
          <p:cNvPr id="6" name="TextBox 5"/>
          <p:cNvSpPr txBox="1"/>
          <p:nvPr/>
        </p:nvSpPr>
        <p:spPr>
          <a:xfrm>
            <a:off x="360217" y="3550727"/>
            <a:ext cx="11526983" cy="3693319"/>
          </a:xfrm>
          <a:prstGeom prst="rect">
            <a:avLst/>
          </a:prstGeom>
          <a:noFill/>
        </p:spPr>
        <p:txBody>
          <a:bodyPr wrap="square" rtlCol="0">
            <a:spAutoFit/>
          </a:bodyPr>
          <a:lstStyle/>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Now explore the second child of node 4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4, so set current node = 4 &lt; threshold, and explore its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8 &amp; 7 here, 8 &gt; threshold so, pruned it. then go to the second child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7 = Threshold, So explore its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13 &amp; 8. having both &gt; Threshold. So pruned it. At the end of this, our pruned value is 12,14,8 &amp; 13</a:t>
            </a:r>
          </a:p>
          <a:p>
            <a:pPr marL="285750" indent="-285750" fontAlgn="base">
              <a:buFont typeface="Arial" panose="020B0604020202020204" pitchFamily="34" charset="0"/>
              <a:buChar char="•"/>
            </a:pPr>
            <a:r>
              <a:rPr lang="en-US" dirty="0" smtClean="0">
                <a:latin typeface="Cambria" panose="02040503050406030204" pitchFamily="18" charset="0"/>
                <a:ea typeface="Cambria" panose="02040503050406030204" pitchFamily="18" charset="0"/>
              </a:rPr>
              <a:t>Similarly</a:t>
            </a:r>
            <a:r>
              <a:rPr lang="en-US" dirty="0">
                <a:latin typeface="Cambria" panose="02040503050406030204" pitchFamily="18" charset="0"/>
                <a:ea typeface="Cambria" panose="02040503050406030204" pitchFamily="18" charset="0"/>
              </a:rPr>
              <a:t>, Explore the second child of root node 2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5 as the current node,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5 &lt; threshold, so, explored its children also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6 &amp; 6,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both 6 &amp; 6 &lt; threshold, So, explore one by one,</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 The first 6 has two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6 &amp; 8, having 6 &lt; threshold. So, explore its child also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13 &amp; 7. here 13 &gt; Threshold. So, pruned it. And 7= Threshold. And it hasn’t any child. So, the shift to the next sub-child of 6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8 &gt; threshold, So, pruned it. The pruned value at this stage is  12,14,8 &amp;13</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Explore the second child of 5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6 &lt; Threshold. So, explore its child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7 &amp; 9. Here 7 = Threshold, So, explore its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8 &amp; 14, Both are greater than Threshold. So, pruned it, Now the sub child of 6 is 9 &gt; Threshold, So, pruned it.  </a:t>
            </a:r>
          </a:p>
          <a:p>
            <a:pPr marL="285750" indent="-285750" fontAlgn="base">
              <a:buFont typeface="Arial" panose="020B0604020202020204" pitchFamily="34" charset="0"/>
              <a:buChar char="•"/>
            </a:pPr>
            <a:r>
              <a:rPr lang="en-US" dirty="0">
                <a:latin typeface="Cambria" panose="02040503050406030204" pitchFamily="18" charset="0"/>
                <a:ea typeface="Cambria" panose="02040503050406030204" pitchFamily="18" charset="0"/>
              </a:rPr>
              <a:t>So, our pruned values are 12,14,8,13 &amp; 9.</a:t>
            </a:r>
          </a:p>
          <a:p>
            <a:endParaRPr lang="en-US" dirty="0"/>
          </a:p>
        </p:txBody>
      </p:sp>
    </p:spTree>
    <p:extLst>
      <p:ext uri="{BB962C8B-B14F-4D97-AF65-F5344CB8AC3E}">
        <p14:creationId xmlns:p14="http://schemas.microsoft.com/office/powerpoint/2010/main" val="125353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23764" y="1039091"/>
            <a:ext cx="9238200" cy="4858890"/>
          </a:xfrm>
          <a:prstGeom prst="rect">
            <a:avLst/>
          </a:prstGeom>
        </p:spPr>
      </p:pic>
    </p:spTree>
    <p:extLst>
      <p:ext uri="{BB962C8B-B14F-4D97-AF65-F5344CB8AC3E}">
        <p14:creationId xmlns:p14="http://schemas.microsoft.com/office/powerpoint/2010/main" val="3440020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236" y="384752"/>
            <a:ext cx="11582399" cy="6320848"/>
          </a:xfrm>
        </p:spPr>
        <p:txBody>
          <a:bodyPr>
            <a:normAutofit/>
          </a:bodyPr>
          <a:lstStyle/>
          <a:p>
            <a:pPr algn="just" fontAlgn="base">
              <a:lnSpc>
                <a:spcPct val="100000"/>
              </a:lnSpc>
            </a:pPr>
            <a:r>
              <a:rPr lang="en-US" sz="2400" dirty="0">
                <a:latin typeface="Cambria" panose="02040503050406030204" pitchFamily="18" charset="0"/>
                <a:ea typeface="Cambria" panose="02040503050406030204" pitchFamily="18" charset="0"/>
              </a:rPr>
              <a:t>In pruned values, the least value is 8, So threshold = 8</a:t>
            </a:r>
          </a:p>
          <a:p>
            <a:pPr algn="just" fontAlgn="base">
              <a:lnSpc>
                <a:spcPct val="100000"/>
              </a:lnSpc>
            </a:pPr>
            <a:r>
              <a:rPr lang="en-US" sz="2400" dirty="0">
                <a:latin typeface="Cambria" panose="02040503050406030204" pitchFamily="18" charset="0"/>
                <a:ea typeface="Cambria" panose="02040503050406030204" pitchFamily="18" charset="0"/>
              </a:rPr>
              <a:t>current node = root node = 2  and 2&lt; threshold, So explore its children. </a:t>
            </a:r>
            <a:r>
              <a:rPr lang="en-US" sz="2400" dirty="0" err="1">
                <a:latin typeface="Cambria" panose="02040503050406030204" pitchFamily="18" charset="0"/>
                <a:ea typeface="Cambria" panose="02040503050406030204" pitchFamily="18" charset="0"/>
              </a:rPr>
              <a:t>i.e</a:t>
            </a:r>
            <a:r>
              <a:rPr lang="en-US" sz="2400" dirty="0">
                <a:latin typeface="Cambria" panose="02040503050406030204" pitchFamily="18" charset="0"/>
                <a:ea typeface="Cambria" panose="02040503050406030204" pitchFamily="18" charset="0"/>
              </a:rPr>
              <a:t> two children explore one by one</a:t>
            </a:r>
          </a:p>
          <a:p>
            <a:pPr algn="just" fontAlgn="base">
              <a:lnSpc>
                <a:spcPct val="100000"/>
              </a:lnSpc>
            </a:pPr>
            <a:r>
              <a:rPr lang="en-US" sz="2400" dirty="0">
                <a:latin typeface="Cambria" panose="02040503050406030204" pitchFamily="18" charset="0"/>
                <a:ea typeface="Cambria" panose="02040503050406030204" pitchFamily="18" charset="0"/>
              </a:rPr>
              <a:t>So, the first child is 4, So, set current node = 4 &lt; threshold, so, explored its children also </a:t>
            </a:r>
            <a:r>
              <a:rPr lang="en-US" sz="2400" dirty="0" err="1">
                <a:latin typeface="Cambria" panose="02040503050406030204" pitchFamily="18" charset="0"/>
                <a:ea typeface="Cambria" panose="02040503050406030204" pitchFamily="18" charset="0"/>
              </a:rPr>
              <a:t>i.e</a:t>
            </a:r>
            <a:r>
              <a:rPr lang="en-US" sz="2400" dirty="0">
                <a:latin typeface="Cambria" panose="02040503050406030204" pitchFamily="18" charset="0"/>
                <a:ea typeface="Cambria" panose="02040503050406030204" pitchFamily="18" charset="0"/>
              </a:rPr>
              <a:t>  5, 4 </a:t>
            </a:r>
          </a:p>
          <a:p>
            <a:pPr algn="just" fontAlgn="base">
              <a:lnSpc>
                <a:spcPct val="100000"/>
              </a:lnSpc>
            </a:pPr>
            <a:r>
              <a:rPr lang="en-US" sz="2400" dirty="0">
                <a:latin typeface="Cambria" panose="02040503050406030204" pitchFamily="18" charset="0"/>
                <a:ea typeface="Cambria" panose="02040503050406030204" pitchFamily="18" charset="0"/>
              </a:rPr>
              <a:t>The first child of 4 is 5 </a:t>
            </a:r>
            <a:r>
              <a:rPr lang="en-US" sz="2400" dirty="0" err="1">
                <a:latin typeface="Cambria" panose="02040503050406030204" pitchFamily="18" charset="0"/>
                <a:ea typeface="Cambria" panose="02040503050406030204" pitchFamily="18" charset="0"/>
              </a:rPr>
              <a:t>i.e</a:t>
            </a:r>
            <a:r>
              <a:rPr lang="en-US" sz="2400" dirty="0">
                <a:latin typeface="Cambria" panose="02040503050406030204" pitchFamily="18" charset="0"/>
                <a:ea typeface="Cambria" panose="02040503050406030204" pitchFamily="18" charset="0"/>
              </a:rPr>
              <a:t> 5&lt; threshold so explore its child also 7&amp;8, Here 7 &lt; threshold. So, explore its children </a:t>
            </a:r>
            <a:r>
              <a:rPr lang="en-US" sz="2400" dirty="0" err="1">
                <a:latin typeface="Cambria" panose="02040503050406030204" pitchFamily="18" charset="0"/>
                <a:ea typeface="Cambria" panose="02040503050406030204" pitchFamily="18" charset="0"/>
              </a:rPr>
              <a:t>i.e</a:t>
            </a:r>
            <a:r>
              <a:rPr lang="en-US" sz="2400" dirty="0">
                <a:latin typeface="Cambria" panose="02040503050406030204" pitchFamily="18" charset="0"/>
                <a:ea typeface="Cambria" panose="02040503050406030204" pitchFamily="18" charset="0"/>
              </a:rPr>
              <a:t> 12 &amp; 14, both &gt; Threshold. So, pruned it. And the second child of 5 is 8 = Threshold, So,  So, explore its children </a:t>
            </a:r>
            <a:r>
              <a:rPr lang="en-US" sz="2400" dirty="0" err="1">
                <a:latin typeface="Cambria" panose="02040503050406030204" pitchFamily="18" charset="0"/>
                <a:ea typeface="Cambria" panose="02040503050406030204" pitchFamily="18" charset="0"/>
              </a:rPr>
              <a:t>i.e</a:t>
            </a:r>
            <a:r>
              <a:rPr lang="en-US" sz="2400" dirty="0">
                <a:latin typeface="Cambria" panose="02040503050406030204" pitchFamily="18" charset="0"/>
                <a:ea typeface="Cambria" panose="02040503050406030204" pitchFamily="18" charset="0"/>
              </a:rPr>
              <a:t> 16 &amp; 15, both &gt; Threshold. So, pruned it. At this stage, our pruned value is 12, 14, 16 &amp; 15</a:t>
            </a:r>
            <a:r>
              <a:rPr lang="en-US" sz="2400" dirty="0" smtClean="0">
                <a:latin typeface="Cambria" panose="02040503050406030204" pitchFamily="18" charset="0"/>
                <a:ea typeface="Cambria" panose="02040503050406030204" pitchFamily="18" charset="0"/>
              </a:rPr>
              <a:t>.</a:t>
            </a:r>
          </a:p>
          <a:p>
            <a:pPr algn="just" fontAlgn="base">
              <a:lnSpc>
                <a:spcPct val="100000"/>
              </a:lnSpc>
            </a:pPr>
            <a:r>
              <a:rPr lang="en-US" sz="2400" dirty="0">
                <a:latin typeface="Cambria" panose="02040503050406030204" pitchFamily="18" charset="0"/>
                <a:ea typeface="Cambria" panose="02040503050406030204" pitchFamily="18" charset="0"/>
              </a:rPr>
              <a:t>Now explore the second child of node 4 </a:t>
            </a:r>
            <a:r>
              <a:rPr lang="en-US" sz="2400" dirty="0" err="1">
                <a:latin typeface="Cambria" panose="02040503050406030204" pitchFamily="18" charset="0"/>
                <a:ea typeface="Cambria" panose="02040503050406030204" pitchFamily="18" charset="0"/>
              </a:rPr>
              <a:t>i.e</a:t>
            </a:r>
            <a:r>
              <a:rPr lang="en-US" sz="2400" dirty="0">
                <a:latin typeface="Cambria" panose="02040503050406030204" pitchFamily="18" charset="0"/>
                <a:ea typeface="Cambria" panose="02040503050406030204" pitchFamily="18" charset="0"/>
              </a:rPr>
              <a:t> 4, so set current node = 4 &lt; threshold, and explore its children </a:t>
            </a:r>
            <a:r>
              <a:rPr lang="en-US" sz="2400" dirty="0" err="1">
                <a:latin typeface="Cambria" panose="02040503050406030204" pitchFamily="18" charset="0"/>
                <a:ea typeface="Cambria" panose="02040503050406030204" pitchFamily="18" charset="0"/>
              </a:rPr>
              <a:t>i.e</a:t>
            </a:r>
            <a:r>
              <a:rPr lang="en-US" sz="2400" dirty="0">
                <a:latin typeface="Cambria" panose="02040503050406030204" pitchFamily="18" charset="0"/>
                <a:ea typeface="Cambria" panose="02040503050406030204" pitchFamily="18" charset="0"/>
              </a:rPr>
              <a:t> 8 &amp; 7 here, 8 = Threshold, So,  So, explore its children </a:t>
            </a:r>
            <a:r>
              <a:rPr lang="en-US" sz="2400" dirty="0" err="1">
                <a:latin typeface="Cambria" panose="02040503050406030204" pitchFamily="18" charset="0"/>
                <a:ea typeface="Cambria" panose="02040503050406030204" pitchFamily="18" charset="0"/>
              </a:rPr>
              <a:t>i.e</a:t>
            </a:r>
            <a:r>
              <a:rPr lang="en-US" sz="2400" dirty="0">
                <a:latin typeface="Cambria" panose="02040503050406030204" pitchFamily="18" charset="0"/>
                <a:ea typeface="Cambria" panose="02040503050406030204" pitchFamily="18" charset="0"/>
              </a:rPr>
              <a:t> 12 &amp; 9, both &gt; Threshold. </a:t>
            </a:r>
          </a:p>
          <a:p>
            <a:pPr algn="just" fontAlgn="base">
              <a:lnSpc>
                <a:spcPct val="100000"/>
              </a:lnSpc>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60991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4" y="304800"/>
            <a:ext cx="11007436" cy="5872163"/>
          </a:xfrm>
        </p:spPr>
        <p:txBody>
          <a:bodyPr>
            <a:normAutofit fontScale="92500" lnSpcReduction="10000"/>
          </a:bodyPr>
          <a:lstStyle/>
          <a:p>
            <a:pPr algn="just" fontAlgn="base">
              <a:lnSpc>
                <a:spcPct val="110000"/>
              </a:lnSpc>
            </a:pPr>
            <a:r>
              <a:rPr lang="en-US" dirty="0" smtClean="0">
                <a:latin typeface="Cambria" panose="02040503050406030204" pitchFamily="18" charset="0"/>
                <a:ea typeface="Cambria" panose="02040503050406030204" pitchFamily="18" charset="0"/>
              </a:rPr>
              <a:t>So</a:t>
            </a:r>
            <a:r>
              <a:rPr lang="en-US" dirty="0">
                <a:latin typeface="Cambria" panose="02040503050406030204" pitchFamily="18" charset="0"/>
                <a:ea typeface="Cambria" panose="02040503050406030204" pitchFamily="18" charset="0"/>
              </a:rPr>
              <a:t>, pruned it. then go to the second child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7 &lt; Threshold, So explore its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13 &amp; 8. having 13 &gt; Threshold. So pruned it.  and 8 = Threshold and it hasn’t any child. At the end of this, our pruned values are 12, 14, 16, 15, and 13.</a:t>
            </a:r>
          </a:p>
          <a:p>
            <a:pPr algn="just" fontAlgn="base">
              <a:lnSpc>
                <a:spcPct val="110000"/>
              </a:lnSpc>
            </a:pPr>
            <a:r>
              <a:rPr lang="en-US" dirty="0" smtClean="0">
                <a:latin typeface="Cambria" panose="02040503050406030204" pitchFamily="18" charset="0"/>
                <a:ea typeface="Cambria" panose="02040503050406030204" pitchFamily="18" charset="0"/>
              </a:rPr>
              <a:t>Similarly</a:t>
            </a:r>
            <a:r>
              <a:rPr lang="en-US" dirty="0">
                <a:latin typeface="Cambria" panose="02040503050406030204" pitchFamily="18" charset="0"/>
                <a:ea typeface="Cambria" panose="02040503050406030204" pitchFamily="18" charset="0"/>
              </a:rPr>
              <a:t>, Explore the second child of root node 2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5 as the current node,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5 &lt; threshold, so, explored its children also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6 &amp; 6,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both 6 &amp; 6 &lt; threshold, So, explore one by one,</a:t>
            </a:r>
          </a:p>
          <a:p>
            <a:pPr algn="just" fontAlgn="base">
              <a:lnSpc>
                <a:spcPct val="110000"/>
              </a:lnSpc>
            </a:pPr>
            <a:r>
              <a:rPr lang="en-US" dirty="0">
                <a:latin typeface="Cambria" panose="02040503050406030204" pitchFamily="18" charset="0"/>
                <a:ea typeface="Cambria" panose="02040503050406030204" pitchFamily="18" charset="0"/>
              </a:rPr>
              <a:t> The first 6 has two children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6 &amp; 8, having 6 &lt; threshold. So, explore its child also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13 &amp; 7. here 13 &gt; Threshold. So, pruned it. And 7&lt;Threshold. And it hasn’t any child. So, the shift to the next sub-child of 6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8 = threshold. So,  explored its children also </a:t>
            </a:r>
            <a:r>
              <a:rPr lang="en-US" dirty="0" err="1">
                <a:latin typeface="Cambria" panose="02040503050406030204" pitchFamily="18" charset="0"/>
                <a:ea typeface="Cambria" panose="02040503050406030204" pitchFamily="18" charset="0"/>
              </a:rPr>
              <a:t>i.e</a:t>
            </a:r>
            <a:r>
              <a:rPr lang="en-US" dirty="0">
                <a:latin typeface="Cambria" panose="02040503050406030204" pitchFamily="18" charset="0"/>
                <a:ea typeface="Cambria" panose="02040503050406030204" pitchFamily="18" charset="0"/>
              </a:rPr>
              <a:t>  15 &amp; 16, Here </a:t>
            </a:r>
            <a:r>
              <a:rPr lang="en-US" b="1" dirty="0">
                <a:latin typeface="Cambria" panose="02040503050406030204" pitchFamily="18" charset="0"/>
                <a:ea typeface="Cambria" panose="02040503050406030204" pitchFamily="18" charset="0"/>
              </a:rPr>
              <a:t>15 = Goal Node</a:t>
            </a:r>
            <a:r>
              <a:rPr lang="en-US" dirty="0">
                <a:latin typeface="Cambria" panose="02040503050406030204" pitchFamily="18" charset="0"/>
                <a:ea typeface="Cambria" panose="02040503050406030204" pitchFamily="18" charset="0"/>
              </a:rPr>
              <a:t>. So, stop this iteration. Now no need to explore more.</a:t>
            </a:r>
          </a:p>
          <a:p>
            <a:pPr algn="just" fontAlgn="base">
              <a:lnSpc>
                <a:spcPct val="110000"/>
              </a:lnSpc>
            </a:pPr>
            <a:r>
              <a:rPr lang="en-US" dirty="0">
                <a:latin typeface="Cambria" panose="02040503050406030204" pitchFamily="18" charset="0"/>
                <a:ea typeface="Cambria" panose="02040503050406030204" pitchFamily="18" charset="0"/>
              </a:rPr>
              <a:t>The goal path is </a:t>
            </a:r>
            <a:r>
              <a:rPr lang="en-US" b="1" dirty="0">
                <a:latin typeface="Cambria" panose="02040503050406030204" pitchFamily="18" charset="0"/>
                <a:ea typeface="Cambria" panose="02040503050406030204" pitchFamily="18" charset="0"/>
              </a:rPr>
              <a:t>2–&gt;5–&gt;6–&gt;8–&gt;15</a:t>
            </a:r>
            <a:endParaRPr lang="en-US" dirty="0">
              <a:latin typeface="Cambria" panose="02040503050406030204" pitchFamily="18" charset="0"/>
              <a:ea typeface="Cambria" panose="02040503050406030204" pitchFamily="18" charset="0"/>
            </a:endParaRPr>
          </a:p>
          <a:p>
            <a:endParaRPr lang="en-US" dirty="0"/>
          </a:p>
        </p:txBody>
      </p:sp>
    </p:spTree>
    <p:extLst>
      <p:ext uri="{BB962C8B-B14F-4D97-AF65-F5344CB8AC3E}">
        <p14:creationId xmlns:p14="http://schemas.microsoft.com/office/powerpoint/2010/main" val="3392039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5854" y="620278"/>
            <a:ext cx="10647218" cy="5461867"/>
          </a:xfrm>
        </p:spPr>
        <p:txBody>
          <a:bodyPr>
            <a:normAutofit fontScale="92500" lnSpcReduction="20000"/>
          </a:bodyPr>
          <a:lstStyle/>
          <a:p>
            <a:pPr marL="0" indent="0" fontAlgn="base">
              <a:buNone/>
            </a:pPr>
            <a:r>
              <a:rPr lang="en-US" sz="3500" b="1" dirty="0" smtClean="0">
                <a:latin typeface="Cambria" panose="02040503050406030204" pitchFamily="18" charset="0"/>
                <a:ea typeface="Cambria" panose="02040503050406030204" pitchFamily="18" charset="0"/>
              </a:rPr>
              <a:t>Advantages</a:t>
            </a:r>
          </a:p>
          <a:p>
            <a:pPr marL="0" indent="0" fontAlgn="base">
              <a:buNone/>
            </a:pPr>
            <a:endParaRPr lang="en-US" sz="3500" b="1" dirty="0">
              <a:latin typeface="Cambria" panose="02040503050406030204" pitchFamily="18" charset="0"/>
              <a:ea typeface="Cambria" panose="02040503050406030204" pitchFamily="18" charset="0"/>
            </a:endParaRPr>
          </a:p>
          <a:p>
            <a:pPr algn="just" fontAlgn="base">
              <a:lnSpc>
                <a:spcPct val="120000"/>
              </a:lnSpc>
            </a:pPr>
            <a:r>
              <a:rPr lang="en-US" dirty="0">
                <a:latin typeface="Cambria" panose="02040503050406030204" pitchFamily="18" charset="0"/>
                <a:ea typeface="Cambria" panose="02040503050406030204" pitchFamily="18" charset="0"/>
              </a:rPr>
              <a:t>IDA* is </a:t>
            </a:r>
            <a:r>
              <a:rPr lang="en-US" b="1" dirty="0">
                <a:latin typeface="Cambria" panose="02040503050406030204" pitchFamily="18" charset="0"/>
                <a:ea typeface="Cambria" panose="02040503050406030204" pitchFamily="18" charset="0"/>
              </a:rPr>
              <a:t>guaranteed </a:t>
            </a:r>
            <a:r>
              <a:rPr lang="en-US" dirty="0">
                <a:latin typeface="Cambria" panose="02040503050406030204" pitchFamily="18" charset="0"/>
                <a:ea typeface="Cambria" panose="02040503050406030204" pitchFamily="18" charset="0"/>
              </a:rPr>
              <a:t>to find the optimal solution if one exists.</a:t>
            </a:r>
          </a:p>
          <a:p>
            <a:pPr algn="just" fontAlgn="base">
              <a:lnSpc>
                <a:spcPct val="120000"/>
              </a:lnSpc>
            </a:pPr>
            <a:r>
              <a:rPr lang="en-US" dirty="0">
                <a:latin typeface="Cambria" panose="02040503050406030204" pitchFamily="18" charset="0"/>
                <a:ea typeface="Cambria" panose="02040503050406030204" pitchFamily="18" charset="0"/>
              </a:rPr>
              <a:t>IDA* avoids the exponential </a:t>
            </a:r>
            <a:r>
              <a:rPr lang="en-US" b="1" dirty="0">
                <a:latin typeface="Cambria" panose="02040503050406030204" pitchFamily="18" charset="0"/>
                <a:ea typeface="Cambria" panose="02040503050406030204" pitchFamily="18" charset="0"/>
              </a:rPr>
              <a:t>time complexity</a:t>
            </a:r>
            <a:r>
              <a:rPr lang="en-US" dirty="0">
                <a:latin typeface="Cambria" panose="02040503050406030204" pitchFamily="18" charset="0"/>
                <a:ea typeface="Cambria" panose="02040503050406030204" pitchFamily="18" charset="0"/>
              </a:rPr>
              <a:t> of traditional </a:t>
            </a:r>
            <a:r>
              <a:rPr lang="en-US" u="sng" dirty="0">
                <a:latin typeface="Cambria" panose="02040503050406030204" pitchFamily="18" charset="0"/>
                <a:ea typeface="Cambria" panose="02040503050406030204" pitchFamily="18" charset="0"/>
                <a:hlinkClick r:id="rId2"/>
              </a:rPr>
              <a:t>Depth First </a:t>
            </a:r>
            <a:r>
              <a:rPr lang="en-US" u="sng" dirty="0" smtClean="0">
                <a:latin typeface="Cambria" panose="02040503050406030204" pitchFamily="18" charset="0"/>
                <a:ea typeface="Cambria" panose="02040503050406030204" pitchFamily="18" charset="0"/>
                <a:hlinkClick r:id="rId2"/>
              </a:rPr>
              <a:t>Search</a:t>
            </a: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by using an “iterative deepening” approach, where the search depth is gradually increased.</a:t>
            </a:r>
          </a:p>
          <a:p>
            <a:pPr algn="just" fontAlgn="base">
              <a:lnSpc>
                <a:spcPct val="120000"/>
              </a:lnSpc>
            </a:pPr>
            <a:r>
              <a:rPr lang="en-US" dirty="0">
                <a:latin typeface="Cambria" panose="02040503050406030204" pitchFamily="18" charset="0"/>
                <a:ea typeface="Cambria" panose="02040503050406030204" pitchFamily="18" charset="0"/>
              </a:rPr>
              <a:t>IDA* uses a</a:t>
            </a:r>
            <a:r>
              <a:rPr lang="en-US" b="1" dirty="0">
                <a:latin typeface="Cambria" panose="02040503050406030204" pitchFamily="18" charset="0"/>
                <a:ea typeface="Cambria" panose="02040503050406030204" pitchFamily="18" charset="0"/>
              </a:rPr>
              <a:t> limited amount of memory</a:t>
            </a:r>
            <a:r>
              <a:rPr lang="en-US" dirty="0">
                <a:latin typeface="Cambria" panose="02040503050406030204" pitchFamily="18" charset="0"/>
                <a:ea typeface="Cambria" panose="02040503050406030204" pitchFamily="18" charset="0"/>
              </a:rPr>
              <a:t> as compared to the </a:t>
            </a:r>
            <a:r>
              <a:rPr lang="en-US" u="sng" dirty="0">
                <a:latin typeface="Cambria" panose="02040503050406030204" pitchFamily="18" charset="0"/>
                <a:ea typeface="Cambria" panose="02040503050406030204" pitchFamily="18" charset="0"/>
                <a:hlinkClick r:id="rId3"/>
              </a:rPr>
              <a:t>A* algorithm</a:t>
            </a:r>
            <a:r>
              <a:rPr lang="en-US" dirty="0">
                <a:latin typeface="Cambria" panose="02040503050406030204" pitchFamily="18" charset="0"/>
                <a:ea typeface="Cambria" panose="02040503050406030204" pitchFamily="18" charset="0"/>
              </a:rPr>
              <a:t> because it uses </a:t>
            </a:r>
            <a:r>
              <a:rPr lang="en-US" u="sng" dirty="0">
                <a:latin typeface="Cambria" panose="02040503050406030204" pitchFamily="18" charset="0"/>
                <a:ea typeface="Cambria" panose="02040503050406030204" pitchFamily="18" charset="0"/>
                <a:hlinkClick r:id="rId2"/>
              </a:rPr>
              <a:t>Depth First Search</a:t>
            </a:r>
            <a:r>
              <a:rPr lang="en-US" dirty="0">
                <a:latin typeface="Cambria" panose="02040503050406030204" pitchFamily="18" charset="0"/>
                <a:ea typeface="Cambria" panose="02040503050406030204" pitchFamily="18" charset="0"/>
              </a:rPr>
              <a:t>.</a:t>
            </a:r>
          </a:p>
          <a:p>
            <a:pPr algn="just" fontAlgn="base">
              <a:lnSpc>
                <a:spcPct val="120000"/>
              </a:lnSpc>
            </a:pPr>
            <a:r>
              <a:rPr lang="en-US" dirty="0">
                <a:latin typeface="Cambria" panose="02040503050406030204" pitchFamily="18" charset="0"/>
                <a:ea typeface="Cambria" panose="02040503050406030204" pitchFamily="18" charset="0"/>
              </a:rPr>
              <a:t>IDA* is an admissible heuristic, it</a:t>
            </a:r>
            <a:r>
              <a:rPr lang="en-US" b="1" dirty="0">
                <a:latin typeface="Cambria" panose="02040503050406030204" pitchFamily="18" charset="0"/>
                <a:ea typeface="Cambria" panose="02040503050406030204" pitchFamily="18" charset="0"/>
              </a:rPr>
              <a:t> never overestimates</a:t>
            </a:r>
            <a:r>
              <a:rPr lang="en-US" dirty="0">
                <a:latin typeface="Cambria" panose="02040503050406030204" pitchFamily="18" charset="0"/>
                <a:ea typeface="Cambria" panose="02040503050406030204" pitchFamily="18" charset="0"/>
              </a:rPr>
              <a:t> the cost of reaching the goal.</a:t>
            </a:r>
          </a:p>
          <a:p>
            <a:pPr algn="just" fontAlgn="base">
              <a:lnSpc>
                <a:spcPct val="120000"/>
              </a:lnSpc>
            </a:pPr>
            <a:r>
              <a:rPr lang="en-US" dirty="0">
                <a:latin typeface="Cambria" panose="02040503050406030204" pitchFamily="18" charset="0"/>
                <a:ea typeface="Cambria" panose="02040503050406030204" pitchFamily="18" charset="0"/>
              </a:rPr>
              <a:t>It’s efficient in handling large numbers of states and large branch factors.</a:t>
            </a:r>
          </a:p>
          <a:p>
            <a:pPr algn="just">
              <a:lnSpc>
                <a:spcPct val="120000"/>
              </a:lnSpc>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09315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054" y="897370"/>
            <a:ext cx="10515600" cy="4351338"/>
          </a:xfrm>
        </p:spPr>
        <p:txBody>
          <a:bodyPr/>
          <a:lstStyle/>
          <a:p>
            <a:pPr marL="0" indent="0" fontAlgn="base">
              <a:buNone/>
            </a:pPr>
            <a:r>
              <a:rPr lang="en-US" b="1" dirty="0" smtClean="0">
                <a:latin typeface="Cambria" panose="02040503050406030204" pitchFamily="18" charset="0"/>
                <a:ea typeface="Cambria" panose="02040503050406030204" pitchFamily="18" charset="0"/>
              </a:rPr>
              <a:t>Disadvantages</a:t>
            </a:r>
          </a:p>
          <a:p>
            <a:pPr marL="0" indent="0" fontAlgn="base">
              <a:buNone/>
            </a:pPr>
            <a:endParaRPr lang="en-US" b="1" dirty="0">
              <a:latin typeface="Cambria" panose="02040503050406030204" pitchFamily="18" charset="0"/>
              <a:ea typeface="Cambria" panose="02040503050406030204" pitchFamily="18" charset="0"/>
            </a:endParaRPr>
          </a:p>
          <a:p>
            <a:pPr fontAlgn="base"/>
            <a:r>
              <a:rPr lang="en-US" dirty="0">
                <a:latin typeface="Cambria" panose="02040503050406030204" pitchFamily="18" charset="0"/>
                <a:ea typeface="Cambria" panose="02040503050406030204" pitchFamily="18" charset="0"/>
              </a:rPr>
              <a:t>Explore the visited node again and again. it doesn’t keep track of the visited nodes.</a:t>
            </a:r>
          </a:p>
          <a:p>
            <a:pPr fontAlgn="base"/>
            <a:r>
              <a:rPr lang="en-US" dirty="0">
                <a:latin typeface="Cambria" panose="02040503050406030204" pitchFamily="18" charset="0"/>
                <a:ea typeface="Cambria" panose="02040503050406030204" pitchFamily="18" charset="0"/>
              </a:rPr>
              <a:t>IDA* may be </a:t>
            </a:r>
            <a:r>
              <a:rPr lang="en-US" b="1" dirty="0">
                <a:latin typeface="Cambria" panose="02040503050406030204" pitchFamily="18" charset="0"/>
                <a:ea typeface="Cambria" panose="02040503050406030204" pitchFamily="18" charset="0"/>
              </a:rPr>
              <a:t>slower </a:t>
            </a:r>
            <a:r>
              <a:rPr lang="en-US" dirty="0">
                <a:latin typeface="Cambria" panose="02040503050406030204" pitchFamily="18" charset="0"/>
                <a:ea typeface="Cambria" panose="02040503050406030204" pitchFamily="18" charset="0"/>
              </a:rPr>
              <a:t>to get a solution than other search algorithms like A* or Breadth-First Search because it explores and repeats the explore node again and again.</a:t>
            </a:r>
          </a:p>
          <a:p>
            <a:pPr fontAlgn="base"/>
            <a:r>
              <a:rPr lang="en-US" dirty="0">
                <a:latin typeface="Cambria" panose="02040503050406030204" pitchFamily="18" charset="0"/>
                <a:ea typeface="Cambria" panose="02040503050406030204" pitchFamily="18" charset="0"/>
              </a:rPr>
              <a:t>It takes more time and power than the </a:t>
            </a:r>
            <a:r>
              <a:rPr lang="en-US" u="sng" dirty="0">
                <a:latin typeface="Cambria" panose="02040503050406030204" pitchFamily="18" charset="0"/>
                <a:ea typeface="Cambria" panose="02040503050406030204" pitchFamily="18" charset="0"/>
                <a:hlinkClick r:id="rId2"/>
              </a:rPr>
              <a:t>A* algorithm</a:t>
            </a:r>
            <a:r>
              <a:rPr lang="en-US" dirty="0">
                <a:latin typeface="Cambria" panose="02040503050406030204" pitchFamily="18" charset="0"/>
                <a:ea typeface="Cambria" panose="02040503050406030204" pitchFamily="18" charset="0"/>
              </a:rPr>
              <a:t>.</a:t>
            </a:r>
          </a:p>
          <a:p>
            <a:endParaRPr lang="en-US" dirty="0"/>
          </a:p>
        </p:txBody>
      </p:sp>
    </p:spTree>
    <p:extLst>
      <p:ext uri="{BB962C8B-B14F-4D97-AF65-F5344CB8AC3E}">
        <p14:creationId xmlns:p14="http://schemas.microsoft.com/office/powerpoint/2010/main" val="3377759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01888"/>
            <a:ext cx="10813473" cy="1325563"/>
          </a:xfrm>
        </p:spPr>
        <p:txBody>
          <a:bodyPr/>
          <a:lstStyle/>
          <a:p>
            <a:r>
              <a:rPr lang="en-US" dirty="0">
                <a:latin typeface="Cambria" panose="02040503050406030204" pitchFamily="18" charset="0"/>
                <a:ea typeface="Cambria" panose="02040503050406030204" pitchFamily="18" charset="0"/>
              </a:rPr>
              <a:t>Game Playing: Board Games and Game </a:t>
            </a:r>
            <a:r>
              <a:rPr lang="en-US" dirty="0" smtClean="0">
                <a:latin typeface="Cambria" panose="02040503050406030204" pitchFamily="18" charset="0"/>
                <a:ea typeface="Cambria" panose="02040503050406030204" pitchFamily="18" charset="0"/>
              </a:rPr>
              <a:t>Trees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427451"/>
            <a:ext cx="10938164" cy="4782993"/>
          </a:xfrm>
        </p:spPr>
        <p:txBody>
          <a:bodyPr>
            <a:normAutofit lnSpcReduction="10000"/>
          </a:bodyPr>
          <a:lstStyle/>
          <a:p>
            <a:pPr algn="just" fontAlgn="base">
              <a:lnSpc>
                <a:spcPct val="100000"/>
              </a:lnSpc>
            </a:pPr>
            <a:r>
              <a:rPr lang="en-US" dirty="0">
                <a:latin typeface="Cambria" panose="02040503050406030204" pitchFamily="18" charset="0"/>
                <a:ea typeface="Cambria" panose="02040503050406030204" pitchFamily="18" charset="0"/>
              </a:rPr>
              <a:t>Game Playing is an important domain of artificial intelligence. Games don’t require much knowledge; the only knowledge we need to provide is the rules, legal moves and the conditions of winning or losing the game. </a:t>
            </a:r>
            <a:endParaRPr lang="en-US" dirty="0" smtClean="0">
              <a:latin typeface="Cambria" panose="02040503050406030204" pitchFamily="18" charset="0"/>
              <a:ea typeface="Cambria" panose="02040503050406030204" pitchFamily="18" charset="0"/>
            </a:endParaRPr>
          </a:p>
          <a:p>
            <a:pPr algn="just" fontAlgn="base">
              <a:lnSpc>
                <a:spcPct val="100000"/>
              </a:lnSpc>
            </a:pPr>
            <a:r>
              <a:rPr lang="en-US" dirty="0" smtClean="0">
                <a:latin typeface="Cambria" panose="02040503050406030204" pitchFamily="18" charset="0"/>
                <a:ea typeface="Cambria" panose="02040503050406030204" pitchFamily="18" charset="0"/>
              </a:rPr>
              <a:t>Both </a:t>
            </a:r>
            <a:r>
              <a:rPr lang="en-US" dirty="0">
                <a:latin typeface="Cambria" panose="02040503050406030204" pitchFamily="18" charset="0"/>
                <a:ea typeface="Cambria" panose="02040503050406030204" pitchFamily="18" charset="0"/>
              </a:rPr>
              <a:t>players try to win the game. So, both of them try to make the best move possible at each turn. Searching techniques like BFS(Breadth First Search) are not accurate for this as the branching factor is very high, so searching will take a lot of time. So, we need another search procedures that improve –</a:t>
            </a:r>
          </a:p>
          <a:p>
            <a:pPr algn="just" fontAlgn="base">
              <a:lnSpc>
                <a:spcPct val="100000"/>
              </a:lnSpc>
            </a:pPr>
            <a:r>
              <a:rPr lang="en-US" b="1" dirty="0">
                <a:latin typeface="Cambria" panose="02040503050406030204" pitchFamily="18" charset="0"/>
                <a:ea typeface="Cambria" panose="02040503050406030204" pitchFamily="18" charset="0"/>
              </a:rPr>
              <a:t>Generate procedure</a:t>
            </a:r>
            <a:r>
              <a:rPr lang="en-US" dirty="0">
                <a:latin typeface="Cambria" panose="02040503050406030204" pitchFamily="18" charset="0"/>
                <a:ea typeface="Cambria" panose="02040503050406030204" pitchFamily="18" charset="0"/>
              </a:rPr>
              <a:t> so that only good moves are generated.</a:t>
            </a:r>
          </a:p>
          <a:p>
            <a:pPr algn="just" fontAlgn="base">
              <a:lnSpc>
                <a:spcPct val="100000"/>
              </a:lnSpc>
            </a:pPr>
            <a:r>
              <a:rPr lang="en-US" b="1" dirty="0">
                <a:latin typeface="Cambria" panose="02040503050406030204" pitchFamily="18" charset="0"/>
                <a:ea typeface="Cambria" panose="02040503050406030204" pitchFamily="18" charset="0"/>
              </a:rPr>
              <a:t>Test procedure</a:t>
            </a:r>
            <a:r>
              <a:rPr lang="en-US" dirty="0">
                <a:latin typeface="Cambria" panose="02040503050406030204" pitchFamily="18" charset="0"/>
                <a:ea typeface="Cambria" panose="02040503050406030204" pitchFamily="18" charset="0"/>
              </a:rPr>
              <a:t> so that the best move can be explored first.</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787693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1116"/>
            <a:ext cx="10515600" cy="4351338"/>
          </a:xfrm>
        </p:spPr>
        <p:txBody>
          <a:bodyPr/>
          <a:lstStyle/>
          <a:p>
            <a:pPr marL="0" indent="0" algn="just" fontAlgn="base">
              <a:buNone/>
            </a:pPr>
            <a:r>
              <a:rPr lang="en-US" dirty="0">
                <a:latin typeface="Cambria" panose="02040503050406030204" pitchFamily="18" charset="0"/>
                <a:ea typeface="Cambria" panose="02040503050406030204" pitchFamily="18" charset="0"/>
              </a:rPr>
              <a:t>There are two main approaches to game playing in AI, rule-based systems and machine learning-based systems. </a:t>
            </a:r>
            <a:endParaRPr lang="en-US" dirty="0" smtClean="0">
              <a:latin typeface="Cambria" panose="02040503050406030204" pitchFamily="18" charset="0"/>
              <a:ea typeface="Cambria" panose="02040503050406030204" pitchFamily="18" charset="0"/>
            </a:endParaRPr>
          </a:p>
          <a:p>
            <a:pPr marL="0" indent="0" algn="just" fontAlgn="base">
              <a:buNone/>
            </a:pPr>
            <a:endParaRPr lang="en-US" dirty="0">
              <a:latin typeface="Cambria" panose="02040503050406030204" pitchFamily="18" charset="0"/>
              <a:ea typeface="Cambria" panose="02040503050406030204" pitchFamily="18" charset="0"/>
            </a:endParaRPr>
          </a:p>
          <a:p>
            <a:pPr algn="just" fontAlgn="base"/>
            <a:r>
              <a:rPr lang="en-US" b="1" dirty="0">
                <a:latin typeface="Cambria" panose="02040503050406030204" pitchFamily="18" charset="0"/>
                <a:ea typeface="Cambria" panose="02040503050406030204" pitchFamily="18" charset="0"/>
              </a:rPr>
              <a:t>Rule-based systems</a:t>
            </a:r>
            <a:r>
              <a:rPr lang="en-US" dirty="0">
                <a:latin typeface="Cambria" panose="02040503050406030204" pitchFamily="18" charset="0"/>
                <a:ea typeface="Cambria" panose="02040503050406030204" pitchFamily="18" charset="0"/>
              </a:rPr>
              <a:t> use a set of fixed rules to play the game. </a:t>
            </a:r>
          </a:p>
          <a:p>
            <a:pPr algn="just" fontAlgn="base"/>
            <a:r>
              <a:rPr lang="en-US" b="1" dirty="0">
                <a:latin typeface="Cambria" panose="02040503050406030204" pitchFamily="18" charset="0"/>
                <a:ea typeface="Cambria" panose="02040503050406030204" pitchFamily="18" charset="0"/>
              </a:rPr>
              <a:t>Machine learning-based systems</a:t>
            </a:r>
            <a:r>
              <a:rPr lang="en-US" dirty="0">
                <a:latin typeface="Cambria" panose="02040503050406030204" pitchFamily="18" charset="0"/>
                <a:ea typeface="Cambria" panose="02040503050406030204" pitchFamily="18" charset="0"/>
              </a:rPr>
              <a:t> use algorithms to learn from experience and make decisions based on that experience. </a:t>
            </a:r>
          </a:p>
          <a:p>
            <a:endParaRPr lang="en-US" dirty="0"/>
          </a:p>
        </p:txBody>
      </p:sp>
    </p:spTree>
    <p:extLst>
      <p:ext uri="{BB962C8B-B14F-4D97-AF65-F5344CB8AC3E}">
        <p14:creationId xmlns:p14="http://schemas.microsoft.com/office/powerpoint/2010/main" val="18518112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latin typeface="Cambria" panose="02040503050406030204" pitchFamily="18" charset="0"/>
                <a:ea typeface="Cambria" panose="02040503050406030204" pitchFamily="18" charset="0"/>
              </a:rPr>
              <a:t>Board games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78873" y="1174462"/>
            <a:ext cx="10674927" cy="5226338"/>
          </a:xfrm>
        </p:spPr>
        <p:txBody>
          <a:bodyPr>
            <a:normAutofit lnSpcReduction="10000"/>
          </a:bodyPr>
          <a:lstStyle/>
          <a:p>
            <a:pPr algn="just">
              <a:lnSpc>
                <a:spcPct val="110000"/>
              </a:lnSpc>
            </a:pPr>
            <a:r>
              <a:rPr lang="en-US" dirty="0">
                <a:latin typeface="Cambria" panose="02040503050406030204" pitchFamily="18" charset="0"/>
                <a:ea typeface="Cambria" panose="02040503050406030204" pitchFamily="18" charset="0"/>
              </a:rPr>
              <a:t>Board games are one of the oldest branches of AI (Shannon and Turing 1950). Board games present a very abstract and pure form of competition between two opponents and clearly require a form of “intelligence”. </a:t>
            </a:r>
            <a:endParaRPr lang="en-US" dirty="0" smtClean="0">
              <a:latin typeface="Cambria" panose="02040503050406030204" pitchFamily="18" charset="0"/>
              <a:ea typeface="Cambria" panose="02040503050406030204" pitchFamily="18" charset="0"/>
            </a:endParaRPr>
          </a:p>
          <a:p>
            <a:pPr algn="just">
              <a:lnSpc>
                <a:spcPct val="110000"/>
              </a:lnSpc>
            </a:pPr>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states of a game are easy to represent. </a:t>
            </a:r>
            <a:endParaRPr lang="en-US" dirty="0" smtClean="0">
              <a:latin typeface="Cambria" panose="02040503050406030204" pitchFamily="18" charset="0"/>
              <a:ea typeface="Cambria" panose="02040503050406030204" pitchFamily="18" charset="0"/>
            </a:endParaRPr>
          </a:p>
          <a:p>
            <a:pPr algn="just">
              <a:lnSpc>
                <a:spcPct val="110000"/>
              </a:lnSpc>
            </a:pPr>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possible actions of the players are well-defined. </a:t>
            </a:r>
            <a:endParaRPr lang="en-US" dirty="0" smtClean="0">
              <a:latin typeface="Cambria" panose="02040503050406030204" pitchFamily="18" charset="0"/>
              <a:ea typeface="Cambria" panose="02040503050406030204" pitchFamily="18" charset="0"/>
            </a:endParaRPr>
          </a:p>
          <a:p>
            <a:pPr marL="0" indent="0" algn="just">
              <a:lnSpc>
                <a:spcPct val="110000"/>
              </a:lnSpc>
              <a:buNone/>
            </a:pP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Realization of the game as a search problem </a:t>
            </a:r>
            <a:endParaRPr lang="en-US" dirty="0" smtClean="0">
              <a:latin typeface="Cambria" panose="02040503050406030204" pitchFamily="18" charset="0"/>
              <a:ea typeface="Cambria" panose="02040503050406030204" pitchFamily="18" charset="0"/>
            </a:endParaRPr>
          </a:p>
          <a:p>
            <a:pPr marL="0" indent="0" algn="just">
              <a:lnSpc>
                <a:spcPct val="110000"/>
              </a:lnSpc>
              <a:buNone/>
            </a:pP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The individual states are fully accessible </a:t>
            </a:r>
            <a:endParaRPr lang="en-US" dirty="0" smtClean="0">
              <a:latin typeface="Cambria" panose="02040503050406030204" pitchFamily="18" charset="0"/>
              <a:ea typeface="Cambria" panose="02040503050406030204" pitchFamily="18" charset="0"/>
            </a:endParaRPr>
          </a:p>
          <a:p>
            <a:pPr marL="0" indent="0" algn="just">
              <a:lnSpc>
                <a:spcPct val="110000"/>
              </a:lnSpc>
              <a:buNone/>
            </a:pPr>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It </a:t>
            </a:r>
            <a:r>
              <a:rPr lang="en-US" dirty="0" smtClean="0">
                <a:latin typeface="Cambria" panose="02040503050406030204" pitchFamily="18" charset="0"/>
                <a:ea typeface="Cambria" panose="02040503050406030204" pitchFamily="18" charset="0"/>
              </a:rPr>
              <a:t>is a </a:t>
            </a:r>
            <a:r>
              <a:rPr lang="en-US" dirty="0">
                <a:latin typeface="Cambria" panose="02040503050406030204" pitchFamily="18" charset="0"/>
                <a:ea typeface="Cambria" panose="02040503050406030204" pitchFamily="18" charset="0"/>
              </a:rPr>
              <a:t>contingency problem, because the characteristics of the opponent are not known in advance. </a:t>
            </a:r>
          </a:p>
        </p:txBody>
      </p:sp>
    </p:spTree>
    <p:extLst>
      <p:ext uri="{BB962C8B-B14F-4D97-AF65-F5344CB8AC3E}">
        <p14:creationId xmlns:p14="http://schemas.microsoft.com/office/powerpoint/2010/main" val="14492368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1163" y="578715"/>
            <a:ext cx="10522528" cy="5655829"/>
          </a:xfrm>
        </p:spPr>
        <p:txBody>
          <a:bodyPr>
            <a:normAutofit/>
          </a:bodyPr>
          <a:lstStyle/>
          <a:p>
            <a:pPr algn="just"/>
            <a:r>
              <a:rPr lang="en-US" dirty="0">
                <a:latin typeface="Cambria" panose="02040503050406030204" pitchFamily="18" charset="0"/>
                <a:ea typeface="Cambria" panose="02040503050406030204" pitchFamily="18" charset="0"/>
              </a:rPr>
              <a:t>Board games are not only difficult because they are contingency problems, but also because the search trees can become astronomically large. </a:t>
            </a: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Examples</a:t>
            </a:r>
            <a:r>
              <a:rPr lang="en-US" dirty="0">
                <a:latin typeface="Cambria" panose="02040503050406030204" pitchFamily="18" charset="0"/>
                <a:ea typeface="Cambria" panose="02040503050406030204" pitchFamily="18" charset="0"/>
              </a:rPr>
              <a:t>: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Chess</a:t>
            </a:r>
            <a:r>
              <a:rPr lang="en-US" dirty="0">
                <a:latin typeface="Cambria" panose="02040503050406030204" pitchFamily="18" charset="0"/>
                <a:ea typeface="Cambria" panose="02040503050406030204" pitchFamily="18" charset="0"/>
              </a:rPr>
              <a:t>: On average 35 possible actions from every position; often, games have 50 moves per player, resulting in a search depth of 100: → 35100 ≈ 10150 nodes in the search tree (with “only” 1040 legal chess positions).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Good </a:t>
            </a:r>
            <a:r>
              <a:rPr lang="en-US" dirty="0">
                <a:latin typeface="Cambria" panose="02040503050406030204" pitchFamily="18" charset="0"/>
                <a:ea typeface="Cambria" panose="02040503050406030204" pitchFamily="18" charset="0"/>
              </a:rPr>
              <a:t>game programs have the properties that they </a:t>
            </a:r>
            <a:r>
              <a:rPr lang="en-US" dirty="0" smtClean="0">
                <a:latin typeface="Cambria" panose="02040503050406030204" pitchFamily="18" charset="0"/>
                <a:ea typeface="Cambria" panose="02040503050406030204" pitchFamily="18" charset="0"/>
              </a:rPr>
              <a:t>delete </a:t>
            </a:r>
            <a:r>
              <a:rPr lang="en-US" dirty="0">
                <a:latin typeface="Cambria" panose="02040503050406030204" pitchFamily="18" charset="0"/>
                <a:ea typeface="Cambria" panose="02040503050406030204" pitchFamily="18" charset="0"/>
              </a:rPr>
              <a:t>irrelevant branches of the game tree, </a:t>
            </a:r>
            <a:r>
              <a:rPr lang="en-US" dirty="0" smtClean="0">
                <a:latin typeface="Cambria" panose="02040503050406030204" pitchFamily="18" charset="0"/>
                <a:ea typeface="Cambria" panose="02040503050406030204" pitchFamily="18" charset="0"/>
              </a:rPr>
              <a:t>use </a:t>
            </a:r>
            <a:r>
              <a:rPr lang="en-US" dirty="0">
                <a:latin typeface="Cambria" panose="02040503050406030204" pitchFamily="18" charset="0"/>
                <a:ea typeface="Cambria" panose="02040503050406030204" pitchFamily="18" charset="0"/>
              </a:rPr>
              <a:t>good evaluation functions for in-between states, and </a:t>
            </a:r>
            <a:r>
              <a:rPr lang="en-US" dirty="0" smtClean="0">
                <a:latin typeface="Cambria" panose="02040503050406030204" pitchFamily="18" charset="0"/>
                <a:ea typeface="Cambria" panose="02040503050406030204" pitchFamily="18" charset="0"/>
              </a:rPr>
              <a:t>look </a:t>
            </a:r>
            <a:r>
              <a:rPr lang="en-US" dirty="0">
                <a:latin typeface="Cambria" panose="02040503050406030204" pitchFamily="18" charset="0"/>
                <a:ea typeface="Cambria" panose="02040503050406030204" pitchFamily="18" charset="0"/>
              </a:rPr>
              <a:t>ahead as many moves as possible. </a:t>
            </a:r>
          </a:p>
        </p:txBody>
      </p:sp>
    </p:spTree>
    <p:extLst>
      <p:ext uri="{BB962C8B-B14F-4D97-AF65-F5344CB8AC3E}">
        <p14:creationId xmlns:p14="http://schemas.microsoft.com/office/powerpoint/2010/main" val="31539722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9709" y="883515"/>
            <a:ext cx="10480964" cy="5378739"/>
          </a:xfrm>
        </p:spPr>
        <p:txBody>
          <a:bodyPr/>
          <a:lstStyle/>
          <a:p>
            <a:pPr algn="just"/>
            <a:r>
              <a:rPr lang="en-US" dirty="0">
                <a:latin typeface="Cambria" panose="02040503050406030204" pitchFamily="18" charset="0"/>
                <a:ea typeface="Cambria" panose="02040503050406030204" pitchFamily="18" charset="0"/>
              </a:rPr>
              <a:t>Players are max and min, where max begins.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Initial </a:t>
            </a:r>
            <a:r>
              <a:rPr lang="en-US" dirty="0">
                <a:latin typeface="Cambria" panose="02040503050406030204" pitchFamily="18" charset="0"/>
                <a:ea typeface="Cambria" panose="02040503050406030204" pitchFamily="18" charset="0"/>
              </a:rPr>
              <a:t>position (e.g., board arrangement)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Operators </a:t>
            </a:r>
            <a:r>
              <a:rPr lang="en-US" dirty="0">
                <a:latin typeface="Cambria" panose="02040503050406030204" pitchFamily="18" charset="0"/>
                <a:ea typeface="Cambria" panose="02040503050406030204" pitchFamily="18" charset="0"/>
              </a:rPr>
              <a:t>(= legal moves)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Termination </a:t>
            </a:r>
            <a:r>
              <a:rPr lang="en-US" dirty="0">
                <a:latin typeface="Cambria" panose="02040503050406030204" pitchFamily="18" charset="0"/>
                <a:ea typeface="Cambria" panose="02040503050406030204" pitchFamily="18" charset="0"/>
              </a:rPr>
              <a:t>test, determines when the game is over.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Terminal </a:t>
            </a:r>
            <a:r>
              <a:rPr lang="en-US" dirty="0">
                <a:latin typeface="Cambria" panose="02040503050406030204" pitchFamily="18" charset="0"/>
                <a:ea typeface="Cambria" panose="02040503050406030204" pitchFamily="18" charset="0"/>
              </a:rPr>
              <a:t>state = game over.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In </a:t>
            </a:r>
            <a:r>
              <a:rPr lang="en-US" dirty="0">
                <a:latin typeface="Cambria" panose="02040503050406030204" pitchFamily="18" charset="0"/>
                <a:ea typeface="Cambria" panose="02040503050406030204" pitchFamily="18" charset="0"/>
              </a:rPr>
              <a:t>contrast to regular searches, where a path from beginning to end is simply a solution, max must come up with a strategy to reach a terminal state regardless of what min does → correcting reactions to all of min’s moves</a:t>
            </a:r>
          </a:p>
        </p:txBody>
      </p:sp>
    </p:spTree>
    <p:extLst>
      <p:ext uri="{BB962C8B-B14F-4D97-AF65-F5344CB8AC3E}">
        <p14:creationId xmlns:p14="http://schemas.microsoft.com/office/powerpoint/2010/main" val="31923839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54729" y="616272"/>
            <a:ext cx="8977744" cy="5995573"/>
          </a:xfrm>
          <a:prstGeom prst="rect">
            <a:avLst/>
          </a:prstGeom>
        </p:spPr>
      </p:pic>
    </p:spTree>
    <p:extLst>
      <p:ext uri="{BB962C8B-B14F-4D97-AF65-F5344CB8AC3E}">
        <p14:creationId xmlns:p14="http://schemas.microsoft.com/office/powerpoint/2010/main" val="30843274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Cambria" panose="02040503050406030204" pitchFamily="18" charset="0"/>
                <a:ea typeface="Cambria" panose="02040503050406030204" pitchFamily="18" charset="0"/>
              </a:rPr>
              <a:t>Game trees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690688"/>
            <a:ext cx="10515600" cy="4351338"/>
          </a:xfrm>
        </p:spPr>
        <p:txBody>
          <a:bodyPr/>
          <a:lstStyle/>
          <a:p>
            <a:pPr marL="0" indent="0" algn="just">
              <a:buNone/>
            </a:pPr>
            <a:r>
              <a:rPr lang="en-US" dirty="0">
                <a:latin typeface="Cambria" panose="02040503050406030204" pitchFamily="18" charset="0"/>
                <a:ea typeface="Cambria" panose="02040503050406030204" pitchFamily="18" charset="0"/>
              </a:rPr>
              <a:t>Generalizing Search Problems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In </a:t>
            </a:r>
            <a:r>
              <a:rPr lang="en-US" dirty="0">
                <a:latin typeface="Cambria" panose="02040503050406030204" pitchFamily="18" charset="0"/>
                <a:ea typeface="Cambria" panose="02040503050406030204" pitchFamily="18" charset="0"/>
              </a:rPr>
              <a:t>these cases, we need to generalize our view of search to handle state changes that are not in the control of the agent.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One </a:t>
            </a:r>
            <a:r>
              <a:rPr lang="en-US" dirty="0">
                <a:latin typeface="Cambria" panose="02040503050406030204" pitchFamily="18" charset="0"/>
                <a:ea typeface="Cambria" panose="02040503050406030204" pitchFamily="18" charset="0"/>
              </a:rPr>
              <a:t>generalization yields game tree search </a:t>
            </a:r>
            <a:r>
              <a:rPr lang="en-US" dirty="0" smtClean="0">
                <a:latin typeface="Cambria" panose="02040503050406030204" pitchFamily="18" charset="0"/>
                <a:ea typeface="Cambria" panose="02040503050406030204" pitchFamily="18" charset="0"/>
              </a:rPr>
              <a:t>agent </a:t>
            </a:r>
            <a:r>
              <a:rPr lang="en-US" dirty="0">
                <a:latin typeface="Cambria" panose="02040503050406030204" pitchFamily="18" charset="0"/>
                <a:ea typeface="Cambria" panose="02040503050406030204" pitchFamily="18" charset="0"/>
              </a:rPr>
              <a:t>and some other agents</a:t>
            </a:r>
            <a:r>
              <a:rPr lang="en-US" dirty="0" smtClean="0">
                <a:latin typeface="Cambria" panose="02040503050406030204" pitchFamily="18" charset="0"/>
                <a:ea typeface="Cambria" panose="02040503050406030204" pitchFamily="18" charset="0"/>
              </a:rPr>
              <a:t>.</a:t>
            </a:r>
          </a:p>
          <a:p>
            <a:pPr algn="just"/>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other agents are acting to maximize their profits </a:t>
            </a:r>
            <a:r>
              <a:rPr lang="en-US" dirty="0" smtClean="0">
                <a:latin typeface="Cambria" panose="02040503050406030204" pitchFamily="18" charset="0"/>
                <a:ea typeface="Cambria" panose="02040503050406030204" pitchFamily="18" charset="0"/>
              </a:rPr>
              <a:t>this </a:t>
            </a:r>
            <a:r>
              <a:rPr lang="en-US" dirty="0">
                <a:latin typeface="Cambria" panose="02040503050406030204" pitchFamily="18" charset="0"/>
                <a:ea typeface="Cambria" panose="02040503050406030204" pitchFamily="18" charset="0"/>
              </a:rPr>
              <a:t>might not have a positive effect on your profits. </a:t>
            </a:r>
          </a:p>
        </p:txBody>
      </p:sp>
    </p:spTree>
    <p:extLst>
      <p:ext uri="{BB962C8B-B14F-4D97-AF65-F5344CB8AC3E}">
        <p14:creationId xmlns:p14="http://schemas.microsoft.com/office/powerpoint/2010/main" val="37077961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9709" y="675697"/>
            <a:ext cx="10494818" cy="5378739"/>
          </a:xfrm>
        </p:spPr>
        <p:txBody>
          <a:bodyPr>
            <a:normAutofit/>
          </a:bodyPr>
          <a:lstStyle/>
          <a:p>
            <a:pPr marL="0" indent="0" algn="ctr">
              <a:buNone/>
            </a:pPr>
            <a:r>
              <a:rPr lang="en-US" sz="3200" b="1" dirty="0">
                <a:latin typeface="Cambria" panose="02040503050406030204" pitchFamily="18" charset="0"/>
                <a:ea typeface="Cambria" panose="02040503050406030204" pitchFamily="18" charset="0"/>
              </a:rPr>
              <a:t>Two-person, zero-sum games </a:t>
            </a:r>
            <a:endParaRPr lang="en-US" sz="3200" b="1" dirty="0" smtClean="0">
              <a:latin typeface="Cambria" panose="02040503050406030204" pitchFamily="18" charset="0"/>
              <a:ea typeface="Cambria" panose="02040503050406030204" pitchFamily="18" charset="0"/>
            </a:endParaRPr>
          </a:p>
          <a:p>
            <a:pPr marL="0" indent="0">
              <a:buNone/>
            </a:pPr>
            <a:endParaRPr lang="en-US" dirty="0" smtClean="0"/>
          </a:p>
          <a:p>
            <a:pPr algn="just"/>
            <a:r>
              <a:rPr lang="en-US" dirty="0" smtClean="0">
                <a:latin typeface="Cambria" panose="02040503050406030204" pitchFamily="18" charset="0"/>
                <a:ea typeface="Cambria" panose="02040503050406030204" pitchFamily="18" charset="0"/>
              </a:rPr>
              <a:t>chess</a:t>
            </a:r>
            <a:r>
              <a:rPr lang="en-US" dirty="0">
                <a:latin typeface="Cambria" panose="02040503050406030204" pitchFamily="18" charset="0"/>
                <a:ea typeface="Cambria" panose="02040503050406030204" pitchFamily="18" charset="0"/>
              </a:rPr>
              <a:t>, checkers, tic-tac-toe, backgammon, go, Doom, “find the last parking space”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Your </a:t>
            </a:r>
            <a:r>
              <a:rPr lang="en-US" dirty="0">
                <a:latin typeface="Cambria" panose="02040503050406030204" pitchFamily="18" charset="0"/>
                <a:ea typeface="Cambria" panose="02040503050406030204" pitchFamily="18" charset="0"/>
              </a:rPr>
              <a:t>winning means that your opponent looses, and vice-versa.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Zero-sum </a:t>
            </a:r>
            <a:r>
              <a:rPr lang="en-US" dirty="0">
                <a:latin typeface="Cambria" panose="02040503050406030204" pitchFamily="18" charset="0"/>
                <a:ea typeface="Cambria" panose="02040503050406030204" pitchFamily="18" charset="0"/>
              </a:rPr>
              <a:t>means the sum of your and your opponent’s payoff is zero---any thing you gain come at your opponent’s cost (and vice-versa).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Key </a:t>
            </a:r>
            <a:r>
              <a:rPr lang="en-US" dirty="0">
                <a:latin typeface="Cambria" panose="02040503050406030204" pitchFamily="18" charset="0"/>
                <a:ea typeface="Cambria" panose="02040503050406030204" pitchFamily="18" charset="0"/>
              </a:rPr>
              <a:t>insight: </a:t>
            </a:r>
            <a:r>
              <a:rPr lang="en-US" dirty="0" smtClean="0">
                <a:latin typeface="Cambria" panose="02040503050406030204" pitchFamily="18" charset="0"/>
                <a:ea typeface="Cambria" panose="02040503050406030204" pitchFamily="18" charset="0"/>
              </a:rPr>
              <a:t>how </a:t>
            </a:r>
            <a:r>
              <a:rPr lang="en-US" dirty="0">
                <a:latin typeface="Cambria" panose="02040503050406030204" pitchFamily="18" charset="0"/>
                <a:ea typeface="Cambria" panose="02040503050406030204" pitchFamily="18" charset="0"/>
              </a:rPr>
              <a:t>you act depends on how the other agent acts (or how you think they will act) </a:t>
            </a:r>
            <a:r>
              <a:rPr lang="en-US" dirty="0" smtClean="0">
                <a:latin typeface="Cambria" panose="02040503050406030204" pitchFamily="18" charset="0"/>
                <a:ea typeface="Cambria" panose="02040503050406030204" pitchFamily="18" charset="0"/>
              </a:rPr>
              <a:t>and </a:t>
            </a:r>
            <a:r>
              <a:rPr lang="en-US" dirty="0">
                <a:latin typeface="Cambria" panose="02040503050406030204" pitchFamily="18" charset="0"/>
                <a:ea typeface="Cambria" panose="02040503050406030204" pitchFamily="18" charset="0"/>
              </a:rPr>
              <a:t>vice versa (if your opponent is a rational player)</a:t>
            </a:r>
          </a:p>
        </p:txBody>
      </p:sp>
    </p:spTree>
    <p:extLst>
      <p:ext uri="{BB962C8B-B14F-4D97-AF65-F5344CB8AC3E}">
        <p14:creationId xmlns:p14="http://schemas.microsoft.com/office/powerpoint/2010/main" val="14122683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3509" y="703407"/>
            <a:ext cx="10515600" cy="4351338"/>
          </a:xfrm>
        </p:spPr>
        <p:txBody>
          <a:bodyPr/>
          <a:lstStyle/>
          <a:p>
            <a:pPr marL="0" indent="0" algn="just">
              <a:buNone/>
            </a:pPr>
            <a:r>
              <a:rPr lang="en-US" dirty="0">
                <a:latin typeface="Cambria" panose="02040503050406030204" pitchFamily="18" charset="0"/>
                <a:ea typeface="Cambria" panose="02040503050406030204" pitchFamily="18" charset="0"/>
              </a:rPr>
              <a:t>More General Games </a:t>
            </a:r>
            <a:endParaRPr lang="en-US" dirty="0" smtClean="0">
              <a:latin typeface="Cambria" panose="02040503050406030204" pitchFamily="18" charset="0"/>
              <a:ea typeface="Cambria" panose="02040503050406030204" pitchFamily="18" charset="0"/>
            </a:endParaRPr>
          </a:p>
          <a:p>
            <a:pPr marL="0" indent="0" algn="just">
              <a:buNone/>
            </a:pP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What </a:t>
            </a:r>
            <a:r>
              <a:rPr lang="en-US" dirty="0">
                <a:latin typeface="Cambria" panose="02040503050406030204" pitchFamily="18" charset="0"/>
                <a:ea typeface="Cambria" panose="02040503050406030204" pitchFamily="18" charset="0"/>
              </a:rPr>
              <a:t>makes something a game?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there </a:t>
            </a:r>
            <a:r>
              <a:rPr lang="en-US" dirty="0">
                <a:latin typeface="Cambria" panose="02040503050406030204" pitchFamily="18" charset="0"/>
                <a:ea typeface="Cambria" panose="02040503050406030204" pitchFamily="18" charset="0"/>
              </a:rPr>
              <a:t>are two (or more) agents influencing state change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each </a:t>
            </a:r>
            <a:r>
              <a:rPr lang="en-US" dirty="0">
                <a:latin typeface="Cambria" panose="02040503050406030204" pitchFamily="18" charset="0"/>
                <a:ea typeface="Cambria" panose="02040503050406030204" pitchFamily="18" charset="0"/>
              </a:rPr>
              <a:t>agent has their own interests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e.g</a:t>
            </a:r>
            <a:r>
              <a:rPr lang="en-US" dirty="0">
                <a:latin typeface="Cambria" panose="02040503050406030204" pitchFamily="18" charset="0"/>
                <a:ea typeface="Cambria" panose="02040503050406030204" pitchFamily="18" charset="0"/>
              </a:rPr>
              <a:t>., goal states are different; or we assign different values to different paths/states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Each </a:t>
            </a:r>
            <a:r>
              <a:rPr lang="en-US" dirty="0">
                <a:latin typeface="Cambria" panose="02040503050406030204" pitchFamily="18" charset="0"/>
                <a:ea typeface="Cambria" panose="02040503050406030204" pitchFamily="18" charset="0"/>
              </a:rPr>
              <a:t>agent tries to alter the state so as to best benefit itself.</a:t>
            </a:r>
          </a:p>
        </p:txBody>
      </p:sp>
    </p:spTree>
    <p:extLst>
      <p:ext uri="{BB962C8B-B14F-4D97-AF65-F5344CB8AC3E}">
        <p14:creationId xmlns:p14="http://schemas.microsoft.com/office/powerpoint/2010/main" val="186333608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3563" y="578714"/>
            <a:ext cx="10494818" cy="5226339"/>
          </a:xfrm>
        </p:spPr>
        <p:txBody>
          <a:bodyPr>
            <a:normAutofit fontScale="92500"/>
          </a:bodyPr>
          <a:lstStyle/>
          <a:p>
            <a:pPr marL="0" indent="0" algn="ctr">
              <a:buNone/>
            </a:pPr>
            <a:r>
              <a:rPr lang="en-US" sz="3200" dirty="0">
                <a:latin typeface="Cambria" panose="02040503050406030204" pitchFamily="18" charset="0"/>
                <a:ea typeface="Cambria" panose="02040503050406030204" pitchFamily="18" charset="0"/>
              </a:rPr>
              <a:t>More General Games </a:t>
            </a:r>
            <a:endParaRPr lang="en-US" sz="3200" dirty="0" smtClean="0">
              <a:latin typeface="Cambria" panose="02040503050406030204" pitchFamily="18" charset="0"/>
              <a:ea typeface="Cambria" panose="02040503050406030204" pitchFamily="18" charset="0"/>
            </a:endParaRPr>
          </a:p>
          <a:p>
            <a:pPr marL="0" indent="0">
              <a:buNone/>
            </a:pPr>
            <a:endParaRPr lang="en-US" sz="3200" dirty="0" smtClean="0">
              <a:latin typeface="Cambria" panose="02040503050406030204" pitchFamily="18" charset="0"/>
              <a:ea typeface="Cambria" panose="02040503050406030204" pitchFamily="18" charset="0"/>
            </a:endParaRPr>
          </a:p>
          <a:p>
            <a:r>
              <a:rPr lang="en-US" dirty="0" smtClean="0">
                <a:latin typeface="Cambria" panose="02040503050406030204" pitchFamily="18" charset="0"/>
                <a:ea typeface="Cambria" panose="02040503050406030204" pitchFamily="18" charset="0"/>
              </a:rPr>
              <a:t>Zero-sum </a:t>
            </a:r>
            <a:r>
              <a:rPr lang="en-US" dirty="0">
                <a:latin typeface="Cambria" panose="02040503050406030204" pitchFamily="18" charset="0"/>
                <a:ea typeface="Cambria" panose="02040503050406030204" pitchFamily="18" charset="0"/>
              </a:rPr>
              <a:t>games are “fully </a:t>
            </a:r>
            <a:r>
              <a:rPr lang="en-US" dirty="0" smtClean="0">
                <a:latin typeface="Cambria" panose="02040503050406030204" pitchFamily="18" charset="0"/>
                <a:ea typeface="Cambria" panose="02040503050406030204" pitchFamily="18" charset="0"/>
              </a:rPr>
              <a:t>competitive” </a:t>
            </a:r>
          </a:p>
          <a:p>
            <a:r>
              <a:rPr lang="en-US"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if one player wins, the other player loses </a:t>
            </a:r>
            <a:endParaRPr lang="en-US" dirty="0" smtClean="0">
              <a:latin typeface="Cambria" panose="02040503050406030204" pitchFamily="18" charset="0"/>
              <a:ea typeface="Cambria" panose="02040503050406030204" pitchFamily="18" charset="0"/>
            </a:endParaRPr>
          </a:p>
          <a:p>
            <a:r>
              <a:rPr lang="en-US" dirty="0" smtClean="0">
                <a:latin typeface="Cambria" panose="02040503050406030204" pitchFamily="18" charset="0"/>
                <a:ea typeface="Cambria" panose="02040503050406030204" pitchFamily="18" charset="0"/>
              </a:rPr>
              <a:t>e.g</a:t>
            </a:r>
            <a:r>
              <a:rPr lang="en-US" dirty="0">
                <a:latin typeface="Cambria" panose="02040503050406030204" pitchFamily="18" charset="0"/>
                <a:ea typeface="Cambria" panose="02040503050406030204" pitchFamily="18" charset="0"/>
              </a:rPr>
              <a:t>., the amount of money I win (lose) at poker is the amount of money you lose (win) </a:t>
            </a:r>
            <a:endParaRPr lang="en-US" dirty="0" smtClean="0">
              <a:latin typeface="Cambria" panose="02040503050406030204" pitchFamily="18" charset="0"/>
              <a:ea typeface="Cambria" panose="02040503050406030204" pitchFamily="18" charset="0"/>
            </a:endParaRPr>
          </a:p>
          <a:p>
            <a:r>
              <a:rPr lang="en-US" dirty="0" smtClean="0">
                <a:latin typeface="Cambria" panose="02040503050406030204" pitchFamily="18" charset="0"/>
                <a:ea typeface="Cambria" panose="02040503050406030204" pitchFamily="18" charset="0"/>
              </a:rPr>
              <a:t>More </a:t>
            </a:r>
            <a:r>
              <a:rPr lang="en-US" dirty="0">
                <a:latin typeface="Cambria" panose="02040503050406030204" pitchFamily="18" charset="0"/>
                <a:ea typeface="Cambria" panose="02040503050406030204" pitchFamily="18" charset="0"/>
              </a:rPr>
              <a:t>general games can be “cooperative” </a:t>
            </a:r>
            <a:endParaRPr lang="en-US" dirty="0" smtClean="0">
              <a:latin typeface="Cambria" panose="02040503050406030204" pitchFamily="18" charset="0"/>
              <a:ea typeface="Cambria" panose="02040503050406030204" pitchFamily="18" charset="0"/>
            </a:endParaRPr>
          </a:p>
          <a:p>
            <a:r>
              <a:rPr lang="en-US" dirty="0" smtClean="0">
                <a:latin typeface="Cambria" panose="02040503050406030204" pitchFamily="18" charset="0"/>
                <a:ea typeface="Cambria" panose="02040503050406030204" pitchFamily="18" charset="0"/>
              </a:rPr>
              <a:t>some </a:t>
            </a:r>
            <a:r>
              <a:rPr lang="en-US" dirty="0">
                <a:latin typeface="Cambria" panose="02040503050406030204" pitchFamily="18" charset="0"/>
                <a:ea typeface="Cambria" panose="02040503050406030204" pitchFamily="18" charset="0"/>
              </a:rPr>
              <a:t>outcomes are preferred by both of us, or at least our values aren’t diametrically opposed </a:t>
            </a:r>
            <a:endParaRPr lang="en-US" dirty="0" smtClean="0">
              <a:latin typeface="Cambria" panose="02040503050406030204" pitchFamily="18" charset="0"/>
              <a:ea typeface="Cambria" panose="02040503050406030204" pitchFamily="18" charset="0"/>
            </a:endParaRPr>
          </a:p>
          <a:p>
            <a:r>
              <a:rPr lang="en-US" dirty="0" smtClean="0">
                <a:latin typeface="Cambria" panose="02040503050406030204" pitchFamily="18" charset="0"/>
                <a:ea typeface="Cambria" panose="02040503050406030204" pitchFamily="18" charset="0"/>
              </a:rPr>
              <a:t>We’ll </a:t>
            </a:r>
            <a:r>
              <a:rPr lang="en-US" dirty="0">
                <a:latin typeface="Cambria" panose="02040503050406030204" pitchFamily="18" charset="0"/>
                <a:ea typeface="Cambria" panose="02040503050406030204" pitchFamily="18" charset="0"/>
              </a:rPr>
              <a:t>look in detail at zero-sum games </a:t>
            </a:r>
            <a:endParaRPr lang="en-US" dirty="0" smtClean="0">
              <a:latin typeface="Cambria" panose="02040503050406030204" pitchFamily="18" charset="0"/>
              <a:ea typeface="Cambria" panose="02040503050406030204" pitchFamily="18" charset="0"/>
            </a:endParaRPr>
          </a:p>
          <a:p>
            <a:r>
              <a:rPr lang="en-US" dirty="0" smtClean="0">
                <a:latin typeface="Cambria" panose="02040503050406030204" pitchFamily="18" charset="0"/>
                <a:ea typeface="Cambria" panose="02040503050406030204" pitchFamily="18" charset="0"/>
              </a:rPr>
              <a:t>but </a:t>
            </a:r>
            <a:r>
              <a:rPr lang="en-US" dirty="0">
                <a:latin typeface="Cambria" panose="02040503050406030204" pitchFamily="18" charset="0"/>
                <a:ea typeface="Cambria" panose="02040503050406030204" pitchFamily="18" charset="0"/>
              </a:rPr>
              <a:t>first, some examples of simple zero-sum and cooperative games</a:t>
            </a:r>
          </a:p>
        </p:txBody>
      </p:sp>
    </p:spTree>
    <p:extLst>
      <p:ext uri="{BB962C8B-B14F-4D97-AF65-F5344CB8AC3E}">
        <p14:creationId xmlns:p14="http://schemas.microsoft.com/office/powerpoint/2010/main" val="38021646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71051" y="568036"/>
            <a:ext cx="8542531" cy="5597235"/>
          </a:xfrm>
          <a:prstGeom prst="rect">
            <a:avLst/>
          </a:prstGeom>
        </p:spPr>
      </p:pic>
    </p:spTree>
    <p:extLst>
      <p:ext uri="{BB962C8B-B14F-4D97-AF65-F5344CB8AC3E}">
        <p14:creationId xmlns:p14="http://schemas.microsoft.com/office/powerpoint/2010/main" val="4385681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88875" y="595746"/>
            <a:ext cx="8733747" cy="5735781"/>
          </a:xfrm>
          <a:prstGeom prst="rect">
            <a:avLst/>
          </a:prstGeom>
        </p:spPr>
      </p:pic>
    </p:spTree>
    <p:extLst>
      <p:ext uri="{BB962C8B-B14F-4D97-AF65-F5344CB8AC3E}">
        <p14:creationId xmlns:p14="http://schemas.microsoft.com/office/powerpoint/2010/main" val="20487617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07578" y="365125"/>
            <a:ext cx="9047994" cy="6285057"/>
          </a:xfrm>
          <a:prstGeom prst="rect">
            <a:avLst/>
          </a:prstGeom>
        </p:spPr>
      </p:pic>
    </p:spTree>
    <p:extLst>
      <p:ext uri="{BB962C8B-B14F-4D97-AF65-F5344CB8AC3E}">
        <p14:creationId xmlns:p14="http://schemas.microsoft.com/office/powerpoint/2010/main" val="36106429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896"/>
            <a:ext cx="10515600" cy="1325563"/>
          </a:xfrm>
        </p:spPr>
        <p:txBody>
          <a:bodyPr/>
          <a:lstStyle/>
          <a:p>
            <a:pPr algn="ctr"/>
            <a:r>
              <a:rPr lang="en-US" dirty="0" err="1" smtClean="0">
                <a:latin typeface="Cambria" panose="02040503050406030204" pitchFamily="18" charset="0"/>
                <a:ea typeface="Cambria" panose="02040503050406030204" pitchFamily="18" charset="0"/>
              </a:rPr>
              <a:t>MiniMax</a:t>
            </a:r>
            <a:r>
              <a:rPr lang="en-US" dirty="0" smtClean="0">
                <a:latin typeface="Cambria" panose="02040503050406030204" pitchFamily="18" charset="0"/>
                <a:ea typeface="Cambria" panose="02040503050406030204" pitchFamily="18" charset="0"/>
              </a:rPr>
              <a:t> Algorithm</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1055" y="1631661"/>
            <a:ext cx="11042072" cy="4351338"/>
          </a:xfrm>
        </p:spPr>
        <p:txBody>
          <a:bodyPr>
            <a:normAutofit fontScale="92500" lnSpcReduction="10000"/>
          </a:bodyPr>
          <a:lstStyle/>
          <a:p>
            <a:pPr algn="just"/>
            <a:r>
              <a:rPr lang="en-US" dirty="0">
                <a:latin typeface="Cambria" panose="02040503050406030204" pitchFamily="18" charset="0"/>
                <a:ea typeface="Cambria" panose="02040503050406030204" pitchFamily="18" charset="0"/>
              </a:rPr>
              <a:t>Mini-max algorithm is a recursive or backtracking algorithm which is used in decision-making and game theory. It provides an optimal move for the player assuming that opponent is also playing optimally</a:t>
            </a:r>
            <a:r>
              <a:rPr lang="en-US" dirty="0" smtClean="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It is designed to minimize the possible loss in a worst-case scenario (hence "min") and maximize the potential gain (therefore "max").</a:t>
            </a:r>
          </a:p>
          <a:p>
            <a:pPr algn="just"/>
            <a:r>
              <a:rPr lang="en-US" dirty="0">
                <a:latin typeface="Cambria" panose="02040503050406030204" pitchFamily="18" charset="0"/>
                <a:ea typeface="Cambria" panose="02040503050406030204" pitchFamily="18" charset="0"/>
              </a:rPr>
              <a:t>Mini-Max algorithm uses recursion to search through the game-tree.</a:t>
            </a:r>
          </a:p>
          <a:p>
            <a:pPr algn="just"/>
            <a:r>
              <a:rPr lang="en-US" dirty="0">
                <a:latin typeface="Cambria" panose="02040503050406030204" pitchFamily="18" charset="0"/>
                <a:ea typeface="Cambria" panose="02040503050406030204" pitchFamily="18" charset="0"/>
              </a:rPr>
              <a:t>Min-Max algorithm is mostly used for game playing in AI. Such as Chess, Checkers, tic-tac-toe, go, and various tow-players game. This Algorithm computes the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decision for the current state.</a:t>
            </a:r>
          </a:p>
          <a:p>
            <a:pPr algn="just"/>
            <a:r>
              <a:rPr lang="en-US" dirty="0">
                <a:latin typeface="Cambria" panose="02040503050406030204" pitchFamily="18" charset="0"/>
                <a:ea typeface="Cambria" panose="02040503050406030204" pitchFamily="18" charset="0"/>
              </a:rPr>
              <a:t>In this algorithm two players play the game, one is called MAX and other is called MIN.</a:t>
            </a:r>
          </a:p>
          <a:p>
            <a:endParaRPr lang="en-US" dirty="0"/>
          </a:p>
        </p:txBody>
      </p:sp>
    </p:spTree>
    <p:extLst>
      <p:ext uri="{BB962C8B-B14F-4D97-AF65-F5344CB8AC3E}">
        <p14:creationId xmlns:p14="http://schemas.microsoft.com/office/powerpoint/2010/main" val="40643145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054" y="1188316"/>
            <a:ext cx="10515600" cy="4351338"/>
          </a:xfrm>
        </p:spPr>
        <p:txBody>
          <a:bodyPr/>
          <a:lstStyle/>
          <a:p>
            <a:pPr algn="just"/>
            <a:r>
              <a:rPr lang="en-US" dirty="0">
                <a:latin typeface="Cambria" panose="02040503050406030204" pitchFamily="18" charset="0"/>
                <a:ea typeface="Cambria" panose="02040503050406030204" pitchFamily="18" charset="0"/>
              </a:rPr>
              <a:t>Both the players fight it as the opponent player gets the minimum benefit while they get the maximum benefit.</a:t>
            </a:r>
          </a:p>
          <a:p>
            <a:pPr algn="just"/>
            <a:r>
              <a:rPr lang="en-US" dirty="0">
                <a:latin typeface="Cambria" panose="02040503050406030204" pitchFamily="18" charset="0"/>
                <a:ea typeface="Cambria" panose="02040503050406030204" pitchFamily="18" charset="0"/>
              </a:rPr>
              <a:t>Both Players of the game are opponent of each other, where MAX will select the maximized value and MIN will select the minimized value.</a:t>
            </a:r>
          </a:p>
          <a:p>
            <a:pPr algn="just"/>
            <a:r>
              <a:rPr lang="en-US" dirty="0">
                <a:latin typeface="Cambria" panose="02040503050406030204" pitchFamily="18" charset="0"/>
                <a:ea typeface="Cambria" panose="02040503050406030204" pitchFamily="18" charset="0"/>
              </a:rPr>
              <a:t>The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algorithm performs a depth-first search algorithm for the exploration of the complete game tree.</a:t>
            </a:r>
          </a:p>
          <a:p>
            <a:pPr algn="just"/>
            <a:r>
              <a:rPr lang="en-US" dirty="0">
                <a:latin typeface="Cambria" panose="02040503050406030204" pitchFamily="18" charset="0"/>
                <a:ea typeface="Cambria" panose="02040503050406030204" pitchFamily="18" charset="0"/>
              </a:rPr>
              <a:t>The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algorithm proceeds all the way down to the terminal node of the tree, then backtrack the tree as the recursion.</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363800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29492"/>
            <a:ext cx="10515600" cy="914400"/>
          </a:xfrm>
        </p:spPr>
        <p:txBody>
          <a:bodyPr>
            <a:normAutofit fontScale="90000"/>
          </a:bodyPr>
          <a:lstStyle/>
          <a:p>
            <a:pPr algn="ctr"/>
            <a:r>
              <a:rPr lang="en-US" dirty="0">
                <a:latin typeface="Cambria" panose="02040503050406030204" pitchFamily="18" charset="0"/>
                <a:ea typeface="Cambria" panose="02040503050406030204" pitchFamily="18" charset="0"/>
              </a:rPr>
              <a:t>Working of Min-Max </a:t>
            </a:r>
            <a:r>
              <a:rPr lang="en-US" dirty="0" smtClean="0">
                <a:latin typeface="Cambria" panose="02040503050406030204" pitchFamily="18" charset="0"/>
                <a:ea typeface="Cambria" panose="02040503050406030204" pitchFamily="18" charset="0"/>
              </a:rPr>
              <a:t>Algorithm</a:t>
            </a:r>
            <a:r>
              <a:rPr lang="en-US" dirty="0">
                <a:latin typeface="Cambria" panose="02040503050406030204" pitchFamily="18" charset="0"/>
                <a:ea typeface="Cambria" panose="02040503050406030204" pitchFamily="18" charset="0"/>
              </a:rPr>
              <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65018" y="1122219"/>
            <a:ext cx="10688782" cy="5444836"/>
          </a:xfrm>
        </p:spPr>
        <p:txBody>
          <a:bodyPr>
            <a:normAutofit lnSpcReduction="10000"/>
          </a:bodyPr>
          <a:lstStyle/>
          <a:p>
            <a:pPr algn="just"/>
            <a:r>
              <a:rPr lang="en-US" dirty="0">
                <a:latin typeface="Cambria" panose="02040503050406030204" pitchFamily="18" charset="0"/>
                <a:ea typeface="Cambria" panose="02040503050406030204" pitchFamily="18" charset="0"/>
              </a:rPr>
              <a:t>The working of the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algorithm can be easily described using an example. Below we have taken an example of game-tree which is representing the two-player game.</a:t>
            </a:r>
          </a:p>
          <a:p>
            <a:pPr algn="just"/>
            <a:r>
              <a:rPr lang="en-US" dirty="0">
                <a:latin typeface="Cambria" panose="02040503050406030204" pitchFamily="18" charset="0"/>
                <a:ea typeface="Cambria" panose="02040503050406030204" pitchFamily="18" charset="0"/>
              </a:rPr>
              <a:t>In this example, there are two players one is called Maximizer and other is called Minimizer.</a:t>
            </a:r>
          </a:p>
          <a:p>
            <a:pPr algn="just"/>
            <a:r>
              <a:rPr lang="en-US" dirty="0">
                <a:latin typeface="Cambria" panose="02040503050406030204" pitchFamily="18" charset="0"/>
                <a:ea typeface="Cambria" panose="02040503050406030204" pitchFamily="18" charset="0"/>
              </a:rPr>
              <a:t>Maximizer will try to get the Maximum possible score, and Minimizer will try to get the minimum possible score.</a:t>
            </a:r>
          </a:p>
          <a:p>
            <a:pPr algn="just"/>
            <a:r>
              <a:rPr lang="en-US" dirty="0">
                <a:latin typeface="Cambria" panose="02040503050406030204" pitchFamily="18" charset="0"/>
                <a:ea typeface="Cambria" panose="02040503050406030204" pitchFamily="18" charset="0"/>
              </a:rPr>
              <a:t>This algorithm applies DFS, so in this game-tree, we have to go all the way through the leaves to reach the terminal nodes.</a:t>
            </a:r>
          </a:p>
          <a:p>
            <a:pPr algn="just"/>
            <a:r>
              <a:rPr lang="en-US" dirty="0">
                <a:latin typeface="Cambria" panose="02040503050406030204" pitchFamily="18" charset="0"/>
                <a:ea typeface="Cambria" panose="02040503050406030204" pitchFamily="18" charset="0"/>
              </a:rPr>
              <a:t>At the terminal node, the terminal values are given so we will compare those value and backtrack the tree until the initial state occurs. Following are the main steps involved in solving the two-player game tree:</a:t>
            </a:r>
          </a:p>
          <a:p>
            <a:endParaRPr lang="en-US" dirty="0"/>
          </a:p>
        </p:txBody>
      </p:sp>
    </p:spTree>
    <p:extLst>
      <p:ext uri="{BB962C8B-B14F-4D97-AF65-F5344CB8AC3E}">
        <p14:creationId xmlns:p14="http://schemas.microsoft.com/office/powerpoint/2010/main" val="311570719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60098" y="2447155"/>
            <a:ext cx="4934639" cy="3801005"/>
          </a:xfrm>
          <a:prstGeom prst="rect">
            <a:avLst/>
          </a:prstGeom>
        </p:spPr>
      </p:pic>
      <p:sp>
        <p:nvSpPr>
          <p:cNvPr id="5" name="TextBox 4"/>
          <p:cNvSpPr txBox="1"/>
          <p:nvPr/>
        </p:nvSpPr>
        <p:spPr>
          <a:xfrm>
            <a:off x="637309" y="484909"/>
            <a:ext cx="10861964" cy="1938992"/>
          </a:xfrm>
          <a:prstGeom prst="rect">
            <a:avLst/>
          </a:prstGeom>
          <a:noFill/>
        </p:spPr>
        <p:txBody>
          <a:bodyPr wrap="square" rtlCol="0">
            <a:spAutoFit/>
          </a:bodyPr>
          <a:lstStyle/>
          <a:p>
            <a:pPr algn="just"/>
            <a:r>
              <a:rPr lang="en-US" sz="2400" b="1" dirty="0">
                <a:latin typeface="Cambria" panose="02040503050406030204" pitchFamily="18" charset="0"/>
                <a:ea typeface="Cambria" panose="02040503050406030204" pitchFamily="18" charset="0"/>
              </a:rPr>
              <a:t>Step-1:</a:t>
            </a:r>
            <a:r>
              <a:rPr lang="en-US" sz="2400" dirty="0">
                <a:latin typeface="Cambria" panose="02040503050406030204" pitchFamily="18" charset="0"/>
                <a:ea typeface="Cambria" panose="02040503050406030204" pitchFamily="18" charset="0"/>
              </a:rPr>
              <a:t> In the first step, the algorithm generates the entire game-tree and apply the utility function to get the utility values for the terminal states. In the below tree diagram, let's take A is the initial state of the tree. Suppose maximizer takes first turn which has worst-case initial value =- infinity, and minimizer will take next turn which has worst-case initial value = +infinity.</a:t>
            </a:r>
          </a:p>
        </p:txBody>
      </p:sp>
    </p:spTree>
    <p:extLst>
      <p:ext uri="{BB962C8B-B14F-4D97-AF65-F5344CB8AC3E}">
        <p14:creationId xmlns:p14="http://schemas.microsoft.com/office/powerpoint/2010/main" val="41786371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6527" y="454025"/>
            <a:ext cx="11132128" cy="1665720"/>
          </a:xfrm>
        </p:spPr>
        <p:txBody>
          <a:bodyPr>
            <a:normAutofit/>
          </a:bodyPr>
          <a:lstStyle/>
          <a:p>
            <a:pPr marL="0" indent="0">
              <a:buNone/>
            </a:pPr>
            <a:r>
              <a:rPr lang="en-US" sz="2400" b="1" dirty="0">
                <a:latin typeface="Cambria" panose="02040503050406030204" pitchFamily="18" charset="0"/>
                <a:ea typeface="Cambria" panose="02040503050406030204" pitchFamily="18" charset="0"/>
              </a:rPr>
              <a:t>Step 2:</a:t>
            </a:r>
            <a:r>
              <a:rPr lang="en-US" sz="2400" dirty="0">
                <a:latin typeface="Cambria" panose="02040503050406030204" pitchFamily="18" charset="0"/>
                <a:ea typeface="Cambria" panose="02040503050406030204" pitchFamily="18" charset="0"/>
              </a:rPr>
              <a:t> Now, first we find the utilities value for the Maximizer, its initial value is -∞, so we will compare each value in terminal state with initial value of Maximizer and determines the higher nodes values. It will find the maximum among the all.</a:t>
            </a:r>
          </a:p>
        </p:txBody>
      </p:sp>
      <p:pic>
        <p:nvPicPr>
          <p:cNvPr id="4" name="Picture 3"/>
          <p:cNvPicPr>
            <a:picLocks noChangeAspect="1"/>
          </p:cNvPicPr>
          <p:nvPr/>
        </p:nvPicPr>
        <p:blipFill>
          <a:blip r:embed="rId2"/>
          <a:stretch>
            <a:fillRect/>
          </a:stretch>
        </p:blipFill>
        <p:spPr>
          <a:xfrm>
            <a:off x="1421479" y="1814945"/>
            <a:ext cx="4915586" cy="3886742"/>
          </a:xfrm>
          <a:prstGeom prst="rect">
            <a:avLst/>
          </a:prstGeom>
        </p:spPr>
      </p:pic>
      <p:sp>
        <p:nvSpPr>
          <p:cNvPr id="5" name="TextBox 4"/>
          <p:cNvSpPr txBox="1"/>
          <p:nvPr/>
        </p:nvSpPr>
        <p:spPr>
          <a:xfrm>
            <a:off x="6747164" y="2452254"/>
            <a:ext cx="5001491" cy="171136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For node D         max(-1,- -∞) =&gt; max(-1,4)= 4</a:t>
            </a:r>
          </a:p>
          <a:p>
            <a:pPr marL="285750" indent="-285750">
              <a:lnSpc>
                <a:spcPct val="150000"/>
              </a:lnSpc>
              <a:buFont typeface="Arial" panose="020B0604020202020204" pitchFamily="34" charset="0"/>
              <a:buChar char="•"/>
            </a:pPr>
            <a:r>
              <a:rPr lang="en-US" dirty="0"/>
              <a:t>For Node E         max(2, -∞) =&gt; max(2, 6)= 6</a:t>
            </a:r>
          </a:p>
          <a:p>
            <a:pPr marL="285750" indent="-285750">
              <a:lnSpc>
                <a:spcPct val="150000"/>
              </a:lnSpc>
              <a:buFont typeface="Arial" panose="020B0604020202020204" pitchFamily="34" charset="0"/>
              <a:buChar char="•"/>
            </a:pPr>
            <a:r>
              <a:rPr lang="en-US" dirty="0"/>
              <a:t>For Node F         max(-3, -∞) =&gt; max(-3,-5) = -3</a:t>
            </a:r>
          </a:p>
          <a:p>
            <a:pPr marL="285750" indent="-285750">
              <a:lnSpc>
                <a:spcPct val="150000"/>
              </a:lnSpc>
              <a:buFont typeface="Arial" panose="020B0604020202020204" pitchFamily="34" charset="0"/>
              <a:buChar char="•"/>
            </a:pPr>
            <a:r>
              <a:rPr lang="en-US" dirty="0"/>
              <a:t>For node G         max(0, -∞) = max(0, 7) = 7</a:t>
            </a:r>
          </a:p>
        </p:txBody>
      </p:sp>
    </p:spTree>
    <p:extLst>
      <p:ext uri="{BB962C8B-B14F-4D97-AF65-F5344CB8AC3E}">
        <p14:creationId xmlns:p14="http://schemas.microsoft.com/office/powerpoint/2010/main" val="318401999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091" y="606425"/>
            <a:ext cx="10515600" cy="4351338"/>
          </a:xfrm>
        </p:spPr>
        <p:txBody>
          <a:bodyPr/>
          <a:lstStyle/>
          <a:p>
            <a:pPr marL="0" indent="0">
              <a:buNone/>
            </a:pPr>
            <a:r>
              <a:rPr lang="en-US" sz="2400" b="1" dirty="0">
                <a:latin typeface="Cambria" panose="02040503050406030204" pitchFamily="18" charset="0"/>
                <a:ea typeface="Cambria" panose="02040503050406030204" pitchFamily="18" charset="0"/>
              </a:rPr>
              <a:t>Step 3:</a:t>
            </a:r>
            <a:r>
              <a:rPr lang="en-US" sz="2400" dirty="0">
                <a:latin typeface="Cambria" panose="02040503050406030204" pitchFamily="18" charset="0"/>
                <a:ea typeface="Cambria" panose="02040503050406030204" pitchFamily="18" charset="0"/>
              </a:rPr>
              <a:t> In the next step, it's a turn for minimizer, so it will compare all nodes value with +∞, and will find the 3</a:t>
            </a:r>
            <a:r>
              <a:rPr lang="en-US" sz="2400" baseline="30000" dirty="0">
                <a:latin typeface="Cambria" panose="02040503050406030204" pitchFamily="18" charset="0"/>
                <a:ea typeface="Cambria" panose="02040503050406030204" pitchFamily="18" charset="0"/>
              </a:rPr>
              <a:t>rd</a:t>
            </a:r>
            <a:r>
              <a:rPr lang="en-US" sz="2400" dirty="0">
                <a:latin typeface="Cambria" panose="02040503050406030204" pitchFamily="18" charset="0"/>
                <a:ea typeface="Cambria" panose="02040503050406030204" pitchFamily="18" charset="0"/>
              </a:rPr>
              <a:t> layer node values</a:t>
            </a:r>
            <a:r>
              <a:rPr lang="en-US" sz="2400" dirty="0" smtClean="0">
                <a:latin typeface="Cambria" panose="02040503050406030204" pitchFamily="18" charset="0"/>
                <a:ea typeface="Cambria" panose="02040503050406030204" pitchFamily="18" charset="0"/>
              </a:rPr>
              <a:t>.</a:t>
            </a:r>
          </a:p>
          <a:p>
            <a:r>
              <a:rPr lang="en-US" sz="2400" dirty="0"/>
              <a:t>For node B= min(4,6) = 4</a:t>
            </a:r>
          </a:p>
          <a:p>
            <a:r>
              <a:rPr lang="en-US" sz="2400" dirty="0"/>
              <a:t>For node C= min (-3, 7) = -3</a:t>
            </a:r>
          </a:p>
          <a:p>
            <a:pPr marL="0" indent="0">
              <a:buNone/>
            </a:pPr>
            <a:endParaRPr lang="en-US" dirty="0"/>
          </a:p>
        </p:txBody>
      </p:sp>
      <p:pic>
        <p:nvPicPr>
          <p:cNvPr id="4" name="Picture 3"/>
          <p:cNvPicPr>
            <a:picLocks noChangeAspect="1"/>
          </p:cNvPicPr>
          <p:nvPr/>
        </p:nvPicPr>
        <p:blipFill>
          <a:blip r:embed="rId2"/>
          <a:stretch>
            <a:fillRect/>
          </a:stretch>
        </p:blipFill>
        <p:spPr>
          <a:xfrm>
            <a:off x="3015187" y="2272145"/>
            <a:ext cx="5537763" cy="4339533"/>
          </a:xfrm>
          <a:prstGeom prst="rect">
            <a:avLst/>
          </a:prstGeom>
        </p:spPr>
      </p:pic>
    </p:spTree>
    <p:extLst>
      <p:ext uri="{BB962C8B-B14F-4D97-AF65-F5344CB8AC3E}">
        <p14:creationId xmlns:p14="http://schemas.microsoft.com/office/powerpoint/2010/main" val="15288425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0382" y="329334"/>
            <a:ext cx="10515600" cy="4351338"/>
          </a:xfrm>
        </p:spPr>
        <p:txBody>
          <a:bodyPr>
            <a:normAutofit/>
          </a:bodyPr>
          <a:lstStyle/>
          <a:p>
            <a:pPr marL="0" indent="0" algn="just">
              <a:buNone/>
            </a:pPr>
            <a:r>
              <a:rPr lang="en-US" sz="2400" b="1" dirty="0">
                <a:latin typeface="Cambria" panose="02040503050406030204" pitchFamily="18" charset="0"/>
                <a:ea typeface="Cambria" panose="02040503050406030204" pitchFamily="18" charset="0"/>
              </a:rPr>
              <a:t>Step 4:</a:t>
            </a:r>
            <a:r>
              <a:rPr lang="en-US" sz="2400" dirty="0">
                <a:latin typeface="Cambria" panose="02040503050406030204" pitchFamily="18" charset="0"/>
                <a:ea typeface="Cambria" panose="02040503050406030204" pitchFamily="18" charset="0"/>
              </a:rPr>
              <a:t> Now it's a turn for Maximizer, and it will again choose the maximum of all nodes value and find the maximum value for the root node. In this game tree, there are only 4 layers, hence we reach immediately to the root node, but in real games, </a:t>
            </a:r>
            <a:r>
              <a:rPr lang="en-US" sz="2400" dirty="0" smtClean="0">
                <a:latin typeface="Cambria" panose="02040503050406030204" pitchFamily="18" charset="0"/>
                <a:ea typeface="Cambria" panose="02040503050406030204" pitchFamily="18" charset="0"/>
              </a:rPr>
              <a:t>there </a:t>
            </a:r>
            <a:r>
              <a:rPr lang="en-US" sz="2400" dirty="0">
                <a:latin typeface="Cambria" panose="02040503050406030204" pitchFamily="18" charset="0"/>
                <a:ea typeface="Cambria" panose="02040503050406030204" pitchFamily="18" charset="0"/>
              </a:rPr>
              <a:t>will be more than 4 layers</a:t>
            </a:r>
            <a:r>
              <a:rPr lang="en-US" sz="2400" dirty="0" smtClean="0">
                <a:latin typeface="Cambria" panose="02040503050406030204" pitchFamily="18" charset="0"/>
                <a:ea typeface="Cambria" panose="02040503050406030204" pitchFamily="18" charset="0"/>
              </a:rPr>
              <a:t>.</a:t>
            </a:r>
          </a:p>
          <a:p>
            <a:pPr algn="just"/>
            <a:r>
              <a:rPr lang="en-US" sz="2400" dirty="0">
                <a:latin typeface="Cambria" panose="02040503050406030204" pitchFamily="18" charset="0"/>
                <a:ea typeface="Cambria" panose="02040503050406030204" pitchFamily="18" charset="0"/>
              </a:rPr>
              <a:t>For node A max(4, -3)= 4</a:t>
            </a:r>
          </a:p>
          <a:p>
            <a:pPr marL="0" indent="0" algn="just">
              <a:buNone/>
            </a:pPr>
            <a:endParaRPr lang="en-US" sz="24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1313666" y="2290719"/>
            <a:ext cx="6153933" cy="4192147"/>
          </a:xfrm>
          <a:prstGeom prst="rect">
            <a:avLst/>
          </a:prstGeom>
        </p:spPr>
      </p:pic>
      <p:sp>
        <p:nvSpPr>
          <p:cNvPr id="5" name="TextBox 4"/>
          <p:cNvSpPr txBox="1"/>
          <p:nvPr/>
        </p:nvSpPr>
        <p:spPr>
          <a:xfrm>
            <a:off x="7467599" y="5846618"/>
            <a:ext cx="3879274" cy="646331"/>
          </a:xfrm>
          <a:prstGeom prst="rect">
            <a:avLst/>
          </a:prstGeom>
          <a:noFill/>
        </p:spPr>
        <p:txBody>
          <a:bodyPr wrap="square" rtlCol="0">
            <a:spAutoFit/>
          </a:bodyPr>
          <a:lstStyle/>
          <a:p>
            <a:r>
              <a:rPr lang="en-US" dirty="0"/>
              <a:t>That was the complete workflow of the </a:t>
            </a:r>
            <a:r>
              <a:rPr lang="en-US" dirty="0" err="1"/>
              <a:t>minimax</a:t>
            </a:r>
            <a:r>
              <a:rPr lang="en-US" dirty="0"/>
              <a:t> two player game.</a:t>
            </a:r>
          </a:p>
        </p:txBody>
      </p:sp>
    </p:spTree>
    <p:extLst>
      <p:ext uri="{BB962C8B-B14F-4D97-AF65-F5344CB8AC3E}">
        <p14:creationId xmlns:p14="http://schemas.microsoft.com/office/powerpoint/2010/main" val="37392792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Advantages </a:t>
            </a:r>
            <a:r>
              <a:rPr lang="en-US" dirty="0"/>
              <a:t>of Mini-Max algorithm</a:t>
            </a:r>
            <a:br>
              <a:rPr lang="en-US" dirty="0"/>
            </a:br>
            <a:endParaRPr lang="en-US" dirty="0"/>
          </a:p>
        </p:txBody>
      </p:sp>
      <p:sp>
        <p:nvSpPr>
          <p:cNvPr id="3" name="Content Placeholder 2"/>
          <p:cNvSpPr>
            <a:spLocks noGrp="1"/>
          </p:cNvSpPr>
          <p:nvPr>
            <p:ph idx="1"/>
          </p:nvPr>
        </p:nvSpPr>
        <p:spPr/>
        <p:txBody>
          <a:bodyPr/>
          <a:lstStyle/>
          <a:p>
            <a:pPr algn="just"/>
            <a:r>
              <a:rPr lang="en-US" sz="2400" b="1" dirty="0">
                <a:latin typeface="Cambria" panose="02040503050406030204" pitchFamily="18" charset="0"/>
                <a:ea typeface="Cambria" panose="02040503050406030204" pitchFamily="18" charset="0"/>
              </a:rPr>
              <a:t>Complete-</a:t>
            </a:r>
            <a:r>
              <a:rPr lang="en-US" sz="2400" dirty="0">
                <a:latin typeface="Cambria" panose="02040503050406030204" pitchFamily="18" charset="0"/>
                <a:ea typeface="Cambria" panose="02040503050406030204" pitchFamily="18" charset="0"/>
              </a:rPr>
              <a:t> Min-Max algorithm is Complete. It will definitely find a solution (if exist), in the finite search tree.</a:t>
            </a:r>
          </a:p>
          <a:p>
            <a:pPr algn="just"/>
            <a:r>
              <a:rPr lang="en-US" sz="2400" b="1" dirty="0">
                <a:latin typeface="Cambria" panose="02040503050406030204" pitchFamily="18" charset="0"/>
                <a:ea typeface="Cambria" panose="02040503050406030204" pitchFamily="18" charset="0"/>
              </a:rPr>
              <a:t>Optimal-</a:t>
            </a:r>
            <a:r>
              <a:rPr lang="en-US" sz="2400" dirty="0">
                <a:latin typeface="Cambria" panose="02040503050406030204" pitchFamily="18" charset="0"/>
                <a:ea typeface="Cambria" panose="02040503050406030204" pitchFamily="18" charset="0"/>
              </a:rPr>
              <a:t> Min-Max algorithm is optimal if both opponents are playing optimally.</a:t>
            </a:r>
          </a:p>
          <a:p>
            <a:pPr algn="just"/>
            <a:r>
              <a:rPr lang="en-US" sz="2400" b="1" dirty="0">
                <a:latin typeface="Cambria" panose="02040503050406030204" pitchFamily="18" charset="0"/>
                <a:ea typeface="Cambria" panose="02040503050406030204" pitchFamily="18" charset="0"/>
              </a:rPr>
              <a:t>Time complexity-</a:t>
            </a:r>
            <a:r>
              <a:rPr lang="en-US" sz="2400" dirty="0">
                <a:latin typeface="Cambria" panose="02040503050406030204" pitchFamily="18" charset="0"/>
                <a:ea typeface="Cambria" panose="02040503050406030204" pitchFamily="18" charset="0"/>
              </a:rPr>
              <a:t> As it performs DFS for the game-tree, so the time complexity of Min-Max algorithm is </a:t>
            </a:r>
            <a:r>
              <a:rPr lang="en-US" sz="2400" b="1" dirty="0">
                <a:latin typeface="Cambria" panose="02040503050406030204" pitchFamily="18" charset="0"/>
                <a:ea typeface="Cambria" panose="02040503050406030204" pitchFamily="18" charset="0"/>
              </a:rPr>
              <a:t>O(</a:t>
            </a:r>
            <a:r>
              <a:rPr lang="en-US" sz="2400" b="1" dirty="0" err="1">
                <a:latin typeface="Cambria" panose="02040503050406030204" pitchFamily="18" charset="0"/>
                <a:ea typeface="Cambria" panose="02040503050406030204" pitchFamily="18" charset="0"/>
              </a:rPr>
              <a:t>b</a:t>
            </a:r>
            <a:r>
              <a:rPr lang="en-US" sz="2400" b="1" baseline="30000" dirty="0" err="1">
                <a:latin typeface="Cambria" panose="02040503050406030204" pitchFamily="18" charset="0"/>
                <a:ea typeface="Cambria" panose="02040503050406030204" pitchFamily="18" charset="0"/>
              </a:rPr>
              <a:t>m</a:t>
            </a:r>
            <a:r>
              <a:rPr lang="en-US" sz="2400" b="1" dirty="0">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where b is branching factor of the game-tree, and m is the maximum depth of the tree.</a:t>
            </a:r>
          </a:p>
          <a:p>
            <a:pPr algn="just"/>
            <a:r>
              <a:rPr lang="en-US" sz="2400" b="1" dirty="0">
                <a:latin typeface="Cambria" panose="02040503050406030204" pitchFamily="18" charset="0"/>
                <a:ea typeface="Cambria" panose="02040503050406030204" pitchFamily="18" charset="0"/>
              </a:rPr>
              <a:t>Space Complexity-</a:t>
            </a:r>
            <a:r>
              <a:rPr lang="en-US" sz="2400" dirty="0">
                <a:latin typeface="Cambria" panose="02040503050406030204" pitchFamily="18" charset="0"/>
                <a:ea typeface="Cambria" panose="02040503050406030204" pitchFamily="18" charset="0"/>
              </a:rPr>
              <a:t> Space complexity of Mini-max algorithm is also similar to DFS which is </a:t>
            </a:r>
            <a:r>
              <a:rPr lang="en-US" sz="2400" b="1" dirty="0">
                <a:latin typeface="Cambria" panose="02040503050406030204" pitchFamily="18" charset="0"/>
                <a:ea typeface="Cambria" panose="02040503050406030204" pitchFamily="18" charset="0"/>
              </a:rPr>
              <a:t>O(</a:t>
            </a:r>
            <a:r>
              <a:rPr lang="en-US" sz="2400" b="1" dirty="0" err="1">
                <a:latin typeface="Cambria" panose="02040503050406030204" pitchFamily="18" charset="0"/>
                <a:ea typeface="Cambria" panose="02040503050406030204" pitchFamily="18" charset="0"/>
              </a:rPr>
              <a:t>bm</a:t>
            </a:r>
            <a:r>
              <a:rPr lang="en-US" sz="2400" b="1" dirty="0">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a:t>
            </a:r>
          </a:p>
          <a:p>
            <a:endParaRPr lang="en-US" dirty="0"/>
          </a:p>
        </p:txBody>
      </p:sp>
    </p:spTree>
    <p:extLst>
      <p:ext uri="{BB962C8B-B14F-4D97-AF65-F5344CB8AC3E}">
        <p14:creationId xmlns:p14="http://schemas.microsoft.com/office/powerpoint/2010/main" val="30212472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smtClean="0"/>
              <a:t>Disadvantages </a:t>
            </a:r>
            <a:r>
              <a:rPr lang="en-US" dirty="0"/>
              <a:t>of Mini-Max algorithm</a:t>
            </a:r>
          </a:p>
        </p:txBody>
      </p:sp>
      <p:sp>
        <p:nvSpPr>
          <p:cNvPr id="3" name="Content Placeholder 2"/>
          <p:cNvSpPr>
            <a:spLocks noGrp="1"/>
          </p:cNvSpPr>
          <p:nvPr>
            <p:ph idx="1"/>
          </p:nvPr>
        </p:nvSpPr>
        <p:spPr>
          <a:xfrm>
            <a:off x="471055" y="1122652"/>
            <a:ext cx="11097490" cy="5375130"/>
          </a:xfrm>
        </p:spPr>
        <p:txBody>
          <a:bodyPr>
            <a:normAutofit fontScale="70000" lnSpcReduction="20000"/>
          </a:bodyPr>
          <a:lstStyle/>
          <a:p>
            <a:pPr algn="just">
              <a:lnSpc>
                <a:spcPct val="110000"/>
              </a:lnSpc>
            </a:pPr>
            <a:r>
              <a:rPr lang="en-US" sz="3400" b="1" dirty="0">
                <a:latin typeface="Cambria" panose="02040503050406030204" pitchFamily="18" charset="0"/>
                <a:ea typeface="Cambria" panose="02040503050406030204" pitchFamily="18" charset="0"/>
              </a:rPr>
              <a:t>Computational Cost:</a:t>
            </a:r>
          </a:p>
          <a:p>
            <a:pPr marL="0" indent="0" algn="just" fontAlgn="ctr">
              <a:lnSpc>
                <a:spcPct val="110000"/>
              </a:lnSpc>
              <a:buNone/>
            </a:pPr>
            <a:r>
              <a:rPr lang="en-US" sz="3400" dirty="0">
                <a:latin typeface="Cambria" panose="02040503050406030204" pitchFamily="18" charset="0"/>
                <a:ea typeface="Cambria" panose="02040503050406030204" pitchFamily="18" charset="0"/>
              </a:rPr>
              <a:t>The algorithm's time complexity grows exponentially with the game tree's depth and branching factor, making it impractical for complex games like Chess or Go. </a:t>
            </a:r>
          </a:p>
          <a:p>
            <a:pPr algn="just">
              <a:lnSpc>
                <a:spcPct val="110000"/>
              </a:lnSpc>
            </a:pPr>
            <a:r>
              <a:rPr lang="en-US" sz="3400" b="1" dirty="0">
                <a:latin typeface="Cambria" panose="02040503050406030204" pitchFamily="18" charset="0"/>
                <a:ea typeface="Cambria" panose="02040503050406030204" pitchFamily="18" charset="0"/>
              </a:rPr>
              <a:t>Memory Requirement:</a:t>
            </a:r>
          </a:p>
          <a:p>
            <a:pPr marL="0" indent="0" algn="just" fontAlgn="ctr">
              <a:lnSpc>
                <a:spcPct val="110000"/>
              </a:lnSpc>
              <a:buNone/>
            </a:pPr>
            <a:r>
              <a:rPr lang="en-US" sz="3400" dirty="0">
                <a:latin typeface="Cambria" panose="02040503050406030204" pitchFamily="18" charset="0"/>
                <a:ea typeface="Cambria" panose="02040503050406030204" pitchFamily="18" charset="0"/>
              </a:rPr>
              <a:t>Exploring the entire game tree can require significant memory, especially for games with a large number of possible moves. </a:t>
            </a:r>
          </a:p>
          <a:p>
            <a:pPr algn="just">
              <a:lnSpc>
                <a:spcPct val="110000"/>
              </a:lnSpc>
            </a:pPr>
            <a:r>
              <a:rPr lang="en-US" sz="3400" b="1" dirty="0">
                <a:latin typeface="Cambria" panose="02040503050406030204" pitchFamily="18" charset="0"/>
                <a:ea typeface="Cambria" panose="02040503050406030204" pitchFamily="18" charset="0"/>
              </a:rPr>
              <a:t>Need for Heuristic Evaluation:</a:t>
            </a:r>
          </a:p>
          <a:p>
            <a:pPr marL="0" indent="0" algn="just" fontAlgn="ctr">
              <a:lnSpc>
                <a:spcPct val="110000"/>
              </a:lnSpc>
              <a:buNone/>
            </a:pPr>
            <a:r>
              <a:rPr lang="en-US" sz="3400" dirty="0">
                <a:latin typeface="Cambria" panose="02040503050406030204" pitchFamily="18" charset="0"/>
                <a:ea typeface="Cambria" panose="02040503050406030204" pitchFamily="18" charset="0"/>
              </a:rPr>
              <a:t>For complex games, it's often necessary to use a heuristic evaluation function to estimate the value of different game states, which can introduce inaccuracies. </a:t>
            </a:r>
          </a:p>
          <a:p>
            <a:pPr algn="just">
              <a:lnSpc>
                <a:spcPct val="110000"/>
              </a:lnSpc>
            </a:pPr>
            <a:r>
              <a:rPr lang="en-US" sz="3400" b="1" dirty="0">
                <a:latin typeface="Cambria" panose="02040503050406030204" pitchFamily="18" charset="0"/>
                <a:ea typeface="Cambria" panose="02040503050406030204" pitchFamily="18" charset="0"/>
              </a:rPr>
              <a:t>Alpha-Beta Pruning:</a:t>
            </a:r>
          </a:p>
          <a:p>
            <a:pPr marL="0" indent="0" algn="just">
              <a:lnSpc>
                <a:spcPct val="110000"/>
              </a:lnSpc>
              <a:buNone/>
            </a:pPr>
            <a:r>
              <a:rPr lang="en-US" sz="3400" dirty="0">
                <a:latin typeface="Cambria" panose="02040503050406030204" pitchFamily="18" charset="0"/>
                <a:ea typeface="Cambria" panose="02040503050406030204" pitchFamily="18" charset="0"/>
              </a:rPr>
              <a:t>To overcome the computational limitations, Alpha-Beta Pruning is often used, which reduces the search space by eliminating branches that cannot lead to a better move. </a:t>
            </a:r>
          </a:p>
          <a:p>
            <a:endParaRPr lang="en-US" dirty="0"/>
          </a:p>
        </p:txBody>
      </p:sp>
    </p:spTree>
    <p:extLst>
      <p:ext uri="{BB962C8B-B14F-4D97-AF65-F5344CB8AC3E}">
        <p14:creationId xmlns:p14="http://schemas.microsoft.com/office/powerpoint/2010/main" val="38481532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dirty="0" err="1" smtClean="0"/>
              <a:t>AlphaBeta</a:t>
            </a:r>
            <a:r>
              <a:rPr lang="en-US" dirty="0" smtClean="0"/>
              <a:t> Algorithm</a:t>
            </a:r>
            <a:endParaRPr lang="en-US" dirty="0"/>
          </a:p>
        </p:txBody>
      </p:sp>
      <p:sp>
        <p:nvSpPr>
          <p:cNvPr id="3" name="Content Placeholder 2"/>
          <p:cNvSpPr>
            <a:spLocks noGrp="1"/>
          </p:cNvSpPr>
          <p:nvPr>
            <p:ph idx="1"/>
          </p:nvPr>
        </p:nvSpPr>
        <p:spPr>
          <a:xfrm>
            <a:off x="595745" y="1325563"/>
            <a:ext cx="10758055" cy="5186073"/>
          </a:xfrm>
        </p:spPr>
        <p:txBody>
          <a:bodyPr>
            <a:normAutofit fontScale="92500" lnSpcReduction="20000"/>
          </a:bodyPr>
          <a:lstStyle/>
          <a:p>
            <a:pPr algn="just">
              <a:lnSpc>
                <a:spcPct val="110000"/>
              </a:lnSpc>
            </a:pPr>
            <a:r>
              <a:rPr lang="en-US" dirty="0">
                <a:latin typeface="Cambria" panose="02040503050406030204" pitchFamily="18" charset="0"/>
                <a:ea typeface="Cambria" panose="02040503050406030204" pitchFamily="18" charset="0"/>
              </a:rPr>
              <a:t>Alpha-beta pruning is a modified version of the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algorithm. It is an optimization technique for the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algorithm.</a:t>
            </a:r>
          </a:p>
          <a:p>
            <a:pPr algn="just">
              <a:lnSpc>
                <a:spcPct val="110000"/>
              </a:lnSpc>
            </a:pPr>
            <a:r>
              <a:rPr lang="en-US" dirty="0">
                <a:latin typeface="Cambria" panose="02040503050406030204" pitchFamily="18" charset="0"/>
                <a:ea typeface="Cambria" panose="02040503050406030204" pitchFamily="18" charset="0"/>
              </a:rPr>
              <a:t>As we have seen in the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search algorithm that the number of game states it has to examine are exponential in depth of the tree. Since we cannot eliminate the exponent, but we can cut it to half. </a:t>
            </a:r>
            <a:endParaRPr lang="en-US" dirty="0" smtClean="0">
              <a:latin typeface="Cambria" panose="02040503050406030204" pitchFamily="18" charset="0"/>
              <a:ea typeface="Cambria" panose="02040503050406030204" pitchFamily="18" charset="0"/>
            </a:endParaRPr>
          </a:p>
          <a:p>
            <a:pPr algn="just">
              <a:lnSpc>
                <a:spcPct val="110000"/>
              </a:lnSpc>
            </a:pPr>
            <a:r>
              <a:rPr lang="en-US" dirty="0" smtClean="0">
                <a:latin typeface="Cambria" panose="02040503050406030204" pitchFamily="18" charset="0"/>
                <a:ea typeface="Cambria" panose="02040503050406030204" pitchFamily="18" charset="0"/>
              </a:rPr>
              <a:t>Hence </a:t>
            </a:r>
            <a:r>
              <a:rPr lang="en-US" dirty="0">
                <a:latin typeface="Cambria" panose="02040503050406030204" pitchFamily="18" charset="0"/>
                <a:ea typeface="Cambria" panose="02040503050406030204" pitchFamily="18" charset="0"/>
              </a:rPr>
              <a:t>there is a technique by which without checking each node of the game tree we can compute the correct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decision, and this technique is called </a:t>
            </a:r>
            <a:r>
              <a:rPr lang="en-US" b="1" dirty="0">
                <a:latin typeface="Cambria" panose="02040503050406030204" pitchFamily="18" charset="0"/>
                <a:ea typeface="Cambria" panose="02040503050406030204" pitchFamily="18" charset="0"/>
              </a:rPr>
              <a:t>pruning</a:t>
            </a:r>
            <a:r>
              <a:rPr lang="en-US" dirty="0">
                <a:latin typeface="Cambria" panose="02040503050406030204" pitchFamily="18" charset="0"/>
                <a:ea typeface="Cambria" panose="02040503050406030204" pitchFamily="18" charset="0"/>
              </a:rPr>
              <a:t>. This involves two threshold parameter Alpha and beta for future expansion, so it is called </a:t>
            </a:r>
            <a:r>
              <a:rPr lang="en-US" b="1" dirty="0">
                <a:latin typeface="Cambria" panose="02040503050406030204" pitchFamily="18" charset="0"/>
                <a:ea typeface="Cambria" panose="02040503050406030204" pitchFamily="18" charset="0"/>
              </a:rPr>
              <a:t>alpha-beta pruning</a:t>
            </a:r>
            <a:r>
              <a:rPr lang="en-US" dirty="0">
                <a:latin typeface="Cambria" panose="02040503050406030204" pitchFamily="18" charset="0"/>
                <a:ea typeface="Cambria" panose="02040503050406030204" pitchFamily="18" charset="0"/>
              </a:rPr>
              <a:t>. It is also called as </a:t>
            </a:r>
            <a:r>
              <a:rPr lang="en-US" b="1" dirty="0">
                <a:latin typeface="Cambria" panose="02040503050406030204" pitchFamily="18" charset="0"/>
                <a:ea typeface="Cambria" panose="02040503050406030204" pitchFamily="18" charset="0"/>
              </a:rPr>
              <a:t>Alpha-Beta Algorithm</a:t>
            </a:r>
            <a:r>
              <a:rPr lang="en-US" dirty="0">
                <a:latin typeface="Cambria" panose="02040503050406030204" pitchFamily="18" charset="0"/>
                <a:ea typeface="Cambria" panose="02040503050406030204" pitchFamily="18" charset="0"/>
              </a:rPr>
              <a:t>.</a:t>
            </a:r>
          </a:p>
          <a:p>
            <a:pPr algn="just">
              <a:lnSpc>
                <a:spcPct val="110000"/>
              </a:lnSpc>
            </a:pPr>
            <a:r>
              <a:rPr lang="en-US" dirty="0">
                <a:latin typeface="Cambria" panose="02040503050406030204" pitchFamily="18" charset="0"/>
                <a:ea typeface="Cambria" panose="02040503050406030204" pitchFamily="18" charset="0"/>
              </a:rPr>
              <a:t>Alpha-beta pruning can be applied at any depth of a tree, and sometimes it not only prune the tree leaves but also entire sub-tree.</a:t>
            </a:r>
          </a:p>
          <a:p>
            <a:endParaRPr lang="en-US" dirty="0"/>
          </a:p>
        </p:txBody>
      </p:sp>
    </p:spTree>
    <p:extLst>
      <p:ext uri="{BB962C8B-B14F-4D97-AF65-F5344CB8AC3E}">
        <p14:creationId xmlns:p14="http://schemas.microsoft.com/office/powerpoint/2010/main" val="35651048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1218" y="1022062"/>
            <a:ext cx="10515600" cy="4351338"/>
          </a:xfrm>
        </p:spPr>
        <p:txBody>
          <a:bodyPr/>
          <a:lstStyle/>
          <a:p>
            <a:pPr algn="just"/>
            <a:r>
              <a:rPr lang="en-US" dirty="0">
                <a:latin typeface="Cambria" panose="02040503050406030204" pitchFamily="18" charset="0"/>
                <a:ea typeface="Cambria" panose="02040503050406030204" pitchFamily="18" charset="0"/>
              </a:rPr>
              <a:t>The two-parameter can be defined as:</a:t>
            </a:r>
          </a:p>
          <a:p>
            <a:pPr lvl="1" algn="just"/>
            <a:r>
              <a:rPr lang="en-US" b="1" dirty="0">
                <a:latin typeface="Cambria" panose="02040503050406030204" pitchFamily="18" charset="0"/>
                <a:ea typeface="Cambria" panose="02040503050406030204" pitchFamily="18" charset="0"/>
              </a:rPr>
              <a:t>Alpha:</a:t>
            </a:r>
            <a:r>
              <a:rPr lang="en-US" dirty="0">
                <a:latin typeface="Cambria" panose="02040503050406030204" pitchFamily="18" charset="0"/>
                <a:ea typeface="Cambria" panose="02040503050406030204" pitchFamily="18" charset="0"/>
              </a:rPr>
              <a:t> The best (highest-value) choice we have found so far at any point along the path of Maximizer. The initial value of alpha is </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a:t>
            </a:r>
          </a:p>
          <a:p>
            <a:pPr lvl="1" algn="just"/>
            <a:r>
              <a:rPr lang="en-US" b="1" dirty="0">
                <a:latin typeface="Cambria" panose="02040503050406030204" pitchFamily="18" charset="0"/>
                <a:ea typeface="Cambria" panose="02040503050406030204" pitchFamily="18" charset="0"/>
              </a:rPr>
              <a:t>Beta:</a:t>
            </a:r>
            <a:r>
              <a:rPr lang="en-US" dirty="0">
                <a:latin typeface="Cambria" panose="02040503050406030204" pitchFamily="18" charset="0"/>
                <a:ea typeface="Cambria" panose="02040503050406030204" pitchFamily="18" charset="0"/>
              </a:rPr>
              <a:t> The best (lowest-value) choice we have found so far at any point along the path of Minimizer. The initial value of beta is </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a:t>
            </a:r>
          </a:p>
          <a:p>
            <a:pPr algn="just"/>
            <a:r>
              <a:rPr lang="en-US" dirty="0">
                <a:latin typeface="Cambria" panose="02040503050406030204" pitchFamily="18" charset="0"/>
                <a:ea typeface="Cambria" panose="02040503050406030204" pitchFamily="18" charset="0"/>
              </a:rPr>
              <a:t>The Alpha-beta pruning to a standard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algorithm returns the same move as the standard algorithm does, but it removes all the nodes which are not really affecting the final decision but making algorithm slow. Hence by pruning these nodes, it makes the algorithm fast.</a:t>
            </a:r>
          </a:p>
          <a:p>
            <a:endParaRPr lang="en-US" dirty="0"/>
          </a:p>
        </p:txBody>
      </p:sp>
    </p:spTree>
    <p:extLst>
      <p:ext uri="{BB962C8B-B14F-4D97-AF65-F5344CB8AC3E}">
        <p14:creationId xmlns:p14="http://schemas.microsoft.com/office/powerpoint/2010/main" val="3526294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mbria" panose="02040503050406030204" pitchFamily="18" charset="0"/>
                <a:ea typeface="Cambria" panose="02040503050406030204" pitchFamily="18" charset="0"/>
              </a:rPr>
              <a:t>Key points about alpha-beta pruning</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pPr algn="just"/>
            <a:r>
              <a:rPr lang="en-US" dirty="0">
                <a:latin typeface="Cambria" panose="02040503050406030204" pitchFamily="18" charset="0"/>
                <a:ea typeface="Cambria" panose="02040503050406030204" pitchFamily="18" charset="0"/>
              </a:rPr>
              <a:t>The Max player will only update the value of alpha.</a:t>
            </a:r>
          </a:p>
          <a:p>
            <a:pPr algn="just"/>
            <a:r>
              <a:rPr lang="en-US" dirty="0">
                <a:latin typeface="Cambria" panose="02040503050406030204" pitchFamily="18" charset="0"/>
                <a:ea typeface="Cambria" panose="02040503050406030204" pitchFamily="18" charset="0"/>
              </a:rPr>
              <a:t>The Min player will only update the value of beta.</a:t>
            </a:r>
          </a:p>
          <a:p>
            <a:pPr algn="just"/>
            <a:r>
              <a:rPr lang="en-US" dirty="0">
                <a:latin typeface="Cambria" panose="02040503050406030204" pitchFamily="18" charset="0"/>
                <a:ea typeface="Cambria" panose="02040503050406030204" pitchFamily="18" charset="0"/>
              </a:rPr>
              <a:t>While backtracking the tree, the node values will be passed to upper nodes instead of values of alpha and beta.</a:t>
            </a:r>
          </a:p>
          <a:p>
            <a:pPr algn="just"/>
            <a:r>
              <a:rPr lang="en-US" dirty="0">
                <a:latin typeface="Cambria" panose="02040503050406030204" pitchFamily="18" charset="0"/>
                <a:ea typeface="Cambria" panose="02040503050406030204" pitchFamily="18" charset="0"/>
              </a:rPr>
              <a:t>We will only pass the alpha, beta values to the child nodes.</a:t>
            </a:r>
          </a:p>
          <a:p>
            <a:endParaRPr lang="en-US" dirty="0"/>
          </a:p>
        </p:txBody>
      </p:sp>
    </p:spTree>
    <p:extLst>
      <p:ext uri="{BB962C8B-B14F-4D97-AF65-F5344CB8AC3E}">
        <p14:creationId xmlns:p14="http://schemas.microsoft.com/office/powerpoint/2010/main" val="41500242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545" y="467879"/>
            <a:ext cx="11353799" cy="4351338"/>
          </a:xfrm>
        </p:spPr>
        <p:txBody>
          <a:bodyPr>
            <a:normAutofit/>
          </a:bodyPr>
          <a:lstStyle/>
          <a:p>
            <a:r>
              <a:rPr lang="en-US" sz="2400" b="1" dirty="0">
                <a:latin typeface="Cambria" panose="02040503050406030204" pitchFamily="18" charset="0"/>
                <a:ea typeface="Cambria" panose="02040503050406030204" pitchFamily="18" charset="0"/>
              </a:rPr>
              <a:t>Step 1:</a:t>
            </a:r>
            <a:r>
              <a:rPr lang="en-US" sz="2400" dirty="0">
                <a:latin typeface="Cambria" panose="02040503050406030204" pitchFamily="18" charset="0"/>
                <a:ea typeface="Cambria" panose="02040503050406030204" pitchFamily="18" charset="0"/>
              </a:rPr>
              <a:t> At the first step the, Max player will start first move from node A where α= -∞ and β= +∞, these value of alpha and beta passed down to node B where again α= -∞ and β= +∞, and Node B passes the same value to its child D.</a:t>
            </a:r>
          </a:p>
        </p:txBody>
      </p:sp>
      <p:pic>
        <p:nvPicPr>
          <p:cNvPr id="4" name="Picture 3"/>
          <p:cNvPicPr>
            <a:picLocks noChangeAspect="1"/>
          </p:cNvPicPr>
          <p:nvPr/>
        </p:nvPicPr>
        <p:blipFill>
          <a:blip r:embed="rId2"/>
          <a:stretch>
            <a:fillRect/>
          </a:stretch>
        </p:blipFill>
        <p:spPr>
          <a:xfrm>
            <a:off x="2452255" y="1870096"/>
            <a:ext cx="5449504" cy="4274121"/>
          </a:xfrm>
          <a:prstGeom prst="rect">
            <a:avLst/>
          </a:prstGeom>
        </p:spPr>
      </p:pic>
    </p:spTree>
    <p:extLst>
      <p:ext uri="{BB962C8B-B14F-4D97-AF65-F5344CB8AC3E}">
        <p14:creationId xmlns:p14="http://schemas.microsoft.com/office/powerpoint/2010/main" val="20660223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399" y="301626"/>
            <a:ext cx="11436927" cy="4351338"/>
          </a:xfrm>
        </p:spPr>
        <p:txBody>
          <a:bodyPr>
            <a:normAutofit/>
          </a:bodyPr>
          <a:lstStyle/>
          <a:p>
            <a:r>
              <a:rPr lang="en-US" sz="2400" b="1" dirty="0">
                <a:latin typeface="Cambria" panose="02040503050406030204" pitchFamily="18" charset="0"/>
                <a:ea typeface="Cambria" panose="02040503050406030204" pitchFamily="18" charset="0"/>
              </a:rPr>
              <a:t>Step 2:</a:t>
            </a:r>
            <a:r>
              <a:rPr lang="en-US" sz="2400" dirty="0">
                <a:latin typeface="Cambria" panose="02040503050406030204" pitchFamily="18" charset="0"/>
                <a:ea typeface="Cambria" panose="02040503050406030204" pitchFamily="18" charset="0"/>
              </a:rPr>
              <a:t> At Node D, the value of α will be calculated as its turn for Max. The value of α is compared with firstly 2 and then 3, and the max (2, 3) = 3 will be the value of α at node D and node value will also 3.</a:t>
            </a:r>
            <a:br>
              <a:rPr lang="en-US" sz="2400" dirty="0">
                <a:latin typeface="Cambria" panose="02040503050406030204" pitchFamily="18" charset="0"/>
                <a:ea typeface="Cambria" panose="02040503050406030204" pitchFamily="18" charset="0"/>
              </a:rPr>
            </a:br>
            <a:endParaRPr lang="en-US" sz="2400" dirty="0" smtClean="0">
              <a:latin typeface="Cambria" panose="02040503050406030204" pitchFamily="18" charset="0"/>
              <a:ea typeface="Cambria" panose="02040503050406030204" pitchFamily="18" charset="0"/>
            </a:endParaRPr>
          </a:p>
          <a:p>
            <a:r>
              <a:rPr lang="en-US" sz="2400" b="1" dirty="0" smtClean="0">
                <a:latin typeface="Cambria" panose="02040503050406030204" pitchFamily="18" charset="0"/>
                <a:ea typeface="Cambria" panose="02040503050406030204" pitchFamily="18" charset="0"/>
              </a:rPr>
              <a:t>Step </a:t>
            </a:r>
            <a:r>
              <a:rPr lang="en-US" sz="2400" b="1" dirty="0">
                <a:latin typeface="Cambria" panose="02040503050406030204" pitchFamily="18" charset="0"/>
                <a:ea typeface="Cambria" panose="02040503050406030204" pitchFamily="18" charset="0"/>
              </a:rPr>
              <a:t>3:</a:t>
            </a:r>
            <a:r>
              <a:rPr lang="en-US" sz="2400" dirty="0">
                <a:latin typeface="Cambria" panose="02040503050406030204" pitchFamily="18" charset="0"/>
                <a:ea typeface="Cambria" panose="02040503050406030204" pitchFamily="18" charset="0"/>
              </a:rPr>
              <a:t> Now algorithm backtrack to node B, where the value of β will change as this is a turn of Min, Now β= +∞, will compare with the available subsequent nodes value, i.e. min (∞, 3) = 3, hence at node B now α= -∞, and β= 3.</a:t>
            </a:r>
          </a:p>
        </p:txBody>
      </p:sp>
      <p:pic>
        <p:nvPicPr>
          <p:cNvPr id="4" name="Picture 3"/>
          <p:cNvPicPr>
            <a:picLocks noChangeAspect="1"/>
          </p:cNvPicPr>
          <p:nvPr/>
        </p:nvPicPr>
        <p:blipFill>
          <a:blip r:embed="rId2"/>
          <a:stretch>
            <a:fillRect/>
          </a:stretch>
        </p:blipFill>
        <p:spPr>
          <a:xfrm>
            <a:off x="1839641" y="2937164"/>
            <a:ext cx="5963482" cy="3739576"/>
          </a:xfrm>
          <a:prstGeom prst="rect">
            <a:avLst/>
          </a:prstGeom>
        </p:spPr>
      </p:pic>
      <p:sp>
        <p:nvSpPr>
          <p:cNvPr id="5" name="TextBox 4"/>
          <p:cNvSpPr txBox="1"/>
          <p:nvPr/>
        </p:nvSpPr>
        <p:spPr>
          <a:xfrm>
            <a:off x="7988653" y="3452635"/>
            <a:ext cx="3796143" cy="1200329"/>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In the next step, algorithm traverse the next successor of Node B which is node E, and the values of α= -∞, and β= 3 will also be passed.</a:t>
            </a:r>
          </a:p>
        </p:txBody>
      </p:sp>
    </p:spTree>
    <p:extLst>
      <p:ext uri="{BB962C8B-B14F-4D97-AF65-F5344CB8AC3E}">
        <p14:creationId xmlns:p14="http://schemas.microsoft.com/office/powerpoint/2010/main" val="4095517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544" y="523297"/>
            <a:ext cx="11256819" cy="4351338"/>
          </a:xfrm>
        </p:spPr>
        <p:txBody>
          <a:bodyPr>
            <a:normAutofit/>
          </a:bodyPr>
          <a:lstStyle/>
          <a:p>
            <a:pPr algn="just"/>
            <a:r>
              <a:rPr lang="en-US" sz="2400" b="1" dirty="0">
                <a:latin typeface="Cambria" panose="02040503050406030204" pitchFamily="18" charset="0"/>
                <a:ea typeface="Cambria" panose="02040503050406030204" pitchFamily="18" charset="0"/>
              </a:rPr>
              <a:t>Step 4:</a:t>
            </a:r>
            <a:r>
              <a:rPr lang="en-US" sz="2400" dirty="0">
                <a:latin typeface="Cambria" panose="02040503050406030204" pitchFamily="18" charset="0"/>
                <a:ea typeface="Cambria" panose="02040503050406030204" pitchFamily="18" charset="0"/>
              </a:rPr>
              <a:t> At node E, Max will take its turn, and the value of alpha will change. The current value of alpha will be compared with 5, so max (-∞, 5) = 5, hence at node E α= 5 and β= 3, where α&gt;=β, so the right successor of E will be pruned, and algorithm will not traverse it, and the value at node E will be 5.</a:t>
            </a:r>
          </a:p>
        </p:txBody>
      </p:sp>
      <p:pic>
        <p:nvPicPr>
          <p:cNvPr id="4" name="Picture 3"/>
          <p:cNvPicPr>
            <a:picLocks noChangeAspect="1"/>
          </p:cNvPicPr>
          <p:nvPr/>
        </p:nvPicPr>
        <p:blipFill>
          <a:blip r:embed="rId2"/>
          <a:stretch>
            <a:fillRect/>
          </a:stretch>
        </p:blipFill>
        <p:spPr>
          <a:xfrm>
            <a:off x="2213798" y="2092226"/>
            <a:ext cx="5904966" cy="4327937"/>
          </a:xfrm>
          <a:prstGeom prst="rect">
            <a:avLst/>
          </a:prstGeom>
        </p:spPr>
      </p:pic>
    </p:spTree>
    <p:extLst>
      <p:ext uri="{BB962C8B-B14F-4D97-AF65-F5344CB8AC3E}">
        <p14:creationId xmlns:p14="http://schemas.microsoft.com/office/powerpoint/2010/main" val="33792850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436" y="246207"/>
            <a:ext cx="11617036" cy="4351338"/>
          </a:xfrm>
        </p:spPr>
        <p:txBody>
          <a:bodyPr/>
          <a:lstStyle/>
          <a:p>
            <a:r>
              <a:rPr lang="en-US" sz="2400" b="1" dirty="0">
                <a:latin typeface="Cambria" panose="02040503050406030204" pitchFamily="18" charset="0"/>
                <a:ea typeface="Cambria" panose="02040503050406030204" pitchFamily="18" charset="0"/>
              </a:rPr>
              <a:t>Step 5:</a:t>
            </a:r>
            <a:r>
              <a:rPr lang="en-US" sz="2400" dirty="0">
                <a:latin typeface="Cambria" panose="02040503050406030204" pitchFamily="18" charset="0"/>
                <a:ea typeface="Cambria" panose="02040503050406030204" pitchFamily="18" charset="0"/>
              </a:rPr>
              <a:t> At next step, algorithm again backtrack the tree, from node B to node A. At node A, the value of alpha will be changed the maximum available value is 3 as max (-∞, 3)= 3, and β= +∞, these two values now passes to right successor of A which is Node C.</a:t>
            </a:r>
          </a:p>
          <a:p>
            <a:r>
              <a:rPr lang="en-US" sz="2400" dirty="0">
                <a:latin typeface="Cambria" panose="02040503050406030204" pitchFamily="18" charset="0"/>
                <a:ea typeface="Cambria" panose="02040503050406030204" pitchFamily="18" charset="0"/>
              </a:rPr>
              <a:t>At node C, α=3 and β= +∞, and the same values will be passed on to node F.</a:t>
            </a:r>
          </a:p>
          <a:p>
            <a:r>
              <a:rPr lang="en-US" sz="2400" b="1" dirty="0">
                <a:latin typeface="Cambria" panose="02040503050406030204" pitchFamily="18" charset="0"/>
                <a:ea typeface="Cambria" panose="02040503050406030204" pitchFamily="18" charset="0"/>
              </a:rPr>
              <a:t>Step 6:</a:t>
            </a:r>
            <a:r>
              <a:rPr lang="en-US" sz="2400" dirty="0">
                <a:latin typeface="Cambria" panose="02040503050406030204" pitchFamily="18" charset="0"/>
                <a:ea typeface="Cambria" panose="02040503050406030204" pitchFamily="18" charset="0"/>
              </a:rPr>
              <a:t> At node F, again the value of α will be compared with left child which is 0, and max(3,0)= 3, and then compared with right child which is 1, and max(3,1)= 3 still α remains 3, but the node value of F will become 1.</a:t>
            </a:r>
          </a:p>
          <a:p>
            <a:endParaRPr lang="en-US" dirty="0"/>
          </a:p>
        </p:txBody>
      </p:sp>
      <p:pic>
        <p:nvPicPr>
          <p:cNvPr id="4" name="Picture 3"/>
          <p:cNvPicPr>
            <a:picLocks noChangeAspect="1"/>
          </p:cNvPicPr>
          <p:nvPr/>
        </p:nvPicPr>
        <p:blipFill>
          <a:blip r:embed="rId2"/>
          <a:stretch>
            <a:fillRect/>
          </a:stretch>
        </p:blipFill>
        <p:spPr>
          <a:xfrm>
            <a:off x="2376594" y="3248221"/>
            <a:ext cx="4667901" cy="3381847"/>
          </a:xfrm>
          <a:prstGeom prst="rect">
            <a:avLst/>
          </a:prstGeom>
        </p:spPr>
      </p:pic>
    </p:spTree>
    <p:extLst>
      <p:ext uri="{BB962C8B-B14F-4D97-AF65-F5344CB8AC3E}">
        <p14:creationId xmlns:p14="http://schemas.microsoft.com/office/powerpoint/2010/main" val="29156448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3291" y="343188"/>
            <a:ext cx="11658600" cy="4351338"/>
          </a:xfrm>
        </p:spPr>
        <p:txBody>
          <a:bodyPr/>
          <a:lstStyle/>
          <a:p>
            <a:pPr algn="just"/>
            <a:r>
              <a:rPr lang="en-US" sz="2400" b="1" dirty="0">
                <a:latin typeface="Cambria" panose="02040503050406030204" pitchFamily="18" charset="0"/>
                <a:ea typeface="Cambria" panose="02040503050406030204" pitchFamily="18" charset="0"/>
              </a:rPr>
              <a:t>Step 7:</a:t>
            </a:r>
            <a:r>
              <a:rPr lang="en-US" sz="2400" dirty="0">
                <a:latin typeface="Cambria" panose="02040503050406030204" pitchFamily="18" charset="0"/>
                <a:ea typeface="Cambria" panose="02040503050406030204" pitchFamily="18" charset="0"/>
              </a:rPr>
              <a:t> Node F returns the node value 1 to node C, at C α= 3 and β= +∞, here the value of beta will be changed, it will compare with 1 so min (∞, 1) = 1. Now at C, α=3 and β= 1, and again it satisfies the condition α&gt;=β, so the next child of C which is G will be pruned, and the algorithm will not compute the entire sub-tree G.</a:t>
            </a:r>
          </a:p>
          <a:p>
            <a:pPr marL="0" indent="0">
              <a:buNone/>
            </a:pP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1894752" y="2037677"/>
            <a:ext cx="5960775" cy="4331817"/>
          </a:xfrm>
          <a:prstGeom prst="rect">
            <a:avLst/>
          </a:prstGeom>
        </p:spPr>
      </p:pic>
    </p:spTree>
    <p:extLst>
      <p:ext uri="{BB962C8B-B14F-4D97-AF65-F5344CB8AC3E}">
        <p14:creationId xmlns:p14="http://schemas.microsoft.com/office/powerpoint/2010/main" val="29360397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0381" y="398606"/>
            <a:ext cx="11436927" cy="4351338"/>
          </a:xfrm>
        </p:spPr>
        <p:txBody>
          <a:bodyPr>
            <a:normAutofit/>
          </a:bodyPr>
          <a:lstStyle/>
          <a:p>
            <a:pPr algn="just"/>
            <a:r>
              <a:rPr lang="en-US" sz="2400" b="1" dirty="0">
                <a:latin typeface="Cambria" panose="02040503050406030204" pitchFamily="18" charset="0"/>
                <a:ea typeface="Cambria" panose="02040503050406030204" pitchFamily="18" charset="0"/>
              </a:rPr>
              <a:t>Step 8:</a:t>
            </a:r>
            <a:r>
              <a:rPr lang="en-US" sz="2400" dirty="0">
                <a:latin typeface="Cambria" panose="02040503050406030204" pitchFamily="18" charset="0"/>
                <a:ea typeface="Cambria" panose="02040503050406030204" pitchFamily="18" charset="0"/>
              </a:rPr>
              <a:t> C now returns the value of 1 to A here the best value for A is max (3, 1) = 3. Following is the final game tree which is the showing the nodes which are computed and nodes which has never computed. Hence the optimal value for the maximizer is 3 for this example.</a:t>
            </a:r>
          </a:p>
        </p:txBody>
      </p:sp>
      <p:pic>
        <p:nvPicPr>
          <p:cNvPr id="4" name="Picture 3"/>
          <p:cNvPicPr>
            <a:picLocks noChangeAspect="1"/>
          </p:cNvPicPr>
          <p:nvPr/>
        </p:nvPicPr>
        <p:blipFill>
          <a:blip r:embed="rId2"/>
          <a:stretch>
            <a:fillRect/>
          </a:stretch>
        </p:blipFill>
        <p:spPr>
          <a:xfrm>
            <a:off x="2189018" y="2135965"/>
            <a:ext cx="5756023" cy="4111445"/>
          </a:xfrm>
          <a:prstGeom prst="rect">
            <a:avLst/>
          </a:prstGeom>
        </p:spPr>
      </p:pic>
    </p:spTree>
    <p:extLst>
      <p:ext uri="{BB962C8B-B14F-4D97-AF65-F5344CB8AC3E}">
        <p14:creationId xmlns:p14="http://schemas.microsoft.com/office/powerpoint/2010/main" val="28614114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963" y="683780"/>
            <a:ext cx="10515600" cy="1325563"/>
          </a:xfrm>
        </p:spPr>
        <p:txBody>
          <a:bodyPr/>
          <a:lstStyle/>
          <a:p>
            <a:pPr algn="ctr"/>
            <a:r>
              <a:rPr lang="en-US" sz="3600" dirty="0">
                <a:latin typeface="Cambria" panose="02040503050406030204" pitchFamily="18" charset="0"/>
                <a:ea typeface="Cambria" panose="02040503050406030204" pitchFamily="18" charset="0"/>
              </a:rPr>
              <a:t>Rules to find good ordering</a:t>
            </a:r>
            <a:r>
              <a:rPr lang="en-US" dirty="0"/>
              <a:t>:</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latin typeface="Cambria" panose="02040503050406030204" pitchFamily="18" charset="0"/>
                <a:ea typeface="Cambria" panose="02040503050406030204" pitchFamily="18" charset="0"/>
              </a:rPr>
              <a:t>Following </a:t>
            </a:r>
            <a:r>
              <a:rPr lang="en-US" dirty="0">
                <a:latin typeface="Cambria" panose="02040503050406030204" pitchFamily="18" charset="0"/>
                <a:ea typeface="Cambria" panose="02040503050406030204" pitchFamily="18" charset="0"/>
              </a:rPr>
              <a:t>are some rules to find good ordering in alpha-beta pruning:</a:t>
            </a:r>
          </a:p>
          <a:p>
            <a:pPr algn="just"/>
            <a:r>
              <a:rPr lang="en-US" dirty="0">
                <a:latin typeface="Cambria" panose="02040503050406030204" pitchFamily="18" charset="0"/>
                <a:ea typeface="Cambria" panose="02040503050406030204" pitchFamily="18" charset="0"/>
              </a:rPr>
              <a:t>Occur the best move from the shallowest node.</a:t>
            </a:r>
          </a:p>
          <a:p>
            <a:pPr algn="just"/>
            <a:r>
              <a:rPr lang="en-US" dirty="0">
                <a:latin typeface="Cambria" panose="02040503050406030204" pitchFamily="18" charset="0"/>
                <a:ea typeface="Cambria" panose="02040503050406030204" pitchFamily="18" charset="0"/>
              </a:rPr>
              <a:t>Order the nodes in the tree such that the best nodes are checked first.</a:t>
            </a:r>
          </a:p>
          <a:p>
            <a:pPr algn="just"/>
            <a:r>
              <a:rPr lang="en-US" dirty="0">
                <a:latin typeface="Cambria" panose="02040503050406030204" pitchFamily="18" charset="0"/>
                <a:ea typeface="Cambria" panose="02040503050406030204" pitchFamily="18" charset="0"/>
              </a:rPr>
              <a:t>Use domain knowledge while finding the best move. Ex: for Chess, try order: captures first, then threats, then forward moves, backward moves.</a:t>
            </a:r>
          </a:p>
          <a:p>
            <a:pPr algn="just"/>
            <a:r>
              <a:rPr lang="en-US" dirty="0">
                <a:latin typeface="Cambria" panose="02040503050406030204" pitchFamily="18" charset="0"/>
                <a:ea typeface="Cambria" panose="02040503050406030204" pitchFamily="18" charset="0"/>
              </a:rPr>
              <a:t>We can bookkeep the states, as there is a possibility that states may repeat.</a:t>
            </a:r>
          </a:p>
          <a:p>
            <a:endParaRPr lang="en-US" dirty="0"/>
          </a:p>
        </p:txBody>
      </p:sp>
    </p:spTree>
    <p:extLst>
      <p:ext uri="{BB962C8B-B14F-4D97-AF65-F5344CB8AC3E}">
        <p14:creationId xmlns:p14="http://schemas.microsoft.com/office/powerpoint/2010/main" val="2959786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927" y="717262"/>
            <a:ext cx="10515600" cy="4351338"/>
          </a:xfrm>
        </p:spPr>
        <p:txBody>
          <a:bodyPr>
            <a:normAutofit fontScale="92500" lnSpcReduction="10000"/>
          </a:bodyPr>
          <a:lstStyle/>
          <a:p>
            <a:pPr marL="0" indent="0" algn="ctr" fontAlgn="base">
              <a:buNone/>
            </a:pPr>
            <a:r>
              <a:rPr lang="en-US" b="1" dirty="0">
                <a:latin typeface="Cambria" panose="02040503050406030204" pitchFamily="18" charset="0"/>
                <a:ea typeface="Cambria" panose="02040503050406030204" pitchFamily="18" charset="0"/>
              </a:rPr>
              <a:t>Example of Alpha-Beta </a:t>
            </a:r>
            <a:r>
              <a:rPr lang="en-US" b="1" dirty="0" smtClean="0">
                <a:latin typeface="Cambria" panose="02040503050406030204" pitchFamily="18" charset="0"/>
                <a:ea typeface="Cambria" panose="02040503050406030204" pitchFamily="18" charset="0"/>
              </a:rPr>
              <a:t>Pruning</a:t>
            </a:r>
          </a:p>
          <a:p>
            <a:pPr marL="0" indent="0" algn="just" fontAlgn="base">
              <a:buNone/>
            </a:pPr>
            <a:endParaRPr lang="en-US" b="1" dirty="0">
              <a:latin typeface="Cambria" panose="02040503050406030204" pitchFamily="18" charset="0"/>
              <a:ea typeface="Cambria" panose="02040503050406030204" pitchFamily="18" charset="0"/>
            </a:endParaRPr>
          </a:p>
          <a:p>
            <a:pPr algn="just" fontAlgn="base"/>
            <a:r>
              <a:rPr lang="en-US" dirty="0">
                <a:latin typeface="Cambria" panose="02040503050406030204" pitchFamily="18" charset="0"/>
                <a:ea typeface="Cambria" panose="02040503050406030204" pitchFamily="18" charset="0"/>
              </a:rPr>
              <a:t>Consider a simple game tree where the branching factor is 2 and the depth is 3.</a:t>
            </a:r>
          </a:p>
          <a:p>
            <a:pPr algn="just" fontAlgn="base"/>
            <a:r>
              <a:rPr lang="en-US" dirty="0">
                <a:latin typeface="Cambria" panose="02040503050406030204" pitchFamily="18" charset="0"/>
                <a:ea typeface="Cambria" panose="02040503050406030204" pitchFamily="18" charset="0"/>
              </a:rPr>
              <a:t>Start at the root (Max node). Initialize alpha to -∞ and beta to ∞.</a:t>
            </a:r>
          </a:p>
          <a:p>
            <a:pPr algn="just" fontAlgn="base"/>
            <a:r>
              <a:rPr lang="en-US" dirty="0">
                <a:latin typeface="Cambria" panose="02040503050406030204" pitchFamily="18" charset="0"/>
                <a:ea typeface="Cambria" panose="02040503050406030204" pitchFamily="18" charset="0"/>
              </a:rPr>
              <a:t>Traverse to the first child (Min node) and evaluate its children (Max nodes).</a:t>
            </a:r>
          </a:p>
          <a:p>
            <a:pPr algn="just" fontAlgn="base"/>
            <a:r>
              <a:rPr lang="en-US" dirty="0">
                <a:latin typeface="Cambria" panose="02040503050406030204" pitchFamily="18" charset="0"/>
                <a:ea typeface="Cambria" panose="02040503050406030204" pitchFamily="18" charset="0"/>
              </a:rPr>
              <a:t>For each Max node, traverse and evaluate its children (leaf nodes). Update alpha and beta accordingly.</a:t>
            </a:r>
          </a:p>
          <a:p>
            <a:pPr algn="just" fontAlgn="base"/>
            <a:r>
              <a:rPr lang="en-US" dirty="0">
                <a:latin typeface="Cambria" panose="02040503050406030204" pitchFamily="18" charset="0"/>
                <a:ea typeface="Cambria" panose="02040503050406030204" pitchFamily="18" charset="0"/>
              </a:rPr>
              <a:t>Prune branches where alpha ≥ beta for Max nodes or beta ≤ alpha for Min nodes.</a:t>
            </a:r>
          </a:p>
          <a:p>
            <a:endParaRPr lang="en-US" dirty="0"/>
          </a:p>
        </p:txBody>
      </p:sp>
    </p:spTree>
    <p:extLst>
      <p:ext uri="{BB962C8B-B14F-4D97-AF65-F5344CB8AC3E}">
        <p14:creationId xmlns:p14="http://schemas.microsoft.com/office/powerpoint/2010/main" val="4580598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8145" y="651164"/>
            <a:ext cx="10605655" cy="5597235"/>
          </a:xfrm>
        </p:spPr>
        <p:txBody>
          <a:bodyPr>
            <a:normAutofit fontScale="92500" lnSpcReduction="10000"/>
          </a:bodyPr>
          <a:lstStyle/>
          <a:p>
            <a:pPr marL="0" indent="0" algn="just" fontAlgn="base">
              <a:buNone/>
            </a:pPr>
            <a:r>
              <a:rPr lang="en-US" b="1" dirty="0">
                <a:latin typeface="Cambria" panose="02040503050406030204" pitchFamily="18" charset="0"/>
                <a:ea typeface="Cambria" panose="02040503050406030204" pitchFamily="18" charset="0"/>
              </a:rPr>
              <a:t>Advantages of Alpha-Beta Pruning</a:t>
            </a:r>
          </a:p>
          <a:p>
            <a:pPr algn="just" fontAlgn="base"/>
            <a:r>
              <a:rPr lang="en-US" b="1" dirty="0">
                <a:latin typeface="Cambria" panose="02040503050406030204" pitchFamily="18" charset="0"/>
                <a:ea typeface="Cambria" panose="02040503050406030204" pitchFamily="18" charset="0"/>
              </a:rPr>
              <a:t>Efficiency:</a:t>
            </a:r>
            <a:r>
              <a:rPr lang="en-US" dirty="0">
                <a:latin typeface="Cambria" panose="02040503050406030204" pitchFamily="18" charset="0"/>
                <a:ea typeface="Cambria" panose="02040503050406030204" pitchFamily="18" charset="0"/>
              </a:rPr>
              <a:t> Alpha-beta pruning significantly reduces the number of nodes evaluated compared to the basic </a:t>
            </a:r>
            <a:r>
              <a:rPr lang="en-US" dirty="0" err="1">
                <a:latin typeface="Cambria" panose="02040503050406030204" pitchFamily="18" charset="0"/>
                <a:ea typeface="Cambria" panose="02040503050406030204" pitchFamily="18" charset="0"/>
              </a:rPr>
              <a:t>minimax</a:t>
            </a:r>
            <a:r>
              <a:rPr lang="en-US" dirty="0">
                <a:latin typeface="Cambria" panose="02040503050406030204" pitchFamily="18" charset="0"/>
                <a:ea typeface="Cambria" panose="02040503050406030204" pitchFamily="18" charset="0"/>
              </a:rPr>
              <a:t> algorithm, making the search process faster.</a:t>
            </a:r>
          </a:p>
          <a:p>
            <a:pPr algn="just" fontAlgn="base"/>
            <a:r>
              <a:rPr lang="en-US" b="1" dirty="0">
                <a:latin typeface="Cambria" panose="02040503050406030204" pitchFamily="18" charset="0"/>
                <a:ea typeface="Cambria" panose="02040503050406030204" pitchFamily="18" charset="0"/>
              </a:rPr>
              <a:t>Optimality:</a:t>
            </a:r>
            <a:r>
              <a:rPr lang="en-US" dirty="0">
                <a:latin typeface="Cambria" panose="02040503050406030204" pitchFamily="18" charset="0"/>
                <a:ea typeface="Cambria" panose="02040503050406030204" pitchFamily="18" charset="0"/>
              </a:rPr>
              <a:t> Despite pruning, alpha-beta pruning does not affect the final decision; it still guarantees finding the optimal move.</a:t>
            </a:r>
          </a:p>
          <a:p>
            <a:pPr marL="0" indent="0" algn="just" fontAlgn="base">
              <a:buNone/>
            </a:pPr>
            <a:endParaRPr lang="en-US" b="1" dirty="0" smtClean="0">
              <a:latin typeface="Cambria" panose="02040503050406030204" pitchFamily="18" charset="0"/>
              <a:ea typeface="Cambria" panose="02040503050406030204" pitchFamily="18" charset="0"/>
            </a:endParaRPr>
          </a:p>
          <a:p>
            <a:pPr marL="0" indent="0" algn="just" fontAlgn="base">
              <a:buNone/>
            </a:pPr>
            <a:r>
              <a:rPr lang="en-US" b="1" dirty="0" smtClean="0">
                <a:latin typeface="Cambria" panose="02040503050406030204" pitchFamily="18" charset="0"/>
                <a:ea typeface="Cambria" panose="02040503050406030204" pitchFamily="18" charset="0"/>
              </a:rPr>
              <a:t>Limitations </a:t>
            </a:r>
            <a:r>
              <a:rPr lang="en-US" b="1" dirty="0">
                <a:latin typeface="Cambria" panose="02040503050406030204" pitchFamily="18" charset="0"/>
                <a:ea typeface="Cambria" panose="02040503050406030204" pitchFamily="18" charset="0"/>
              </a:rPr>
              <a:t>of Alpha-Beta Pruning</a:t>
            </a:r>
          </a:p>
          <a:p>
            <a:pPr algn="just" fontAlgn="base"/>
            <a:r>
              <a:rPr lang="en-US" b="1" dirty="0">
                <a:latin typeface="Cambria" panose="02040503050406030204" pitchFamily="18" charset="0"/>
                <a:ea typeface="Cambria" panose="02040503050406030204" pitchFamily="18" charset="0"/>
              </a:rPr>
              <a:t>Complexity</a:t>
            </a:r>
            <a:r>
              <a:rPr lang="en-US" dirty="0">
                <a:latin typeface="Cambria" panose="02040503050406030204" pitchFamily="18" charset="0"/>
                <a:ea typeface="Cambria" panose="02040503050406030204" pitchFamily="18" charset="0"/>
              </a:rPr>
              <a:t>: While it reduces the number of evaluations, the complexity can still be high for very large game trees.</a:t>
            </a:r>
          </a:p>
          <a:p>
            <a:pPr algn="just" fontAlgn="base"/>
            <a:r>
              <a:rPr lang="en-US" b="1" dirty="0">
                <a:latin typeface="Cambria" panose="02040503050406030204" pitchFamily="18" charset="0"/>
                <a:ea typeface="Cambria" panose="02040503050406030204" pitchFamily="18" charset="0"/>
              </a:rPr>
              <a:t>Heuristic Dependency</a:t>
            </a:r>
            <a:r>
              <a:rPr lang="en-US" dirty="0">
                <a:latin typeface="Cambria" panose="02040503050406030204" pitchFamily="18" charset="0"/>
                <a:ea typeface="Cambria" panose="02040503050406030204" pitchFamily="18" charset="0"/>
              </a:rPr>
              <a:t>: The effectiveness of alpha-beta pruning can be highly dependent on the order in which nodes are evaluated. Good heuristic functions or move ordering can greatly enhance its performance.</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10701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5909" y="883516"/>
            <a:ext cx="10515600" cy="4351338"/>
          </a:xfrm>
        </p:spPr>
        <p:txBody>
          <a:bodyPr/>
          <a:lstStyle/>
          <a:p>
            <a:pPr marL="0" indent="0" fontAlgn="base">
              <a:buNone/>
            </a:pPr>
            <a:r>
              <a:rPr lang="en-US" sz="2400" b="1" dirty="0">
                <a:latin typeface="Cambria" panose="02040503050406030204" pitchFamily="18" charset="0"/>
                <a:ea typeface="Cambria" panose="02040503050406030204" pitchFamily="18" charset="0"/>
              </a:rPr>
              <a:t>Applications of Alpha-Beta </a:t>
            </a:r>
            <a:r>
              <a:rPr lang="en-US" sz="2400" b="1" dirty="0" smtClean="0">
                <a:latin typeface="Cambria" panose="02040503050406030204" pitchFamily="18" charset="0"/>
                <a:ea typeface="Cambria" panose="02040503050406030204" pitchFamily="18" charset="0"/>
              </a:rPr>
              <a:t>Pruning</a:t>
            </a:r>
          </a:p>
          <a:p>
            <a:pPr marL="0" indent="0" fontAlgn="base">
              <a:buNone/>
            </a:pPr>
            <a:endParaRPr lang="en-US" sz="2400" b="1" dirty="0">
              <a:latin typeface="Cambria" panose="02040503050406030204" pitchFamily="18" charset="0"/>
              <a:ea typeface="Cambria" panose="02040503050406030204" pitchFamily="18" charset="0"/>
            </a:endParaRPr>
          </a:p>
          <a:p>
            <a:pPr fontAlgn="base"/>
            <a:r>
              <a:rPr lang="en-US" sz="2400" dirty="0">
                <a:latin typeface="Cambria" panose="02040503050406030204" pitchFamily="18" charset="0"/>
                <a:ea typeface="Cambria" panose="02040503050406030204" pitchFamily="18" charset="0"/>
              </a:rPr>
              <a:t>Alpha-Beta pruning is widely used in AI applications for two-player games such as:</a:t>
            </a:r>
          </a:p>
          <a:p>
            <a:pPr fontAlgn="base"/>
            <a:r>
              <a:rPr lang="en-US" sz="2400" b="1" dirty="0">
                <a:latin typeface="Cambria" panose="02040503050406030204" pitchFamily="18" charset="0"/>
                <a:ea typeface="Cambria" panose="02040503050406030204" pitchFamily="18" charset="0"/>
              </a:rPr>
              <a:t>Chess</a:t>
            </a:r>
            <a:r>
              <a:rPr lang="en-US" sz="2400" dirty="0">
                <a:latin typeface="Cambria" panose="02040503050406030204" pitchFamily="18" charset="0"/>
                <a:ea typeface="Cambria" panose="02040503050406030204" pitchFamily="18" charset="0"/>
              </a:rPr>
              <a:t>: Enhances the efficiency of chess engines, allowing them to evaluate deeper moves within time constraints.</a:t>
            </a:r>
          </a:p>
          <a:p>
            <a:pPr fontAlgn="base"/>
            <a:r>
              <a:rPr lang="en-US" sz="2400" b="1" dirty="0">
                <a:latin typeface="Cambria" panose="02040503050406030204" pitchFamily="18" charset="0"/>
                <a:ea typeface="Cambria" panose="02040503050406030204" pitchFamily="18" charset="0"/>
              </a:rPr>
              <a:t>Checkers</a:t>
            </a:r>
            <a:r>
              <a:rPr lang="en-US" sz="2400" dirty="0">
                <a:latin typeface="Cambria" panose="02040503050406030204" pitchFamily="18" charset="0"/>
                <a:ea typeface="Cambria" panose="02040503050406030204" pitchFamily="18" charset="0"/>
              </a:rPr>
              <a:t>: Optimizes move evaluation in checkers, making AI opponents more challenging.</a:t>
            </a:r>
          </a:p>
          <a:p>
            <a:pPr fontAlgn="base"/>
            <a:r>
              <a:rPr lang="en-US" sz="2400" b="1" dirty="0">
                <a:latin typeface="Cambria" panose="02040503050406030204" pitchFamily="18" charset="0"/>
                <a:ea typeface="Cambria" panose="02040503050406030204" pitchFamily="18" charset="0"/>
              </a:rPr>
              <a:t>Othello</a:t>
            </a:r>
            <a:r>
              <a:rPr lang="en-US" sz="2400" dirty="0">
                <a:latin typeface="Cambria" panose="02040503050406030204" pitchFamily="18" charset="0"/>
                <a:ea typeface="Cambria" panose="02040503050406030204" pitchFamily="18" charset="0"/>
              </a:rPr>
              <a:t>: Improves decision-making processes in Othello, leading to stronger AI strategies.</a:t>
            </a:r>
          </a:p>
          <a:p>
            <a:endParaRPr lang="en-US" dirty="0"/>
          </a:p>
        </p:txBody>
      </p:sp>
    </p:spTree>
    <p:extLst>
      <p:ext uri="{BB962C8B-B14F-4D97-AF65-F5344CB8AC3E}">
        <p14:creationId xmlns:p14="http://schemas.microsoft.com/office/powerpoint/2010/main" val="32506319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latin typeface="Cambria" panose="02040503050406030204" pitchFamily="18" charset="0"/>
                <a:ea typeface="Cambria" panose="02040503050406030204" pitchFamily="18" charset="0"/>
              </a:rPr>
              <a:t>Advantages and limitations of search algorithms in AI</a:t>
            </a:r>
            <a:r>
              <a:rPr lang="en-US" dirty="0"/>
              <a:t/>
            </a:r>
            <a:br>
              <a:rPr lang="en-US" dirty="0"/>
            </a:br>
            <a:endParaRPr lang="en-US" dirty="0"/>
          </a:p>
        </p:txBody>
      </p:sp>
      <p:sp>
        <p:nvSpPr>
          <p:cNvPr id="3" name="Content Placeholder 2"/>
          <p:cNvSpPr>
            <a:spLocks noGrp="1"/>
          </p:cNvSpPr>
          <p:nvPr>
            <p:ph idx="1"/>
          </p:nvPr>
        </p:nvSpPr>
        <p:spPr>
          <a:xfrm>
            <a:off x="360218" y="1399309"/>
            <a:ext cx="10993582" cy="4777654"/>
          </a:xfrm>
        </p:spPr>
        <p:txBody>
          <a:bodyPr>
            <a:normAutofit fontScale="92500"/>
          </a:bodyPr>
          <a:lstStyle/>
          <a:p>
            <a:pPr algn="just"/>
            <a:r>
              <a:rPr lang="en-US" b="1" dirty="0">
                <a:latin typeface="Cambria" panose="02040503050406030204" pitchFamily="18" charset="0"/>
                <a:ea typeface="Cambria" panose="02040503050406030204" pitchFamily="18" charset="0"/>
              </a:rPr>
              <a:t>An approach that is methodical and well-organized:</a:t>
            </a:r>
            <a:r>
              <a:rPr lang="en-US" dirty="0">
                <a:latin typeface="Cambria" panose="02040503050406030204" pitchFamily="18" charset="0"/>
                <a:ea typeface="Cambria" panose="02040503050406030204" pitchFamily="18" charset="0"/>
              </a:rPr>
              <a:t> Search algorithms offer a structured way of quickly looking through enormous volumes of data, ensuring a methodical retrieval procedure.</a:t>
            </a:r>
          </a:p>
          <a:p>
            <a:pPr algn="just"/>
            <a:r>
              <a:rPr lang="en-US" b="1" dirty="0">
                <a:latin typeface="Cambria" panose="02040503050406030204" pitchFamily="18" charset="0"/>
                <a:ea typeface="Cambria" panose="02040503050406030204" pitchFamily="18" charset="0"/>
              </a:rPr>
              <a:t>Effective and precise retrieval:</a:t>
            </a:r>
            <a:r>
              <a:rPr lang="en-US" dirty="0">
                <a:latin typeface="Cambria" panose="02040503050406030204" pitchFamily="18" charset="0"/>
                <a:ea typeface="Cambria" panose="02040503050406030204" pitchFamily="18" charset="0"/>
              </a:rPr>
              <a:t> These algorithms make it possible to identify pertinent information quickly, enhancing the effectiveness and precision of information retrieval.</a:t>
            </a:r>
          </a:p>
          <a:p>
            <a:pPr algn="just"/>
            <a:r>
              <a:rPr lang="en-US" b="1" dirty="0">
                <a:latin typeface="Cambria" panose="02040503050406030204" pitchFamily="18" charset="0"/>
                <a:ea typeface="Cambria" panose="02040503050406030204" pitchFamily="18" charset="0"/>
              </a:rPr>
              <a:t>Handling complex search spaces: </a:t>
            </a:r>
            <a:r>
              <a:rPr lang="en-US" dirty="0">
                <a:latin typeface="Cambria" panose="02040503050406030204" pitchFamily="18" charset="0"/>
                <a:ea typeface="Cambria" panose="02040503050406030204" pitchFamily="18" charset="0"/>
              </a:rPr>
              <a:t>Search algorithms have the ability to handle complex search spaces, which enables them to travel through complex data structures or issue domains.</a:t>
            </a:r>
          </a:p>
          <a:p>
            <a:pPr algn="just"/>
            <a:r>
              <a:rPr lang="en-US" b="1" dirty="0">
                <a:latin typeface="Cambria" panose="02040503050406030204" pitchFamily="18" charset="0"/>
                <a:ea typeface="Cambria" panose="02040503050406030204" pitchFamily="18" charset="0"/>
              </a:rPr>
              <a:t>Adaptability to different challenges: </a:t>
            </a:r>
            <a:r>
              <a:rPr lang="en-US" dirty="0">
                <a:latin typeface="Cambria" panose="02040503050406030204" pitchFamily="18" charset="0"/>
                <a:ea typeface="Cambria" panose="02040503050406030204" pitchFamily="18" charset="0"/>
              </a:rPr>
              <a:t>Search algorithms are flexible and adaptable in numerous AI disciplines since they may be used to solve different kinds of problems.</a:t>
            </a:r>
          </a:p>
          <a:p>
            <a:endParaRPr lang="en-US" dirty="0"/>
          </a:p>
        </p:txBody>
      </p:sp>
    </p:spTree>
    <p:extLst>
      <p:ext uri="{BB962C8B-B14F-4D97-AF65-F5344CB8AC3E}">
        <p14:creationId xmlns:p14="http://schemas.microsoft.com/office/powerpoint/2010/main" val="29480573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dirty="0">
                <a:latin typeface="Cambria" panose="02040503050406030204" pitchFamily="18" charset="0"/>
                <a:ea typeface="Cambria" panose="02040503050406030204" pitchFamily="18" charset="0"/>
              </a:rPr>
              <a:t>AI search algorithm limitations</a:t>
            </a:r>
            <a:r>
              <a:rPr lang="en-US" dirty="0"/>
              <a:t/>
            </a:r>
            <a:br>
              <a:rPr lang="en-US" dirty="0"/>
            </a:br>
            <a:endParaRPr lang="en-US" dirty="0"/>
          </a:p>
        </p:txBody>
      </p:sp>
      <p:sp>
        <p:nvSpPr>
          <p:cNvPr id="3" name="Content Placeholder 2"/>
          <p:cNvSpPr>
            <a:spLocks noGrp="1"/>
          </p:cNvSpPr>
          <p:nvPr>
            <p:ph idx="1"/>
          </p:nvPr>
        </p:nvSpPr>
        <p:spPr>
          <a:xfrm>
            <a:off x="838200" y="1427019"/>
            <a:ext cx="10910455" cy="4805363"/>
          </a:xfrm>
        </p:spPr>
        <p:txBody>
          <a:bodyPr>
            <a:normAutofit/>
          </a:bodyPr>
          <a:lstStyle/>
          <a:p>
            <a:pPr algn="just">
              <a:lnSpc>
                <a:spcPct val="100000"/>
              </a:lnSpc>
            </a:pPr>
            <a:r>
              <a:rPr lang="en-US" sz="2400" b="1" dirty="0">
                <a:latin typeface="Cambria" panose="02040503050406030204" pitchFamily="18" charset="0"/>
                <a:ea typeface="Cambria" panose="02040503050406030204" pitchFamily="18" charset="0"/>
              </a:rPr>
              <a:t>Performance problems with overly large or complex search spaces:</a:t>
            </a:r>
            <a:r>
              <a:rPr lang="en-US" sz="2400" dirty="0">
                <a:latin typeface="Cambria" panose="02040503050406030204" pitchFamily="18" charset="0"/>
                <a:ea typeface="Cambria" panose="02040503050406030204" pitchFamily="18" charset="0"/>
              </a:rPr>
              <a:t> When the search space is too big or complicated, search algorithms may run into performance problems, which might slow down retrieval or demand more computation.</a:t>
            </a:r>
          </a:p>
          <a:p>
            <a:pPr algn="just">
              <a:lnSpc>
                <a:spcPct val="100000"/>
              </a:lnSpc>
            </a:pPr>
            <a:r>
              <a:rPr lang="en-US" sz="2400" b="1" dirty="0">
                <a:latin typeface="Cambria" panose="02040503050406030204" pitchFamily="18" charset="0"/>
                <a:ea typeface="Cambria" panose="02040503050406030204" pitchFamily="18" charset="0"/>
              </a:rPr>
              <a:t>Dependence on heuristics and input data quality: </a:t>
            </a:r>
            <a:r>
              <a:rPr lang="en-US" sz="2400" dirty="0">
                <a:latin typeface="Cambria" panose="02040503050406030204" pitchFamily="18" charset="0"/>
                <a:ea typeface="Cambria" panose="02040503050406030204" pitchFamily="18" charset="0"/>
              </a:rPr>
              <a:t>The effectiveness of the search results is significantly influenced by the precision of the used heuristics and the input data quality. The performance of search algorithms might be impacted by inaccurate or lacking data.</a:t>
            </a:r>
          </a:p>
          <a:p>
            <a:pPr algn="just">
              <a:lnSpc>
                <a:spcPct val="100000"/>
              </a:lnSpc>
            </a:pPr>
            <a:r>
              <a:rPr lang="en-US" sz="2400" b="1" dirty="0">
                <a:latin typeface="Cambria" panose="02040503050406030204" pitchFamily="18" charset="0"/>
                <a:ea typeface="Cambria" panose="02040503050406030204" pitchFamily="18" charset="0"/>
              </a:rPr>
              <a:t>Non-guarantee of optimal solutions:</a:t>
            </a:r>
            <a:r>
              <a:rPr lang="en-US" sz="2400" dirty="0">
                <a:latin typeface="Cambria" panose="02040503050406030204" pitchFamily="18" charset="0"/>
                <a:ea typeface="Cambria" panose="02040503050406030204" pitchFamily="18" charset="0"/>
              </a:rPr>
              <a:t> In dynamic or incomplete search spaces, where the best solution might not be recognizable within the current limitations, search algorithms may not always guarantee finding the optimal solution.</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381307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Cambria" panose="02040503050406030204" pitchFamily="18" charset="0"/>
                <a:ea typeface="Cambria" panose="02040503050406030204" pitchFamily="18" charset="0"/>
              </a:rPr>
              <a:t>Applications of search algorithms in AI</a:t>
            </a:r>
            <a:r>
              <a:rPr lang="en-US" dirty="0"/>
              <a:t/>
            </a:r>
            <a:br>
              <a:rPr lang="en-US" dirty="0"/>
            </a:br>
            <a:endParaRPr lang="en-US" dirty="0"/>
          </a:p>
        </p:txBody>
      </p:sp>
      <p:sp>
        <p:nvSpPr>
          <p:cNvPr id="3" name="Content Placeholder 2"/>
          <p:cNvSpPr>
            <a:spLocks noGrp="1"/>
          </p:cNvSpPr>
          <p:nvPr>
            <p:ph idx="1"/>
          </p:nvPr>
        </p:nvSpPr>
        <p:spPr>
          <a:xfrm>
            <a:off x="626918" y="1385455"/>
            <a:ext cx="10938164" cy="5209309"/>
          </a:xfrm>
        </p:spPr>
        <p:txBody>
          <a:bodyPr>
            <a:normAutofit fontScale="77500" lnSpcReduction="20000"/>
          </a:bodyPr>
          <a:lstStyle/>
          <a:p>
            <a:pPr algn="just">
              <a:lnSpc>
                <a:spcPct val="120000"/>
              </a:lnSpc>
            </a:pPr>
            <a:r>
              <a:rPr lang="en-US" dirty="0" smtClean="0">
                <a:latin typeface="Cambria" panose="02040503050406030204" pitchFamily="18" charset="0"/>
                <a:ea typeface="Cambria" panose="02040503050406030204" pitchFamily="18" charset="0"/>
              </a:rPr>
              <a:t>Applications </a:t>
            </a:r>
            <a:r>
              <a:rPr lang="en-US" dirty="0">
                <a:latin typeface="Cambria" panose="02040503050406030204" pitchFamily="18" charset="0"/>
                <a:ea typeface="Cambria" panose="02040503050406030204" pitchFamily="18" charset="0"/>
              </a:rPr>
              <a:t>for search algorithms can be found throughout several AI fields, including:</a:t>
            </a:r>
          </a:p>
          <a:p>
            <a:pPr algn="just">
              <a:lnSpc>
                <a:spcPct val="120000"/>
              </a:lnSpc>
            </a:pPr>
            <a:r>
              <a:rPr lang="en-US" b="1" dirty="0">
                <a:latin typeface="Cambria" panose="02040503050406030204" pitchFamily="18" charset="0"/>
                <a:ea typeface="Cambria" panose="02040503050406030204" pitchFamily="18" charset="0"/>
              </a:rPr>
              <a:t>Natural language processing:</a:t>
            </a:r>
            <a:r>
              <a:rPr lang="en-US" dirty="0">
                <a:latin typeface="Cambria" panose="02040503050406030204" pitchFamily="18" charset="0"/>
                <a:ea typeface="Cambria" panose="02040503050406030204" pitchFamily="18" charset="0"/>
              </a:rPr>
              <a:t> Search algorithms are used for information extraction, query resolution, sentiment analysis, and other </a:t>
            </a:r>
            <a:r>
              <a:rPr lang="en-US" dirty="0">
                <a:latin typeface="Cambria" panose="02040503050406030204" pitchFamily="18" charset="0"/>
                <a:ea typeface="Cambria" panose="02040503050406030204" pitchFamily="18" charset="0"/>
                <a:hlinkClick r:id="rId2"/>
              </a:rPr>
              <a:t>language processing tasks in natural language using AI.</a:t>
            </a:r>
            <a:endParaRPr lang="en-US" dirty="0">
              <a:latin typeface="Cambria" panose="02040503050406030204" pitchFamily="18" charset="0"/>
              <a:ea typeface="Cambria" panose="02040503050406030204" pitchFamily="18" charset="0"/>
            </a:endParaRPr>
          </a:p>
          <a:p>
            <a:pPr algn="just">
              <a:lnSpc>
                <a:spcPct val="120000"/>
              </a:lnSpc>
            </a:pPr>
            <a:r>
              <a:rPr lang="en-US" b="1" dirty="0">
                <a:latin typeface="Cambria" panose="02040503050406030204" pitchFamily="18" charset="0"/>
                <a:ea typeface="Cambria" panose="02040503050406030204" pitchFamily="18" charset="0"/>
              </a:rPr>
              <a:t>Image recognition:</a:t>
            </a:r>
            <a:r>
              <a:rPr lang="en-US" dirty="0">
                <a:latin typeface="Cambria" panose="02040503050406030204" pitchFamily="18" charset="0"/>
                <a:ea typeface="Cambria" panose="02040503050406030204" pitchFamily="18" charset="0"/>
              </a:rPr>
              <a:t> These algorithms help in the search for pertinent photos using user queries or matching visual cues.</a:t>
            </a:r>
          </a:p>
          <a:p>
            <a:pPr algn="just">
              <a:lnSpc>
                <a:spcPct val="120000"/>
              </a:lnSpc>
            </a:pPr>
            <a:r>
              <a:rPr lang="en-US" b="1" dirty="0">
                <a:latin typeface="Cambria" panose="02040503050406030204" pitchFamily="18" charset="0"/>
                <a:ea typeface="Cambria" panose="02040503050406030204" pitchFamily="18" charset="0"/>
              </a:rPr>
              <a:t>Recommendation systems:</a:t>
            </a:r>
            <a:r>
              <a:rPr lang="en-US" dirty="0">
                <a:latin typeface="Cambria" panose="02040503050406030204" pitchFamily="18" charset="0"/>
                <a:ea typeface="Cambria" panose="02040503050406030204" pitchFamily="18" charset="0"/>
              </a:rPr>
              <a:t> Search engines make personalized suggestions possible by matching user preferences with products that are appropriate.</a:t>
            </a:r>
          </a:p>
          <a:p>
            <a:pPr algn="just">
              <a:lnSpc>
                <a:spcPct val="120000"/>
              </a:lnSpc>
            </a:pPr>
            <a:r>
              <a:rPr lang="en-US" b="1" dirty="0">
                <a:latin typeface="Cambria" panose="02040503050406030204" pitchFamily="18" charset="0"/>
                <a:ea typeface="Cambria" panose="02040503050406030204" pitchFamily="18" charset="0"/>
              </a:rPr>
              <a:t>Robotics: </a:t>
            </a:r>
            <a:r>
              <a:rPr lang="en-US" dirty="0">
                <a:latin typeface="Cambria" panose="02040503050406030204" pitchFamily="18" charset="0"/>
                <a:ea typeface="Cambria" panose="02040503050406030204" pitchFamily="18" charset="0"/>
              </a:rPr>
              <a:t>To ensure effective exploration and effective mobility, search algorithms are essential to robot path planning and navigation.</a:t>
            </a:r>
          </a:p>
          <a:p>
            <a:pPr algn="just">
              <a:lnSpc>
                <a:spcPct val="120000"/>
              </a:lnSpc>
            </a:pPr>
            <a:r>
              <a:rPr lang="en-US" b="1" dirty="0">
                <a:latin typeface="Cambria" panose="02040503050406030204" pitchFamily="18" charset="0"/>
                <a:ea typeface="Cambria" panose="02040503050406030204" pitchFamily="18" charset="0"/>
              </a:rPr>
              <a:t>Data mining: </a:t>
            </a:r>
            <a:r>
              <a:rPr lang="en-US" dirty="0">
                <a:latin typeface="Cambria" panose="02040503050406030204" pitchFamily="18" charset="0"/>
                <a:ea typeface="Cambria" panose="02040503050406030204" pitchFamily="18" charset="0"/>
              </a:rPr>
              <a:t>These methods make it easier to do tasks like grouping, classification, &amp; anomaly detection by extracting useful insights and patterns from vast datasets.</a:t>
            </a:r>
          </a:p>
          <a:p>
            <a:endParaRPr lang="en-US" dirty="0"/>
          </a:p>
        </p:txBody>
      </p:sp>
    </p:spTree>
    <p:extLst>
      <p:ext uri="{BB962C8B-B14F-4D97-AF65-F5344CB8AC3E}">
        <p14:creationId xmlns:p14="http://schemas.microsoft.com/office/powerpoint/2010/main" val="38717610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Chess, Go and Backgammon</a:t>
            </a:r>
          </a:p>
        </p:txBody>
      </p:sp>
      <p:sp>
        <p:nvSpPr>
          <p:cNvPr id="3" name="Content Placeholder 2"/>
          <p:cNvSpPr>
            <a:spLocks noGrp="1"/>
          </p:cNvSpPr>
          <p:nvPr>
            <p:ph idx="1"/>
          </p:nvPr>
        </p:nvSpPr>
        <p:spPr/>
        <p:txBody>
          <a:bodyPr/>
          <a:lstStyle/>
          <a:p>
            <a:pPr marL="0" indent="0">
              <a:buNone/>
            </a:pPr>
            <a:r>
              <a:rPr lang="en-US" dirty="0" smtClean="0"/>
              <a:t>Refer</a:t>
            </a:r>
          </a:p>
          <a:p>
            <a:r>
              <a:rPr lang="en-US" dirty="0">
                <a:hlinkClick r:id="rId2"/>
              </a:rPr>
              <a:t>https://</a:t>
            </a:r>
            <a:r>
              <a:rPr lang="en-US" dirty="0" smtClean="0">
                <a:hlinkClick r:id="rId2"/>
              </a:rPr>
              <a:t>www.codeproject.com/Articles/5300469/Backgammon-Artificial-Intelligence</a:t>
            </a:r>
            <a:endParaRPr lang="en-US" dirty="0" smtClean="0"/>
          </a:p>
          <a:p>
            <a:r>
              <a:rPr lang="en-US" dirty="0">
                <a:hlinkClick r:id="rId2"/>
              </a:rPr>
              <a:t>https://</a:t>
            </a:r>
            <a:r>
              <a:rPr lang="en-US" dirty="0" smtClean="0">
                <a:hlinkClick r:id="rId2"/>
              </a:rPr>
              <a:t>www.codeproject.com/Articles/5300469/Backgammon-Artificial-Intelligence</a:t>
            </a:r>
            <a:endParaRPr lang="en-US" dirty="0" smtClean="0"/>
          </a:p>
          <a:p>
            <a:r>
              <a:rPr lang="en-US" dirty="0"/>
              <a:t>https://www.youtube.com/watch?v=wDh4eCPk0Qo</a:t>
            </a:r>
          </a:p>
        </p:txBody>
      </p:sp>
    </p:spTree>
    <p:extLst>
      <p:ext uri="{BB962C8B-B14F-4D97-AF65-F5344CB8AC3E}">
        <p14:creationId xmlns:p14="http://schemas.microsoft.com/office/powerpoint/2010/main" val="2045386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16860</TotalTime>
  <Words>2118</Words>
  <Application>Microsoft Office PowerPoint</Application>
  <PresentationFormat>Widescreen</PresentationFormat>
  <Paragraphs>267</Paragraphs>
  <Slides>59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Arial</vt:lpstr>
      <vt:lpstr>Calibri</vt:lpstr>
      <vt:lpstr>Calibri Light</vt:lpstr>
      <vt:lpstr>Cambria</vt:lpstr>
      <vt:lpstr>Times New Roman</vt:lpstr>
      <vt:lpstr>Office Theme</vt:lpstr>
      <vt:lpstr>MORE ON A* ALGORITHM AND GAME PLAYING</vt:lpstr>
      <vt:lpstr>Results related to Admissibility of A* </vt:lpstr>
      <vt:lpstr>PowerPoint Presentation</vt:lpstr>
      <vt:lpstr>PowerPoint Presentation</vt:lpstr>
      <vt:lpstr>PowerPoint Presentation</vt:lpstr>
      <vt:lpstr>Space Saving Version of A*: Iterative Deepening 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Game Playing: Board Games and Game Trees</vt:lpstr>
      <vt:lpstr>PowerPoint Presentation</vt:lpstr>
      <vt:lpstr>Board games</vt:lpstr>
      <vt:lpstr>PowerPoint Presentation</vt:lpstr>
      <vt:lpstr>PowerPoint Presentation</vt:lpstr>
      <vt:lpstr>PowerPoint Presentation</vt:lpstr>
      <vt:lpstr>Game trees</vt:lpstr>
      <vt:lpstr>PowerPoint Presentation</vt:lpstr>
      <vt:lpstr>PowerPoint Presentation</vt:lpstr>
      <vt:lpstr>PowerPoint Presentation</vt:lpstr>
      <vt:lpstr>PowerPoint Presentation</vt:lpstr>
      <vt:lpstr>PowerPoint Presentation</vt:lpstr>
      <vt:lpstr>PowerPoint Presentation</vt:lpstr>
      <vt:lpstr>MiniMax Algorithm</vt:lpstr>
      <vt:lpstr>PowerPoint Presentation</vt:lpstr>
      <vt:lpstr>Working of Min-Max Algorithm </vt:lpstr>
      <vt:lpstr>PowerPoint Presentation</vt:lpstr>
      <vt:lpstr>PowerPoint Presentation</vt:lpstr>
      <vt:lpstr>PowerPoint Presentation</vt:lpstr>
      <vt:lpstr>PowerPoint Presentation</vt:lpstr>
      <vt:lpstr>Advantages of Mini-Max algorithm </vt:lpstr>
      <vt:lpstr>Disadvantages of Mini-Max algorithm</vt:lpstr>
      <vt:lpstr>AlphaBeta Algorithm</vt:lpstr>
      <vt:lpstr>PowerPoint Presentation</vt:lpstr>
      <vt:lpstr>Key points about alpha-beta pruning </vt:lpstr>
      <vt:lpstr>PowerPoint Presentation</vt:lpstr>
      <vt:lpstr>PowerPoint Presentation</vt:lpstr>
      <vt:lpstr>PowerPoint Presentation</vt:lpstr>
      <vt:lpstr>PowerPoint Presentation</vt:lpstr>
      <vt:lpstr>PowerPoint Presentation</vt:lpstr>
      <vt:lpstr>PowerPoint Presentation</vt:lpstr>
      <vt:lpstr>Rules to find good ordering: </vt:lpstr>
      <vt:lpstr>PowerPoint Presentation</vt:lpstr>
      <vt:lpstr>PowerPoint Presentation</vt:lpstr>
      <vt:lpstr>PowerPoint Presentation</vt:lpstr>
      <vt:lpstr>Advantages and limitations of search algorithms in AI </vt:lpstr>
      <vt:lpstr>AI search algorithm limitations </vt:lpstr>
      <vt:lpstr>Applications of search algorithms in AI </vt:lpstr>
      <vt:lpstr>Chess, Go and Backgammon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MORE ON A* ALGORITHM AND GAME PLAYING</dc:title>
  <dc:creator>Sowmiya</dc:creator>
  <cp:lastModifiedBy>Sowmya M</cp:lastModifiedBy>
  <cp:revision>36</cp:revision>
  <dcterms:created xsi:type="dcterms:W3CDTF">2024-05-29T08:19:36Z</dcterms:created>
  <dcterms:modified xsi:type="dcterms:W3CDTF">2026-03-25T04:30:26Z</dcterms:modified>
</cp:coreProperties>
</file>