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259" r:id="rId3"/>
    <p:sldId id="270" r:id="rId4"/>
    <p:sldId id="257" r:id="rId5"/>
    <p:sldId id="263" r:id="rId6"/>
    <p:sldId id="264" r:id="rId7"/>
    <p:sldId id="260" r:id="rId8"/>
    <p:sldId id="265" r:id="rId9"/>
    <p:sldId id="266" r:id="rId10"/>
    <p:sldId id="267" r:id="rId11"/>
    <p:sldId id="268" r:id="rId12"/>
    <p:sldId id="276" r:id="rId13"/>
    <p:sldId id="258" r:id="rId14"/>
    <p:sldId id="275" r:id="rId15"/>
    <p:sldId id="261" r:id="rId16"/>
    <p:sldId id="271" r:id="rId17"/>
    <p:sldId id="272" r:id="rId18"/>
    <p:sldId id="273" r:id="rId19"/>
    <p:sldId id="274" r:id="rId20"/>
    <p:sldId id="277" r:id="rId21"/>
    <p:sldId id="282" r:id="rId22"/>
    <p:sldId id="286" r:id="rId23"/>
    <p:sldId id="283" r:id="rId24"/>
    <p:sldId id="284" r:id="rId25"/>
    <p:sldId id="285" r:id="rId26"/>
    <p:sldId id="287" r:id="rId27"/>
    <p:sldId id="288" r:id="rId28"/>
    <p:sldId id="278" r:id="rId29"/>
    <p:sldId id="279" r:id="rId30"/>
    <p:sldId id="280" r:id="rId31"/>
    <p:sldId id="281" r:id="rId32"/>
    <p:sldId id="289" r:id="rId33"/>
    <p:sldId id="290" r:id="rId34"/>
    <p:sldId id="292" r:id="rId35"/>
    <p:sldId id="293" r:id="rId36"/>
    <p:sldId id="294" r:id="rId37"/>
    <p:sldId id="295" r:id="rId38"/>
    <p:sldId id="296" r:id="rId39"/>
    <p:sldId id="299" r:id="rId40"/>
    <p:sldId id="298" r:id="rId41"/>
    <p:sldId id="300" r:id="rId42"/>
    <p:sldId id="301" r:id="rId43"/>
    <p:sldId id="302" r:id="rId44"/>
    <p:sldId id="303" r:id="rId45"/>
    <p:sldId id="304" r:id="rId46"/>
    <p:sldId id="291" r:id="rId47"/>
    <p:sldId id="305" r:id="rId48"/>
    <p:sldId id="306" r:id="rId49"/>
    <p:sldId id="307" r:id="rId50"/>
    <p:sldId id="308" r:id="rId51"/>
    <p:sldId id="309" r:id="rId52"/>
    <p:sldId id="310" r:id="rId53"/>
    <p:sldId id="311" r:id="rId54"/>
    <p:sldId id="312" r:id="rId55"/>
    <p:sldId id="317" r:id="rId56"/>
    <p:sldId id="318" r:id="rId57"/>
    <p:sldId id="319" r:id="rId58"/>
    <p:sldId id="320" r:id="rId59"/>
    <p:sldId id="325" r:id="rId60"/>
    <p:sldId id="326" r:id="rId61"/>
    <p:sldId id="324" r:id="rId62"/>
    <p:sldId id="323" r:id="rId63"/>
    <p:sldId id="322" r:id="rId64"/>
    <p:sldId id="321" r:id="rId65"/>
    <p:sldId id="329" r:id="rId66"/>
    <p:sldId id="328" r:id="rId67"/>
    <p:sldId id="327" r:id="rId68"/>
    <p:sldId id="316" r:id="rId69"/>
    <p:sldId id="330" r:id="rId70"/>
    <p:sldId id="331" r:id="rId71"/>
    <p:sldId id="332" r:id="rId72"/>
    <p:sldId id="342" r:id="rId73"/>
    <p:sldId id="343" r:id="rId74"/>
    <p:sldId id="344" r:id="rId75"/>
    <p:sldId id="345" r:id="rId76"/>
    <p:sldId id="346" r:id="rId77"/>
    <p:sldId id="347" r:id="rId78"/>
    <p:sldId id="348" r:id="rId79"/>
    <p:sldId id="349" r:id="rId80"/>
    <p:sldId id="341" r:id="rId81"/>
    <p:sldId id="337" r:id="rId82"/>
    <p:sldId id="314" r:id="rId83"/>
    <p:sldId id="315" r:id="rId84"/>
    <p:sldId id="335" r:id="rId85"/>
    <p:sldId id="333" r:id="rId86"/>
    <p:sldId id="334" r:id="rId87"/>
    <p:sldId id="336" r:id="rId88"/>
    <p:sldId id="340" r:id="rId89"/>
    <p:sldId id="313"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59" autoAdjust="0"/>
    <p:restoredTop sz="94660"/>
  </p:normalViewPr>
  <p:slideViewPr>
    <p:cSldViewPr snapToGrid="0">
      <p:cViewPr varScale="1">
        <p:scale>
          <a:sx n="69" d="100"/>
          <a:sy n="69" d="100"/>
        </p:scale>
        <p:origin x="7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DDCF7-5AEB-4C2F-A1E1-1E33618D4C1E}" type="datetimeFigureOut">
              <a:rPr lang="en-US" smtClean="0"/>
              <a:t>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7675AA-A335-4A2E-8F39-B42746EAEC9E}" type="slidenum">
              <a:rPr lang="en-US" smtClean="0"/>
              <a:t>‹#›</a:t>
            </a:fld>
            <a:endParaRPr lang="en-US"/>
          </a:p>
        </p:txBody>
      </p:sp>
    </p:spTree>
    <p:extLst>
      <p:ext uri="{BB962C8B-B14F-4D97-AF65-F5344CB8AC3E}">
        <p14:creationId xmlns:p14="http://schemas.microsoft.com/office/powerpoint/2010/main" val="134380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7675AA-A335-4A2E-8F39-B42746EAEC9E}" type="slidenum">
              <a:rPr lang="en-US" smtClean="0"/>
              <a:t>45</a:t>
            </a:fld>
            <a:endParaRPr lang="en-US"/>
          </a:p>
        </p:txBody>
      </p:sp>
    </p:spTree>
    <p:extLst>
      <p:ext uri="{BB962C8B-B14F-4D97-AF65-F5344CB8AC3E}">
        <p14:creationId xmlns:p14="http://schemas.microsoft.com/office/powerpoint/2010/main" val="3103250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90405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58149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59DB55-B85D-478B-B91F-E6F55B0F8791}"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765688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59DB55-B85D-478B-B91F-E6F55B0F8791}"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198983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59DB55-B85D-478B-B91F-E6F55B0F8791}" type="datetimeFigureOut">
              <a:rPr lang="en-US" smtClean="0"/>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99866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59DB55-B85D-478B-B91F-E6F55B0F8791}" type="datetimeFigureOut">
              <a:rPr lang="en-US" smtClean="0"/>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32857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9DB55-B85D-478B-B91F-E6F55B0F8791}" type="datetimeFigureOut">
              <a:rPr lang="en-US" smtClean="0"/>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342535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59DB55-B85D-478B-B91F-E6F55B0F8791}"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042555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59DB55-B85D-478B-B91F-E6F55B0F8791}"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27893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1924490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59DB55-B85D-478B-B91F-E6F55B0F8791}"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27107-0633-42AE-A321-6573EAB32EB2}" type="slidenum">
              <a:rPr lang="en-US" smtClean="0"/>
              <a:t>‹#›</a:t>
            </a:fld>
            <a:endParaRPr lang="en-US"/>
          </a:p>
        </p:txBody>
      </p:sp>
    </p:spTree>
    <p:extLst>
      <p:ext uri="{BB962C8B-B14F-4D97-AF65-F5344CB8AC3E}">
        <p14:creationId xmlns:p14="http://schemas.microsoft.com/office/powerpoint/2010/main" val="2656137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9DB55-B85D-478B-B91F-E6F55B0F8791}" type="datetimeFigureOut">
              <a:rPr lang="en-US" smtClean="0"/>
              <a:t>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27107-0633-42AE-A321-6573EAB32EB2}" type="slidenum">
              <a:rPr lang="en-US" smtClean="0"/>
              <a:t>‹#›</a:t>
            </a:fld>
            <a:endParaRPr lang="en-US"/>
          </a:p>
        </p:txBody>
      </p:sp>
    </p:spTree>
    <p:extLst>
      <p:ext uri="{BB962C8B-B14F-4D97-AF65-F5344CB8AC3E}">
        <p14:creationId xmlns:p14="http://schemas.microsoft.com/office/powerpoint/2010/main" val="4111052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Stochastic_process" TargetMode="External"/><Relationship Id="rId2" Type="http://schemas.openxmlformats.org/officeDocument/2006/relationships/hyperlink" Target="https://en.wikipedia.org/wiki/Discrete_time_and_continuous_time"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en.wikipedia.org/wiki/Probability_density_function"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20.wmf"/><Relationship Id="rId5" Type="http://schemas.openxmlformats.org/officeDocument/2006/relationships/oleObject" Target="../embeddings/oleObject2.bin"/><Relationship Id="rId4" Type="http://schemas.openxmlformats.org/officeDocument/2006/relationships/image" Target="../media/image19.wmf"/><Relationship Id="rId9" Type="http://schemas.openxmlformats.org/officeDocument/2006/relationships/image" Target="../media/image1.pn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xml"/><Relationship Id="rId7" Type="http://schemas.openxmlformats.org/officeDocument/2006/relationships/image" Target="../media/image23.w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22.wmf"/><Relationship Id="rId10" Type="http://schemas.openxmlformats.org/officeDocument/2006/relationships/image" Target="../media/image1.png"/><Relationship Id="rId4" Type="http://schemas.openxmlformats.org/officeDocument/2006/relationships/oleObject" Target="../embeddings/oleObject4.bin"/><Relationship Id="rId9" Type="http://schemas.openxmlformats.org/officeDocument/2006/relationships/image" Target="../media/image24.wmf"/></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6.png"/><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0146" y="2036763"/>
            <a:ext cx="9144000" cy="2387600"/>
          </a:xfrm>
        </p:spPr>
        <p:txBody>
          <a:bodyPr/>
          <a:lstStyle/>
          <a:p>
            <a:r>
              <a:rPr lang="en-US" b="1" dirty="0">
                <a:solidFill>
                  <a:srgbClr val="C00000"/>
                </a:solidFill>
                <a:latin typeface="Cambria" panose="02040503050406030204" pitchFamily="18" charset="0"/>
                <a:ea typeface="Cambria" panose="02040503050406030204" pitchFamily="18" charset="0"/>
              </a:rPr>
              <a:t>SEARCH STRATEGIES AND ALGORITHMS</a:t>
            </a:r>
            <a:endParaRPr lang="en-US" dirty="0">
              <a:solidFill>
                <a:srgbClr val="C00000"/>
              </a:solidFill>
              <a:latin typeface="Cambria" panose="02040503050406030204" pitchFamily="18" charset="0"/>
              <a:ea typeface="Cambria" panose="02040503050406030204" pitchFamily="18" charset="0"/>
            </a:endParaRPr>
          </a:p>
        </p:txBody>
      </p:sp>
      <p:pic>
        <p:nvPicPr>
          <p:cNvPr id="3" name="Picture 2"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44" y="22816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686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2060"/>
                </a:solidFill>
                <a:latin typeface="Cambria" panose="02040503050406030204" pitchFamily="18" charset="0"/>
                <a:ea typeface="Cambria" panose="02040503050406030204" pitchFamily="18" charset="0"/>
              </a:rPr>
              <a:t>Escaping Local Optima</a:t>
            </a:r>
          </a:p>
        </p:txBody>
      </p:sp>
      <p:sp>
        <p:nvSpPr>
          <p:cNvPr id="3" name="Content Placeholder 2"/>
          <p:cNvSpPr>
            <a:spLocks noGrp="1"/>
          </p:cNvSpPr>
          <p:nvPr>
            <p:ph idx="1"/>
          </p:nvPr>
        </p:nvSpPr>
        <p:spPr>
          <a:xfrm>
            <a:off x="886691" y="1666629"/>
            <a:ext cx="10681854" cy="4914280"/>
          </a:xfrm>
        </p:spPr>
        <p:txBody>
          <a:bodyPr>
            <a:normAutofit/>
          </a:bodyPr>
          <a:lstStyle/>
          <a:p>
            <a:pPr marL="0" indent="0">
              <a:buNone/>
            </a:pPr>
            <a:r>
              <a:rPr lang="en-US" dirty="0" smtClean="0">
                <a:solidFill>
                  <a:srgbClr val="002060"/>
                </a:solidFill>
                <a:latin typeface="Cambria" panose="02040503050406030204" pitchFamily="18" charset="0"/>
                <a:ea typeface="Cambria" panose="02040503050406030204" pitchFamily="18" charset="0"/>
              </a:rPr>
              <a:t>Given that</a:t>
            </a:r>
          </a:p>
          <a:p>
            <a:pPr marL="0" indent="0">
              <a:buNone/>
            </a:pPr>
            <a:r>
              <a:rPr lang="en-US" dirty="0">
                <a:solidFill>
                  <a:srgbClr val="002060"/>
                </a:solidFill>
                <a:latin typeface="Cambria" panose="02040503050406030204" pitchFamily="18" charset="0"/>
                <a:ea typeface="Cambria" panose="02040503050406030204" pitchFamily="18" charset="0"/>
              </a:rPr>
              <a:t>	</a:t>
            </a:r>
            <a:r>
              <a:rPr lang="en-US" dirty="0" smtClean="0">
                <a:solidFill>
                  <a:srgbClr val="002060"/>
                </a:solidFill>
                <a:latin typeface="Cambria" panose="02040503050406030204" pitchFamily="18" charset="0"/>
                <a:ea typeface="Cambria" panose="02040503050406030204" pitchFamily="18" charset="0"/>
              </a:rPr>
              <a:t>It is difficult to define heuristic functions that are </a:t>
            </a:r>
          </a:p>
          <a:p>
            <a:pPr marL="0" indent="0">
              <a:buNone/>
            </a:pPr>
            <a:r>
              <a:rPr lang="en-US" dirty="0">
                <a:solidFill>
                  <a:srgbClr val="002060"/>
                </a:solidFill>
                <a:latin typeface="Cambria" panose="02040503050406030204" pitchFamily="18" charset="0"/>
                <a:ea typeface="Cambria" panose="02040503050406030204" pitchFamily="18" charset="0"/>
              </a:rPr>
              <a:t> </a:t>
            </a:r>
            <a:r>
              <a:rPr lang="en-US" dirty="0" smtClean="0">
                <a:solidFill>
                  <a:srgbClr val="002060"/>
                </a:solidFill>
                <a:latin typeface="Cambria" panose="02040503050406030204" pitchFamily="18" charset="0"/>
                <a:ea typeface="Cambria" panose="02040503050406030204" pitchFamily="18" charset="0"/>
              </a:rPr>
              <a:t>          monotonic and well behaved</a:t>
            </a:r>
          </a:p>
          <a:p>
            <a:pPr marL="0" indent="0">
              <a:buNone/>
            </a:pPr>
            <a:r>
              <a:rPr lang="en-US" dirty="0" smtClean="0">
                <a:solidFill>
                  <a:srgbClr val="002060"/>
                </a:solidFill>
                <a:latin typeface="Cambria" panose="02040503050406030204" pitchFamily="18" charset="0"/>
                <a:ea typeface="Cambria" panose="02040503050406030204" pitchFamily="18" charset="0"/>
              </a:rPr>
              <a:t>The alternative is</a:t>
            </a:r>
          </a:p>
          <a:p>
            <a:pPr marL="0" indent="0">
              <a:buNone/>
            </a:pPr>
            <a:r>
              <a:rPr lang="en-US" dirty="0">
                <a:solidFill>
                  <a:srgbClr val="002060"/>
                </a:solidFill>
                <a:latin typeface="Cambria" panose="02040503050406030204" pitchFamily="18" charset="0"/>
                <a:ea typeface="Cambria" panose="02040503050406030204" pitchFamily="18" charset="0"/>
              </a:rPr>
              <a:t>	</a:t>
            </a:r>
            <a:r>
              <a:rPr lang="en-US" dirty="0" smtClean="0">
                <a:solidFill>
                  <a:srgbClr val="002060"/>
                </a:solidFill>
                <a:latin typeface="Cambria" panose="02040503050406030204" pitchFamily="18" charset="0"/>
                <a:ea typeface="Cambria" panose="02040503050406030204" pitchFamily="18" charset="0"/>
              </a:rPr>
              <a:t>to look for algorithms that can do better than Hill climbing</a:t>
            </a:r>
          </a:p>
          <a:p>
            <a:pPr marL="0" indent="0">
              <a:buNone/>
            </a:pPr>
            <a:r>
              <a:rPr lang="en-US" dirty="0" smtClean="0">
                <a:solidFill>
                  <a:srgbClr val="002060"/>
                </a:solidFill>
                <a:latin typeface="Cambria" panose="02040503050406030204" pitchFamily="18" charset="0"/>
                <a:ea typeface="Cambria" panose="02040503050406030204" pitchFamily="18" charset="0"/>
              </a:rPr>
              <a:t>We look at another deterministic method next,</a:t>
            </a:r>
          </a:p>
          <a:p>
            <a:pPr marL="0" indent="0">
              <a:buNone/>
            </a:pPr>
            <a:r>
              <a:rPr lang="en-US" dirty="0">
                <a:solidFill>
                  <a:srgbClr val="002060"/>
                </a:solidFill>
                <a:latin typeface="Cambria" panose="02040503050406030204" pitchFamily="18" charset="0"/>
                <a:ea typeface="Cambria" panose="02040503050406030204" pitchFamily="18" charset="0"/>
              </a:rPr>
              <a:t>	</a:t>
            </a:r>
            <a:r>
              <a:rPr lang="en-US" dirty="0" smtClean="0">
                <a:solidFill>
                  <a:srgbClr val="002060"/>
                </a:solidFill>
                <a:latin typeface="Cambria" panose="02040503050406030204" pitchFamily="18" charset="0"/>
                <a:ea typeface="Cambria" panose="02040503050406030204" pitchFamily="18" charset="0"/>
              </a:rPr>
              <a:t>and will look at randomized methods later</a:t>
            </a:r>
          </a:p>
          <a:p>
            <a:pPr marL="0" indent="0">
              <a:buNone/>
            </a:pPr>
            <a:r>
              <a:rPr lang="en-US" dirty="0" smtClean="0">
                <a:solidFill>
                  <a:srgbClr val="002060"/>
                </a:solidFill>
                <a:latin typeface="Cambria" panose="02040503050406030204" pitchFamily="18" charset="0"/>
                <a:ea typeface="Cambria" panose="02040503050406030204" pitchFamily="18" charset="0"/>
              </a:rPr>
              <a:t>First we look at searching in</a:t>
            </a:r>
          </a:p>
          <a:p>
            <a:pPr marL="0" indent="0">
              <a:buNone/>
            </a:pPr>
            <a:r>
              <a:rPr lang="en-US" dirty="0">
                <a:solidFill>
                  <a:srgbClr val="002060"/>
                </a:solidFill>
                <a:latin typeface="Cambria" panose="02040503050406030204" pitchFamily="18" charset="0"/>
                <a:ea typeface="Cambria" panose="02040503050406030204" pitchFamily="18" charset="0"/>
              </a:rPr>
              <a:t>	</a:t>
            </a:r>
            <a:r>
              <a:rPr lang="en-US" dirty="0" smtClean="0">
                <a:solidFill>
                  <a:srgbClr val="002060"/>
                </a:solidFill>
                <a:latin typeface="Cambria" panose="02040503050406030204" pitchFamily="18" charset="0"/>
                <a:ea typeface="Cambria" panose="02040503050406030204" pitchFamily="18" charset="0"/>
              </a:rPr>
              <a:t>the solution space or plan space</a:t>
            </a:r>
          </a:p>
          <a:p>
            <a:pPr marL="0" indent="0">
              <a:buNone/>
            </a:pP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80" y="200458"/>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99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State-space Diagram for Hill Climbing</a:t>
            </a:r>
            <a:br>
              <a:rPr lang="en-US" dirty="0"/>
            </a:br>
            <a:endParaRPr lang="en-US" dirty="0"/>
          </a:p>
        </p:txBody>
      </p:sp>
      <p:pic>
        <p:nvPicPr>
          <p:cNvPr id="3" name="Picture 2"/>
          <p:cNvPicPr>
            <a:picLocks noChangeAspect="1"/>
          </p:cNvPicPr>
          <p:nvPr/>
        </p:nvPicPr>
        <p:blipFill>
          <a:blip r:embed="rId2"/>
          <a:stretch>
            <a:fillRect/>
          </a:stretch>
        </p:blipFill>
        <p:spPr>
          <a:xfrm>
            <a:off x="2497899" y="1432012"/>
            <a:ext cx="6607386" cy="4204700"/>
          </a:xfrm>
          <a:prstGeom prst="rect">
            <a:avLst/>
          </a:prstGeom>
        </p:spPr>
      </p:pic>
      <p:pic>
        <p:nvPicPr>
          <p:cNvPr id="4" name="Picture 3"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4312"/>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088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a:solidFill>
                  <a:srgbClr val="002060"/>
                </a:solidFill>
                <a:latin typeface="Cambria" panose="02040503050406030204" pitchFamily="18" charset="0"/>
                <a:ea typeface="Cambria" panose="02040503050406030204" pitchFamily="18" charset="0"/>
              </a:rPr>
              <a:t>Random Walk Algorithm</a:t>
            </a:r>
          </a:p>
        </p:txBody>
      </p:sp>
      <p:sp>
        <p:nvSpPr>
          <p:cNvPr id="3" name="Content Placeholder 2"/>
          <p:cNvSpPr>
            <a:spLocks noGrp="1"/>
          </p:cNvSpPr>
          <p:nvPr>
            <p:ph idx="1"/>
          </p:nvPr>
        </p:nvSpPr>
        <p:spPr>
          <a:xfrm>
            <a:off x="706582" y="1063625"/>
            <a:ext cx="10647218" cy="5060084"/>
          </a:xfrm>
        </p:spPr>
        <p:txBody>
          <a:bodyPr>
            <a:normAutofit fontScale="92500"/>
          </a:bodyPr>
          <a:lstStyle/>
          <a:p>
            <a:pPr algn="just"/>
            <a:r>
              <a:rPr lang="en-US" dirty="0">
                <a:solidFill>
                  <a:srgbClr val="002060"/>
                </a:solidFill>
                <a:latin typeface="Cambria" panose="02040503050406030204" pitchFamily="18" charset="0"/>
                <a:ea typeface="Cambria" panose="02040503050406030204" pitchFamily="18" charset="0"/>
              </a:rPr>
              <a:t>A random walk can be defined as a series of </a:t>
            </a:r>
            <a:r>
              <a:rPr lang="en-US" dirty="0">
                <a:solidFill>
                  <a:srgbClr val="002060"/>
                </a:solidFill>
                <a:latin typeface="Cambria" panose="02040503050406030204" pitchFamily="18" charset="0"/>
                <a:ea typeface="Cambria" panose="02040503050406030204" pitchFamily="18" charset="0"/>
                <a:hlinkClick r:id="rId2"/>
              </a:rPr>
              <a:t>discrete steps</a:t>
            </a:r>
            <a:r>
              <a:rPr lang="en-US" dirty="0">
                <a:solidFill>
                  <a:srgbClr val="002060"/>
                </a:solidFill>
                <a:latin typeface="Cambria" panose="02040503050406030204" pitchFamily="18" charset="0"/>
                <a:ea typeface="Cambria" panose="02040503050406030204" pitchFamily="18" charset="0"/>
              </a:rPr>
              <a:t> an object takes in some direction. Moreover, we determine the direction and movement of the object in each step probabilistically. In mathematics and probability theory, a random work is a </a:t>
            </a:r>
            <a:r>
              <a:rPr lang="en-US" dirty="0">
                <a:solidFill>
                  <a:srgbClr val="002060"/>
                </a:solidFill>
                <a:latin typeface="Cambria" panose="02040503050406030204" pitchFamily="18" charset="0"/>
                <a:ea typeface="Cambria" panose="02040503050406030204" pitchFamily="18" charset="0"/>
                <a:hlinkClick r:id="rId3"/>
              </a:rPr>
              <a:t>random process</a:t>
            </a:r>
            <a:r>
              <a:rPr lang="en-US" dirty="0" smtClean="0">
                <a:solidFill>
                  <a:srgbClr val="002060"/>
                </a:solidFill>
                <a:latin typeface="Cambria" panose="02040503050406030204" pitchFamily="18" charset="0"/>
                <a:ea typeface="Cambria" panose="02040503050406030204" pitchFamily="18" charset="0"/>
              </a:rPr>
              <a:t>.</a:t>
            </a:r>
          </a:p>
          <a:p>
            <a:pPr algn="just"/>
            <a:r>
              <a:rPr lang="en-US" dirty="0">
                <a:solidFill>
                  <a:srgbClr val="002060"/>
                </a:solidFill>
                <a:latin typeface="Cambria" panose="02040503050406030204" pitchFamily="18" charset="0"/>
                <a:ea typeface="Cambria" panose="02040503050406030204" pitchFamily="18" charset="0"/>
              </a:rPr>
              <a:t>In a random walk, the future position is entirely independent of the current position of an object</a:t>
            </a:r>
          </a:p>
          <a:p>
            <a:pPr algn="just"/>
            <a:r>
              <a:rPr lang="en-US" dirty="0">
                <a:solidFill>
                  <a:srgbClr val="002060"/>
                </a:solidFill>
                <a:latin typeface="Cambria" panose="02040503050406030204" pitchFamily="18" charset="0"/>
                <a:ea typeface="Cambria" panose="02040503050406030204" pitchFamily="18" charset="0"/>
              </a:rPr>
              <a:t>Starting from a position, the object can go in any direction. Each step taken by the object in any direction has a probability associated with it. Hence, the final position is completely independent of the point of </a:t>
            </a:r>
            <a:r>
              <a:rPr lang="en-US" dirty="0" smtClean="0">
                <a:solidFill>
                  <a:srgbClr val="002060"/>
                </a:solidFill>
                <a:latin typeface="Cambria" panose="02040503050406030204" pitchFamily="18" charset="0"/>
                <a:ea typeface="Cambria" panose="02040503050406030204" pitchFamily="18" charset="0"/>
              </a:rPr>
              <a:t>origin</a:t>
            </a:r>
          </a:p>
          <a:p>
            <a:pPr algn="just"/>
            <a:r>
              <a:rPr lang="en-US" dirty="0" smtClean="0">
                <a:solidFill>
                  <a:srgbClr val="002060"/>
                </a:solidFill>
                <a:latin typeface="Cambria" panose="02040503050406030204" pitchFamily="18" charset="0"/>
                <a:ea typeface="Cambria" panose="02040503050406030204" pitchFamily="18" charset="0"/>
              </a:rPr>
              <a:t>The significant </a:t>
            </a:r>
            <a:r>
              <a:rPr lang="en-US" dirty="0">
                <a:solidFill>
                  <a:srgbClr val="002060"/>
                </a:solidFill>
                <a:latin typeface="Cambria" panose="02040503050406030204" pitchFamily="18" charset="0"/>
                <a:ea typeface="Cambria" panose="02040503050406030204" pitchFamily="18" charset="0"/>
              </a:rPr>
              <a:t>problem is finding a </a:t>
            </a:r>
            <a:r>
              <a:rPr lang="en-US" dirty="0">
                <a:solidFill>
                  <a:srgbClr val="002060"/>
                </a:solidFill>
                <a:latin typeface="Cambria" panose="02040503050406030204" pitchFamily="18" charset="0"/>
                <a:ea typeface="Cambria" panose="02040503050406030204" pitchFamily="18" charset="0"/>
                <a:hlinkClick r:id="rId4"/>
              </a:rPr>
              <a:t>probability distribution function</a:t>
            </a:r>
            <a:r>
              <a:rPr lang="en-US" dirty="0">
                <a:solidFill>
                  <a:srgbClr val="002060"/>
                </a:solidFill>
                <a:latin typeface="Cambria" panose="02040503050406030204" pitchFamily="18" charset="0"/>
                <a:ea typeface="Cambria" panose="02040503050406030204" pitchFamily="18" charset="0"/>
              </a:rPr>
              <a:t> that can estimate the probability of the current position of an object after taking a random walk for a fixed amount of time.</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 y="212725"/>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44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073" y="897370"/>
            <a:ext cx="10515600" cy="4351338"/>
          </a:xfrm>
        </p:spPr>
        <p:txBody>
          <a:bodyPr/>
          <a:lstStyle/>
          <a:p>
            <a:pPr marL="0" indent="0" algn="just">
              <a:buNone/>
            </a:pPr>
            <a:r>
              <a:rPr lang="en-US" dirty="0" smtClean="0">
                <a:solidFill>
                  <a:srgbClr val="002060"/>
                </a:solidFill>
                <a:latin typeface="Cambria" panose="02040503050406030204" pitchFamily="18" charset="0"/>
                <a:ea typeface="Cambria" panose="02040503050406030204" pitchFamily="18" charset="0"/>
              </a:rPr>
              <a:t>Consider the effect of random search moves. </a:t>
            </a:r>
          </a:p>
          <a:p>
            <a:pPr marL="0" indent="0" algn="just">
              <a:buNone/>
            </a:pPr>
            <a:r>
              <a:rPr lang="en-US" dirty="0" smtClean="0">
                <a:solidFill>
                  <a:srgbClr val="002060"/>
                </a:solidFill>
                <a:latin typeface="Cambria" panose="02040503050406030204" pitchFamily="18" charset="0"/>
                <a:ea typeface="Cambria" panose="02040503050406030204" pitchFamily="18" charset="0"/>
              </a:rPr>
              <a:t>• The consequence is that even from the same starting point, the search may proceed differently for different runs of the algorithm. </a:t>
            </a:r>
          </a:p>
          <a:p>
            <a:pPr marL="0" indent="0" algn="just">
              <a:buNone/>
            </a:pPr>
            <a:r>
              <a:rPr lang="en-US" dirty="0" smtClean="0">
                <a:solidFill>
                  <a:srgbClr val="002060"/>
                </a:solidFill>
                <a:latin typeface="Cambria" panose="02040503050406030204" pitchFamily="18" charset="0"/>
                <a:ea typeface="Cambria" panose="02040503050406030204" pitchFamily="18" charset="0"/>
              </a:rPr>
              <a:t>• A completely random procedure is the Random Walk in which the search process makes random moves in the search space in complete disregard of the gradient</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144" y="259195"/>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999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98871"/>
            <a:ext cx="10515600" cy="1325563"/>
          </a:xfrm>
        </p:spPr>
        <p:txBody>
          <a:bodyPr/>
          <a:lstStyle/>
          <a:p>
            <a:pPr algn="ctr"/>
            <a:r>
              <a:rPr lang="en-US" dirty="0" smtClean="0"/>
              <a:t>Algorithm</a:t>
            </a:r>
            <a:endParaRPr lang="en-US" dirty="0"/>
          </a:p>
        </p:txBody>
      </p:sp>
      <p:pic>
        <p:nvPicPr>
          <p:cNvPr id="4" name="Picture 3"/>
          <p:cNvPicPr>
            <a:picLocks noChangeAspect="1"/>
          </p:cNvPicPr>
          <p:nvPr/>
        </p:nvPicPr>
        <p:blipFill>
          <a:blip r:embed="rId2"/>
          <a:stretch>
            <a:fillRect/>
          </a:stretch>
        </p:blipFill>
        <p:spPr>
          <a:xfrm>
            <a:off x="838199" y="1232745"/>
            <a:ext cx="10314709" cy="4964756"/>
          </a:xfrm>
          <a:prstGeom prst="rect">
            <a:avLst/>
          </a:prstGeom>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755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4073"/>
            <a:ext cx="10515600" cy="1325563"/>
          </a:xfrm>
        </p:spPr>
        <p:txBody>
          <a:bodyPr>
            <a:normAutofit fontScale="90000"/>
          </a:bodyPr>
          <a:lstStyle/>
          <a:p>
            <a:pPr algn="ctr"/>
            <a:r>
              <a:rPr lang="en-US" dirty="0" smtClean="0">
                <a:latin typeface="Cambria" panose="02040503050406030204" pitchFamily="18" charset="0"/>
                <a:ea typeface="Cambria" panose="02040503050406030204" pitchFamily="18" charset="0"/>
              </a:rPr>
              <a:t/>
            </a:r>
            <a:br>
              <a:rPr lang="en-US" dirty="0" smtClean="0">
                <a:latin typeface="Cambria" panose="02040503050406030204" pitchFamily="18" charset="0"/>
                <a:ea typeface="Cambria" panose="02040503050406030204" pitchFamily="18" charset="0"/>
              </a:rPr>
            </a:br>
            <a:r>
              <a:rPr lang="en-US" dirty="0" smtClean="0">
                <a:solidFill>
                  <a:srgbClr val="002060"/>
                </a:solidFill>
                <a:latin typeface="Cambria" panose="02040503050406030204" pitchFamily="18" charset="0"/>
                <a:ea typeface="Cambria" panose="02040503050406030204" pitchFamily="18" charset="0"/>
              </a:rPr>
              <a:t>About Simulated Annealing Algorithm</a:t>
            </a:r>
            <a:br>
              <a:rPr lang="en-US" dirty="0" smtClean="0">
                <a:solidFill>
                  <a:srgbClr val="002060"/>
                </a:solidFill>
                <a:latin typeface="Cambria" panose="02040503050406030204" pitchFamily="18" charset="0"/>
                <a:ea typeface="Cambria" panose="02040503050406030204" pitchFamily="18" charset="0"/>
              </a:rPr>
            </a:br>
            <a:endParaRPr lang="en-US"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09600" y="1921308"/>
            <a:ext cx="10744200" cy="4936692"/>
          </a:xfrm>
        </p:spPr>
        <p:txBody>
          <a:bodyPr/>
          <a:lstStyle/>
          <a:p>
            <a:pPr algn="just"/>
            <a:r>
              <a:rPr lang="en-US" dirty="0" smtClean="0">
                <a:solidFill>
                  <a:srgbClr val="002060"/>
                </a:solidFill>
                <a:latin typeface="Cambria" panose="02040503050406030204" pitchFamily="18" charset="0"/>
                <a:ea typeface="Cambria" panose="02040503050406030204" pitchFamily="18" charset="0"/>
              </a:rPr>
              <a:t>A hill-climbing algorithm that never makes downhill moves towards states with lower value(or higher cost) is guaranteed to be incomplete, because it can get stuck on a local maximum. </a:t>
            </a:r>
          </a:p>
          <a:p>
            <a:pPr algn="just"/>
            <a:r>
              <a:rPr lang="en-US" dirty="0" smtClean="0">
                <a:solidFill>
                  <a:srgbClr val="002060"/>
                </a:solidFill>
                <a:latin typeface="Cambria" panose="02040503050406030204" pitchFamily="18" charset="0"/>
                <a:ea typeface="Cambria" panose="02040503050406030204" pitchFamily="18" charset="0"/>
              </a:rPr>
              <a:t>In contrast, a purely random walk-that is moving to a successor chosen uniformly at randomly from the set of successors-is complete, but extremely inefficient. </a:t>
            </a:r>
          </a:p>
          <a:p>
            <a:pPr algn="just"/>
            <a:r>
              <a:rPr lang="en-US" dirty="0" smtClean="0">
                <a:solidFill>
                  <a:srgbClr val="002060"/>
                </a:solidFill>
                <a:latin typeface="Cambria" panose="02040503050406030204" pitchFamily="18" charset="0"/>
                <a:ea typeface="Cambria" panose="02040503050406030204" pitchFamily="18" charset="0"/>
              </a:rPr>
              <a:t>Therefore, it is necessary to combine Hill Climbing and Random Walk to achieve both completeness and efficiency. Simulated annealing is such an algorithm. </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231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002060"/>
                </a:solidFill>
                <a:latin typeface="Cambria" panose="02040503050406030204" pitchFamily="18" charset="0"/>
                <a:ea typeface="Cambria" panose="02040503050406030204" pitchFamily="18" charset="0"/>
              </a:rPr>
              <a:t>Simulated Annealing</a:t>
            </a:r>
            <a:endParaRPr lang="en-US" dirty="0">
              <a:solidFill>
                <a:srgbClr val="002060"/>
              </a:solidFill>
            </a:endParaRPr>
          </a:p>
        </p:txBody>
      </p:sp>
      <p:sp>
        <p:nvSpPr>
          <p:cNvPr id="3" name="Content Placeholder 2"/>
          <p:cNvSpPr>
            <a:spLocks noGrp="1"/>
          </p:cNvSpPr>
          <p:nvPr>
            <p:ph idx="1"/>
          </p:nvPr>
        </p:nvSpPr>
        <p:spPr/>
        <p:txBody>
          <a:bodyPr/>
          <a:lstStyle/>
          <a:p>
            <a:pPr marL="0" indent="0" algn="just">
              <a:buNone/>
            </a:pPr>
            <a:r>
              <a:rPr lang="en-US" dirty="0" smtClean="0">
                <a:solidFill>
                  <a:srgbClr val="002060"/>
                </a:solidFill>
                <a:latin typeface="Cambria" panose="02040503050406030204" pitchFamily="18" charset="0"/>
                <a:ea typeface="Cambria" panose="02040503050406030204" pitchFamily="18" charset="0"/>
              </a:rPr>
              <a:t>In metallurgy, annealing is the process used to temper or harden metals and glass by heating them to a high temperature and then gradually cooling them, thus allowing the material to merge into a low-energy crystalline state</a:t>
            </a: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240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4" y="1122218"/>
            <a:ext cx="10605655" cy="5375564"/>
          </a:xfrm>
        </p:spPr>
        <p:txBody>
          <a:bodyPr>
            <a:normAutofit fontScale="92500" lnSpcReduction="10000"/>
          </a:bodyPr>
          <a:lstStyle/>
          <a:p>
            <a:pPr algn="just"/>
            <a:r>
              <a:rPr lang="en-US" sz="3200" dirty="0" smtClean="0">
                <a:solidFill>
                  <a:srgbClr val="002060"/>
                </a:solidFill>
                <a:latin typeface="Cambria" panose="02040503050406030204" pitchFamily="18" charset="0"/>
                <a:ea typeface="Cambria" panose="02040503050406030204" pitchFamily="18" charset="0"/>
              </a:rPr>
              <a:t>Simulated Annealing is an algorithm that combines the two tendencies, explorative and exploitative, of the two search methods (Hill Climbing and Random Walk).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 The algorithm makes a probabilistic move in a random direction.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 The probability of making the move is proportional to the gain of the value made by the move</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Physically gain is associated with energy2 and </a:t>
            </a:r>
            <a:r>
              <a:rPr lang="en-US" sz="3200" dirty="0" err="1" smtClean="0">
                <a:solidFill>
                  <a:srgbClr val="002060"/>
                </a:solidFill>
                <a:latin typeface="Cambria" panose="02040503050406030204" pitchFamily="18" charset="0"/>
                <a:ea typeface="Cambria" panose="02040503050406030204" pitchFamily="18" charset="0"/>
              </a:rPr>
              <a:t>deltaE</a:t>
            </a:r>
            <a:r>
              <a:rPr lang="en-US" sz="3200" dirty="0" smtClean="0">
                <a:solidFill>
                  <a:srgbClr val="002060"/>
                </a:solidFill>
                <a:latin typeface="Cambria" panose="02040503050406030204" pitchFamily="18" charset="0"/>
                <a:ea typeface="Cambria" panose="02040503050406030204" pitchFamily="18" charset="0"/>
              </a:rPr>
              <a:t> represents the change in the evaluation value.</a:t>
            </a:r>
            <a:endParaRPr lang="en-US" sz="32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501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436" y="1299152"/>
            <a:ext cx="10577945" cy="4782993"/>
          </a:xfrm>
        </p:spPr>
        <p:txBody>
          <a:bodyPr>
            <a:normAutofit/>
          </a:bodyPr>
          <a:lstStyle/>
          <a:p>
            <a:pPr algn="just"/>
            <a:r>
              <a:rPr lang="en-US" sz="3200" dirty="0" smtClean="0">
                <a:solidFill>
                  <a:srgbClr val="002060"/>
                </a:solidFill>
                <a:latin typeface="Cambria" panose="02040503050406030204" pitchFamily="18" charset="0"/>
                <a:ea typeface="Cambria" panose="02040503050406030204" pitchFamily="18" charset="0"/>
              </a:rPr>
              <a:t>The larger the gain, the larger is the probability of making the move</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The algorithm will make a move even for negative gain moves with nonzero probability </a:t>
            </a:r>
          </a:p>
          <a:p>
            <a:pPr algn="just"/>
            <a:endParaRPr lang="en-US" sz="3200" dirty="0" smtClean="0">
              <a:solidFill>
                <a:srgbClr val="002060"/>
              </a:solidFill>
              <a:latin typeface="Cambria" panose="02040503050406030204" pitchFamily="18" charset="0"/>
              <a:ea typeface="Cambria" panose="02040503050406030204" pitchFamily="18" charset="0"/>
            </a:endParaRPr>
          </a:p>
          <a:p>
            <a:pPr algn="just"/>
            <a:r>
              <a:rPr lang="en-US" sz="3200" dirty="0" smtClean="0">
                <a:solidFill>
                  <a:srgbClr val="002060"/>
                </a:solidFill>
                <a:latin typeface="Cambria" panose="02040503050406030204" pitchFamily="18" charset="0"/>
                <a:ea typeface="Cambria" panose="02040503050406030204" pitchFamily="18" charset="0"/>
              </a:rPr>
              <a:t>The algorithm will make a move even for negative gain moves with nonzero probability (even though this probability decreases as the move becomes worse). </a:t>
            </a:r>
            <a:endParaRPr lang="en-US" sz="32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897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5781"/>
            <a:ext cx="10515600" cy="1325563"/>
          </a:xfrm>
        </p:spPr>
        <p:txBody>
          <a:bodyPr/>
          <a:lstStyle/>
          <a:p>
            <a:r>
              <a:rPr lang="en-US" dirty="0" smtClean="0">
                <a:solidFill>
                  <a:srgbClr val="002060"/>
                </a:solidFill>
                <a:latin typeface="Cambria" panose="02040503050406030204" pitchFamily="18" charset="0"/>
                <a:ea typeface="Cambria" panose="02040503050406030204" pitchFamily="18" charset="0"/>
              </a:rPr>
              <a:t>Simulated Annealing</a:t>
            </a:r>
            <a:endParaRPr lang="en-US" dirty="0">
              <a:solidFill>
                <a:srgbClr val="00206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stretch>
            <a:fillRect/>
          </a:stretch>
        </p:blipFill>
        <p:spPr>
          <a:xfrm>
            <a:off x="665018" y="2161310"/>
            <a:ext cx="5872638" cy="3866862"/>
          </a:xfrm>
          <a:prstGeom prst="rect">
            <a:avLst/>
          </a:prstGeom>
        </p:spPr>
      </p:pic>
      <p:sp>
        <p:nvSpPr>
          <p:cNvPr id="5" name="TextBox 4"/>
          <p:cNvSpPr txBox="1"/>
          <p:nvPr/>
        </p:nvSpPr>
        <p:spPr>
          <a:xfrm>
            <a:off x="7197436" y="1367832"/>
            <a:ext cx="4585854" cy="1477328"/>
          </a:xfrm>
          <a:prstGeom prst="rect">
            <a:avLst/>
          </a:prstGeom>
          <a:noFill/>
        </p:spPr>
        <p:txBody>
          <a:bodyPr wrap="square" rtlCol="0">
            <a:spAutoFit/>
          </a:bodyPr>
          <a:lstStyle/>
          <a:p>
            <a:pPr algn="just"/>
            <a:r>
              <a:rPr lang="en-US" dirty="0" smtClean="0">
                <a:solidFill>
                  <a:srgbClr val="002060"/>
                </a:solidFill>
                <a:latin typeface="Cambria" panose="02040503050406030204" pitchFamily="18" charset="0"/>
                <a:ea typeface="Cambria" panose="02040503050406030204" pitchFamily="18" charset="0"/>
              </a:rPr>
              <a:t>To move from A to C, the algorithm has to Incur a smaller loss than to move from B to C. Simulated Annealing Algorithm is more likely to move from A to C to B than vice versa.</a:t>
            </a:r>
            <a:endParaRPr lang="en-US" dirty="0">
              <a:solidFill>
                <a:srgbClr val="002060"/>
              </a:solidFill>
              <a:latin typeface="Cambria" panose="02040503050406030204" pitchFamily="18" charset="0"/>
              <a:ea typeface="Cambria" panose="02040503050406030204" pitchFamily="18" charset="0"/>
            </a:endParaRPr>
          </a:p>
        </p:txBody>
      </p:sp>
      <p:sp>
        <p:nvSpPr>
          <p:cNvPr id="6" name="TextBox 5"/>
          <p:cNvSpPr txBox="1"/>
          <p:nvPr/>
        </p:nvSpPr>
        <p:spPr>
          <a:xfrm>
            <a:off x="7197436" y="3325091"/>
            <a:ext cx="4329546" cy="923330"/>
          </a:xfrm>
          <a:prstGeom prst="rect">
            <a:avLst/>
          </a:prstGeom>
          <a:noFill/>
        </p:spPr>
        <p:txBody>
          <a:bodyPr wrap="square" rtlCol="0">
            <a:spAutoFit/>
          </a:bodyPr>
          <a:lstStyle/>
          <a:p>
            <a:pPr algn="just"/>
            <a:r>
              <a:rPr lang="en-US" dirty="0" smtClean="0">
                <a:solidFill>
                  <a:srgbClr val="002060"/>
                </a:solidFill>
                <a:latin typeface="Cambria" panose="02040503050406030204" pitchFamily="18" charset="0"/>
                <a:ea typeface="Cambria" panose="02040503050406030204" pitchFamily="18" charset="0"/>
              </a:rPr>
              <a:t>Given a series of local maxima, the search, over a period of time, will move towards the better ones. </a:t>
            </a:r>
            <a:endParaRPr lang="en-US" dirty="0">
              <a:solidFill>
                <a:srgbClr val="002060"/>
              </a:solidFill>
              <a:latin typeface="Cambria" panose="02040503050406030204" pitchFamily="18" charset="0"/>
              <a:ea typeface="Cambria" panose="02040503050406030204" pitchFamily="18" charset="0"/>
            </a:endParaRPr>
          </a:p>
        </p:txBody>
      </p:sp>
      <p:pic>
        <p:nvPicPr>
          <p:cNvPr id="7" name="Picture 6"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768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09439" y="817419"/>
            <a:ext cx="11176198" cy="5264726"/>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736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73"/>
            <a:ext cx="10515600" cy="1325563"/>
          </a:xfrm>
        </p:spPr>
        <p:txBody>
          <a:bodyPr/>
          <a:lstStyle/>
          <a:p>
            <a:pPr algn="ctr"/>
            <a:r>
              <a:rPr lang="en-US" dirty="0" smtClean="0">
                <a:solidFill>
                  <a:srgbClr val="002060"/>
                </a:solidFill>
                <a:latin typeface="Cambria" panose="02040503050406030204" pitchFamily="18" charset="0"/>
                <a:ea typeface="Cambria" panose="02040503050406030204" pitchFamily="18" charset="0"/>
              </a:rPr>
              <a:t>Genetic </a:t>
            </a:r>
            <a:r>
              <a:rPr lang="en-US" dirty="0">
                <a:solidFill>
                  <a:srgbClr val="002060"/>
                </a:solidFill>
                <a:latin typeface="Cambria" panose="02040503050406030204" pitchFamily="18" charset="0"/>
                <a:ea typeface="Cambria" panose="02040503050406030204" pitchFamily="18" charset="0"/>
              </a:rPr>
              <a:t>Algorithms </a:t>
            </a:r>
          </a:p>
        </p:txBody>
      </p:sp>
      <p:sp>
        <p:nvSpPr>
          <p:cNvPr id="3" name="Content Placeholder 2"/>
          <p:cNvSpPr>
            <a:spLocks noGrp="1"/>
          </p:cNvSpPr>
          <p:nvPr>
            <p:ph idx="1"/>
          </p:nvPr>
        </p:nvSpPr>
        <p:spPr>
          <a:xfrm>
            <a:off x="838200" y="1330036"/>
            <a:ext cx="10515600" cy="4846927"/>
          </a:xfrm>
        </p:spPr>
        <p:txBody>
          <a:bodyPr>
            <a:normAutofit/>
          </a:bodyPr>
          <a:lstStyle/>
          <a:p>
            <a:pPr algn="just"/>
            <a:r>
              <a:rPr lang="en-US" sz="2400" dirty="0">
                <a:solidFill>
                  <a:srgbClr val="002060"/>
                </a:solidFill>
                <a:latin typeface="Cambria" panose="02040503050406030204" pitchFamily="18" charset="0"/>
                <a:ea typeface="Cambria" panose="02040503050406030204" pitchFamily="18" charset="0"/>
              </a:rPr>
              <a:t>Genetic Algorithms(GAs) are adaptive heuristic search algorithms that belong to the larger part of evolutionary algorithms. Genetic algorithms are based on the ideas of natural selection and genetics. </a:t>
            </a:r>
          </a:p>
          <a:p>
            <a:pPr algn="just"/>
            <a:r>
              <a:rPr lang="en-US" sz="2400" dirty="0" smtClean="0">
                <a:solidFill>
                  <a:srgbClr val="002060"/>
                </a:solidFill>
                <a:latin typeface="Cambria" panose="02040503050406030204" pitchFamily="18" charset="0"/>
                <a:ea typeface="Cambria" panose="02040503050406030204" pitchFamily="18" charset="0"/>
              </a:rPr>
              <a:t>These </a:t>
            </a:r>
            <a:r>
              <a:rPr lang="en-US" sz="2400" dirty="0">
                <a:solidFill>
                  <a:srgbClr val="002060"/>
                </a:solidFill>
                <a:latin typeface="Cambria" panose="02040503050406030204" pitchFamily="18" charset="0"/>
                <a:ea typeface="Cambria" panose="02040503050406030204" pitchFamily="18" charset="0"/>
              </a:rPr>
              <a:t>are intelligent exploitation of random searches provided with historical data to direct the search into the region of better performance in solution space. </a:t>
            </a:r>
            <a:r>
              <a:rPr lang="en-US" sz="2400" b="1" dirty="0">
                <a:solidFill>
                  <a:srgbClr val="002060"/>
                </a:solidFill>
                <a:latin typeface="Cambria" panose="02040503050406030204" pitchFamily="18" charset="0"/>
                <a:ea typeface="Cambria" panose="02040503050406030204" pitchFamily="18" charset="0"/>
              </a:rPr>
              <a:t>They are commonly used to generate high-quality solutions for </a:t>
            </a:r>
            <a:r>
              <a:rPr lang="en-US" sz="2400" b="1" dirty="0" smtClean="0">
                <a:solidFill>
                  <a:srgbClr val="002060"/>
                </a:solidFill>
                <a:latin typeface="Cambria" panose="02040503050406030204" pitchFamily="18" charset="0"/>
                <a:ea typeface="Cambria" panose="02040503050406030204" pitchFamily="18" charset="0"/>
              </a:rPr>
              <a:t>optimization </a:t>
            </a:r>
            <a:r>
              <a:rPr lang="en-US" sz="2400" dirty="0" smtClean="0">
                <a:solidFill>
                  <a:srgbClr val="002060"/>
                </a:solidFill>
                <a:latin typeface="Cambria" panose="02040503050406030204" pitchFamily="18" charset="0"/>
                <a:ea typeface="Cambria" panose="02040503050406030204" pitchFamily="18" charset="0"/>
              </a:rPr>
              <a:t>problems and search problems</a:t>
            </a:r>
            <a:endParaRPr lang="en-US" sz="2400" b="1" dirty="0" smtClean="0">
              <a:solidFill>
                <a:srgbClr val="002060"/>
              </a:solidFill>
              <a:latin typeface="Cambria" panose="02040503050406030204" pitchFamily="18" charset="0"/>
              <a:ea typeface="Cambria" panose="02040503050406030204" pitchFamily="18" charset="0"/>
            </a:endParaRPr>
          </a:p>
          <a:p>
            <a:pPr algn="just"/>
            <a:r>
              <a:rPr lang="en-US" sz="2400" dirty="0">
                <a:solidFill>
                  <a:srgbClr val="002060"/>
                </a:solidFill>
                <a:latin typeface="Cambria" panose="02040503050406030204" pitchFamily="18" charset="0"/>
                <a:ea typeface="Cambria" panose="02040503050406030204" pitchFamily="18" charset="0"/>
              </a:rPr>
              <a:t>Genetic algorithms simulate the process of natural selection which means those species that can adapt to changes in their environment can </a:t>
            </a:r>
            <a:r>
              <a:rPr lang="en-US" sz="2400" dirty="0" smtClean="0">
                <a:solidFill>
                  <a:srgbClr val="002060"/>
                </a:solidFill>
                <a:latin typeface="Cambria" panose="02040503050406030204" pitchFamily="18" charset="0"/>
                <a:ea typeface="Cambria" panose="02040503050406030204" pitchFamily="18" charset="0"/>
              </a:rPr>
              <a:t>survive,  </a:t>
            </a:r>
            <a:r>
              <a:rPr lang="en-US" sz="2400" dirty="0">
                <a:solidFill>
                  <a:srgbClr val="002060"/>
                </a:solidFill>
                <a:latin typeface="Cambria" panose="02040503050406030204" pitchFamily="18" charset="0"/>
                <a:ea typeface="Cambria" panose="02040503050406030204" pitchFamily="18" charset="0"/>
              </a:rPr>
              <a:t>reproduce and go to the next </a:t>
            </a:r>
            <a:r>
              <a:rPr lang="en-US" sz="2400" dirty="0" smtClean="0">
                <a:solidFill>
                  <a:srgbClr val="002060"/>
                </a:solidFill>
                <a:latin typeface="Cambria" panose="02040503050406030204" pitchFamily="18" charset="0"/>
                <a:ea typeface="Cambria" panose="02040503050406030204" pitchFamily="18" charset="0"/>
              </a:rPr>
              <a:t>generation.</a:t>
            </a:r>
            <a:endParaRPr lang="en-US" sz="2400"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972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2672" y="938935"/>
            <a:ext cx="11201400" cy="6251574"/>
          </a:xfrm>
        </p:spPr>
        <p:txBody>
          <a:bodyPr>
            <a:normAutofit/>
          </a:bodyPr>
          <a:lstStyle/>
          <a:p>
            <a:pPr algn="just"/>
            <a:r>
              <a:rPr lang="en-US" sz="2400" b="1" dirty="0">
                <a:solidFill>
                  <a:srgbClr val="002060"/>
                </a:solidFill>
                <a:latin typeface="Cambria" panose="02040503050406030204" pitchFamily="18" charset="0"/>
                <a:ea typeface="Cambria" panose="02040503050406030204" pitchFamily="18" charset="0"/>
              </a:rPr>
              <a:t>Each generation consists of a population of individuals</a:t>
            </a:r>
            <a:r>
              <a:rPr lang="en-US" sz="2400" dirty="0">
                <a:solidFill>
                  <a:srgbClr val="002060"/>
                </a:solidFill>
                <a:latin typeface="Cambria" panose="02040503050406030204" pitchFamily="18" charset="0"/>
                <a:ea typeface="Cambria" panose="02040503050406030204" pitchFamily="18" charset="0"/>
              </a:rPr>
              <a:t> and each individual represents a point in search space and possible solution. </a:t>
            </a:r>
            <a:endParaRPr lang="en-US" sz="2400" dirty="0" smtClean="0">
              <a:solidFill>
                <a:srgbClr val="002060"/>
              </a:solidFill>
              <a:latin typeface="Cambria" panose="02040503050406030204" pitchFamily="18" charset="0"/>
              <a:ea typeface="Cambria" panose="02040503050406030204" pitchFamily="18" charset="0"/>
            </a:endParaRPr>
          </a:p>
          <a:p>
            <a:r>
              <a:rPr lang="en-US" sz="2400" dirty="0" smtClean="0">
                <a:solidFill>
                  <a:srgbClr val="002060"/>
                </a:solidFill>
                <a:latin typeface="Cambria" panose="02040503050406030204" pitchFamily="18" charset="0"/>
                <a:ea typeface="Cambria" panose="02040503050406030204" pitchFamily="18" charset="0"/>
              </a:rPr>
              <a:t>Each </a:t>
            </a:r>
            <a:r>
              <a:rPr lang="en-US" sz="2400" dirty="0">
                <a:solidFill>
                  <a:srgbClr val="002060"/>
                </a:solidFill>
                <a:latin typeface="Cambria" panose="02040503050406030204" pitchFamily="18" charset="0"/>
                <a:ea typeface="Cambria" panose="02040503050406030204" pitchFamily="18" charset="0"/>
              </a:rPr>
              <a:t>individual is represented as a string </a:t>
            </a:r>
            <a:r>
              <a:rPr lang="en-US" sz="2400" dirty="0" smtClean="0">
                <a:solidFill>
                  <a:srgbClr val="002060"/>
                </a:solidFill>
                <a:latin typeface="Cambria" panose="02040503050406030204" pitchFamily="18" charset="0"/>
                <a:ea typeface="Cambria" panose="02040503050406030204" pitchFamily="18" charset="0"/>
              </a:rPr>
              <a:t>of character/integer/float/bits</a:t>
            </a:r>
          </a:p>
          <a:p>
            <a:pPr marL="0" indent="0">
              <a:buNone/>
            </a:pPr>
            <a:endParaRPr lang="en-US" sz="2400" dirty="0" smtClean="0">
              <a:solidFill>
                <a:srgbClr val="002060"/>
              </a:solidFill>
              <a:latin typeface="Cambria" panose="02040503050406030204" pitchFamily="18" charset="0"/>
              <a:ea typeface="Cambria" panose="02040503050406030204" pitchFamily="18" charset="0"/>
            </a:endParaRPr>
          </a:p>
          <a:p>
            <a:pPr marL="0" indent="0" fontAlgn="base">
              <a:buNone/>
            </a:pPr>
            <a:r>
              <a:rPr lang="en-US" sz="2400" b="1" dirty="0">
                <a:solidFill>
                  <a:srgbClr val="002060"/>
                </a:solidFill>
                <a:latin typeface="Cambria" panose="02040503050406030204" pitchFamily="18" charset="0"/>
                <a:ea typeface="Cambria" panose="02040503050406030204" pitchFamily="18" charset="0"/>
              </a:rPr>
              <a:t>Foundation of Genetic Algorithms</a:t>
            </a:r>
          </a:p>
          <a:p>
            <a:r>
              <a:rPr lang="en-US" sz="2400" dirty="0">
                <a:solidFill>
                  <a:srgbClr val="002060"/>
                </a:solidFill>
                <a:latin typeface="Cambria" panose="02040503050406030204" pitchFamily="18" charset="0"/>
                <a:ea typeface="Cambria" panose="02040503050406030204" pitchFamily="18" charset="0"/>
              </a:rPr>
              <a:t>Each chromosome indicates a possible solution. Thus the population is a collection of chromosomes.</a:t>
            </a:r>
          </a:p>
          <a:p>
            <a:r>
              <a:rPr lang="en-US" sz="2400" dirty="0">
                <a:solidFill>
                  <a:srgbClr val="002060"/>
                </a:solidFill>
                <a:latin typeface="Cambria" panose="02040503050406030204" pitchFamily="18" charset="0"/>
                <a:ea typeface="Cambria" panose="02040503050406030204" pitchFamily="18" charset="0"/>
              </a:rPr>
              <a:t>A fitness function characterizes each individual in the population. Therefore, greater fitness better is the solution.</a:t>
            </a:r>
          </a:p>
          <a:p>
            <a:r>
              <a:rPr lang="en-US" sz="2400" dirty="0">
                <a:solidFill>
                  <a:srgbClr val="002060"/>
                </a:solidFill>
                <a:latin typeface="Cambria" panose="02040503050406030204" pitchFamily="18" charset="0"/>
                <a:ea typeface="Cambria" panose="02040503050406030204" pitchFamily="18" charset="0"/>
              </a:rPr>
              <a:t>Out of the available individuals in the population, the best individuals are used to reproduce the next generation </a:t>
            </a:r>
            <a:r>
              <a:rPr lang="en-US" sz="2400" dirty="0" err="1">
                <a:solidFill>
                  <a:srgbClr val="002060"/>
                </a:solidFill>
                <a:latin typeface="Cambria" panose="02040503050406030204" pitchFamily="18" charset="0"/>
                <a:ea typeface="Cambria" panose="02040503050406030204" pitchFamily="18" charset="0"/>
              </a:rPr>
              <a:t>offsprings</a:t>
            </a:r>
            <a:r>
              <a:rPr lang="en-US" sz="2400" dirty="0">
                <a:solidFill>
                  <a:srgbClr val="002060"/>
                </a:solidFill>
                <a:latin typeface="Cambria" panose="02040503050406030204" pitchFamily="18" charset="0"/>
                <a:ea typeface="Cambria" panose="02040503050406030204" pitchFamily="18" charset="0"/>
              </a:rPr>
              <a:t>.</a:t>
            </a:r>
          </a:p>
          <a:p>
            <a:r>
              <a:rPr lang="en-US" sz="2400" dirty="0">
                <a:solidFill>
                  <a:srgbClr val="002060"/>
                </a:solidFill>
                <a:latin typeface="Cambria" panose="02040503050406030204" pitchFamily="18" charset="0"/>
                <a:ea typeface="Cambria" panose="02040503050406030204" pitchFamily="18" charset="0"/>
              </a:rPr>
              <a:t>The offspring produced will have features of both the parents and is a result of mutation. A mutation is a small change in the gene structure.</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61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a:solidFill>
                  <a:srgbClr val="002060"/>
                </a:solidFill>
                <a:latin typeface="Cambria" panose="02040503050406030204" pitchFamily="18" charset="0"/>
                <a:ea typeface="Cambria" panose="02040503050406030204" pitchFamily="18" charset="0"/>
              </a:rPr>
              <a:t>Population based methods</a:t>
            </a:r>
          </a:p>
        </p:txBody>
      </p:sp>
      <p:sp>
        <p:nvSpPr>
          <p:cNvPr id="3" name="Content Placeholder 2"/>
          <p:cNvSpPr>
            <a:spLocks noGrp="1"/>
          </p:cNvSpPr>
          <p:nvPr>
            <p:ph idx="1"/>
          </p:nvPr>
        </p:nvSpPr>
        <p:spPr>
          <a:xfrm>
            <a:off x="838200" y="1325562"/>
            <a:ext cx="10515600" cy="4770437"/>
          </a:xfrm>
        </p:spPr>
        <p:txBody>
          <a:bodyPr>
            <a:normAutofit/>
          </a:bodyPr>
          <a:lstStyle/>
          <a:p>
            <a:pPr algn="just"/>
            <a:r>
              <a:rPr lang="en-US" dirty="0">
                <a:solidFill>
                  <a:srgbClr val="002060"/>
                </a:solidFill>
                <a:latin typeface="Cambria" panose="02040503050406030204" pitchFamily="18" charset="0"/>
                <a:ea typeface="Cambria" panose="02040503050406030204" pitchFamily="18" charset="0"/>
              </a:rPr>
              <a:t>This section considers algorithms that maintain multiple assignments. The first method, beam search, maintains the best </a:t>
            </a:r>
            <a:r>
              <a:rPr lang="en-US" i="1" dirty="0">
                <a:solidFill>
                  <a:srgbClr val="002060"/>
                </a:solidFill>
                <a:latin typeface="Cambria" panose="02040503050406030204" pitchFamily="18" charset="0"/>
                <a:ea typeface="Cambria" panose="02040503050406030204" pitchFamily="18" charset="0"/>
              </a:rPr>
              <a:t>k</a:t>
            </a:r>
            <a:r>
              <a:rPr lang="en-US" dirty="0">
                <a:solidFill>
                  <a:srgbClr val="002060"/>
                </a:solidFill>
                <a:latin typeface="Cambria" panose="02040503050406030204" pitchFamily="18" charset="0"/>
                <a:ea typeface="Cambria" panose="02040503050406030204" pitchFamily="18" charset="0"/>
              </a:rPr>
              <a:t> assignments.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The </a:t>
            </a:r>
            <a:r>
              <a:rPr lang="en-US" dirty="0">
                <a:solidFill>
                  <a:srgbClr val="002060"/>
                </a:solidFill>
                <a:latin typeface="Cambria" panose="02040503050406030204" pitchFamily="18" charset="0"/>
                <a:ea typeface="Cambria" panose="02040503050406030204" pitchFamily="18" charset="0"/>
              </a:rPr>
              <a:t>next algorithm, stochastic beam search, selects which assignments to propagate stochastically.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In </a:t>
            </a:r>
            <a:r>
              <a:rPr lang="en-US" dirty="0">
                <a:solidFill>
                  <a:srgbClr val="002060"/>
                </a:solidFill>
                <a:latin typeface="Cambria" panose="02040503050406030204" pitchFamily="18" charset="0"/>
                <a:ea typeface="Cambria" panose="02040503050406030204" pitchFamily="18" charset="0"/>
              </a:rPr>
              <a:t>genetic algorithms, which are inspired by biological evolution, the </a:t>
            </a:r>
            <a:r>
              <a:rPr lang="en-US" i="1" dirty="0">
                <a:solidFill>
                  <a:srgbClr val="002060"/>
                </a:solidFill>
                <a:latin typeface="Cambria" panose="02040503050406030204" pitchFamily="18" charset="0"/>
                <a:ea typeface="Cambria" panose="02040503050406030204" pitchFamily="18" charset="0"/>
              </a:rPr>
              <a:t>k</a:t>
            </a:r>
            <a:r>
              <a:rPr lang="en-US" dirty="0">
                <a:solidFill>
                  <a:srgbClr val="002060"/>
                </a:solidFill>
                <a:latin typeface="Cambria" panose="02040503050406030204" pitchFamily="18" charset="0"/>
                <a:ea typeface="Cambria" panose="02040503050406030204" pitchFamily="18" charset="0"/>
              </a:rPr>
              <a:t> assignments forming a population interact in various ways to produce the new population. </a:t>
            </a:r>
            <a:endParaRPr lang="en-US" dirty="0" smtClean="0">
              <a:solidFill>
                <a:srgbClr val="002060"/>
              </a:solidFill>
              <a:latin typeface="Cambria" panose="02040503050406030204" pitchFamily="18" charset="0"/>
              <a:ea typeface="Cambria" panose="02040503050406030204" pitchFamily="18" charset="0"/>
            </a:endParaRPr>
          </a:p>
          <a:p>
            <a:pPr algn="just"/>
            <a:r>
              <a:rPr lang="en-US" dirty="0" smtClean="0">
                <a:solidFill>
                  <a:srgbClr val="002060"/>
                </a:solidFill>
                <a:latin typeface="Cambria" panose="02040503050406030204" pitchFamily="18" charset="0"/>
                <a:ea typeface="Cambria" panose="02040503050406030204" pitchFamily="18" charset="0"/>
              </a:rPr>
              <a:t>In </a:t>
            </a:r>
            <a:r>
              <a:rPr lang="en-US" dirty="0">
                <a:solidFill>
                  <a:srgbClr val="002060"/>
                </a:solidFill>
                <a:latin typeface="Cambria" panose="02040503050406030204" pitchFamily="18" charset="0"/>
                <a:ea typeface="Cambria" panose="02040503050406030204" pitchFamily="18" charset="0"/>
              </a:rPr>
              <a:t>these algorithms, a total assignment of a value to each variable is called an </a:t>
            </a:r>
            <a:r>
              <a:rPr lang="en-US" b="1" dirty="0">
                <a:solidFill>
                  <a:srgbClr val="002060"/>
                </a:solidFill>
                <a:latin typeface="Cambria" panose="02040503050406030204" pitchFamily="18" charset="0"/>
                <a:ea typeface="Cambria" panose="02040503050406030204" pitchFamily="18" charset="0"/>
              </a:rPr>
              <a:t>individual</a:t>
            </a:r>
            <a:r>
              <a:rPr lang="en-US" dirty="0">
                <a:solidFill>
                  <a:srgbClr val="002060"/>
                </a:solidFill>
                <a:latin typeface="Cambria" panose="02040503050406030204" pitchFamily="18" charset="0"/>
                <a:ea typeface="Cambria" panose="02040503050406030204" pitchFamily="18" charset="0"/>
              </a:rPr>
              <a:t> and the set of current individuals is a </a:t>
            </a:r>
            <a:r>
              <a:rPr lang="en-US" b="1" dirty="0">
                <a:solidFill>
                  <a:srgbClr val="002060"/>
                </a:solidFill>
                <a:latin typeface="Cambria" panose="02040503050406030204" pitchFamily="18" charset="0"/>
                <a:ea typeface="Cambria" panose="02040503050406030204" pitchFamily="18" charset="0"/>
              </a:rPr>
              <a:t>population</a:t>
            </a:r>
            <a:r>
              <a:rPr lang="en-US" dirty="0">
                <a:solidFill>
                  <a:srgbClr val="002060"/>
                </a:solidFill>
              </a:rPr>
              <a:t>.</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524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6018" y="0"/>
            <a:ext cx="10515600" cy="1325563"/>
          </a:xfrm>
        </p:spPr>
        <p:txBody>
          <a:bodyPr/>
          <a:lstStyle/>
          <a:p>
            <a:pPr algn="ctr"/>
            <a:r>
              <a:rPr lang="en-US" dirty="0" smtClean="0">
                <a:solidFill>
                  <a:srgbClr val="002060"/>
                </a:solidFill>
                <a:latin typeface="Cambria" panose="02040503050406030204" pitchFamily="18" charset="0"/>
                <a:ea typeface="Cambria" panose="02040503050406030204" pitchFamily="18" charset="0"/>
              </a:rPr>
              <a:t>Example: Eight Queen’s problem</a:t>
            </a:r>
            <a:endParaRPr lang="en-US"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34291" y="1260763"/>
            <a:ext cx="10688782" cy="5597237"/>
          </a:xfrm>
        </p:spPr>
        <p:txBody>
          <a:bodyPr>
            <a:normAutofit/>
          </a:bodyPr>
          <a:lstStyle/>
          <a:p>
            <a:pPr marL="0" indent="0" algn="just">
              <a:lnSpc>
                <a:spcPct val="100000"/>
              </a:lnSpc>
              <a:buNone/>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 goal of the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8-queens problem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is to place eight queens on a chessboard such that no queen attacks any other. (A queen attacks any piece in the same row, column or diagonal.) </a:t>
            </a:r>
          </a:p>
          <a:p>
            <a:pPr marL="0" indent="0" algn="just">
              <a:lnSpc>
                <a:spcPct val="100000"/>
              </a:lnSpc>
              <a:buNone/>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There are two main kinds of formulation: </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285750" indent="-285750" algn="just">
              <a:lnSpc>
                <a:spcPct val="100000"/>
              </a:lnSpc>
              <a:buFont typeface="Wingdings" panose="05000000000000000000" pitchFamily="2" charset="2"/>
              <a:buChar char="q"/>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An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incremental formulation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involves operators that </a:t>
            </a:r>
            <a:r>
              <a:rPr lang="en-US" sz="2400" i="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augment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the state description, starting with an empty state; for the 8-queens problem, this means that each action adds a queen to the state. </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a:lnSpc>
                <a:spcPct val="100000"/>
              </a:lnSpc>
            </a:pPr>
            <a:endParaRPr lang="en-US" dirty="0">
              <a:solidFill>
                <a:srgbClr val="002060"/>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079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A solution to the 8-queens problem, presented as [5, 1, 8, 4, 2, 7, 3, 6].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6658" y="1665230"/>
            <a:ext cx="2961877" cy="31311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4910" y="972503"/>
            <a:ext cx="8021782" cy="5170646"/>
          </a:xfrm>
          <a:prstGeom prst="rect">
            <a:avLst/>
          </a:prstGeom>
          <a:noFill/>
        </p:spPr>
        <p:txBody>
          <a:bodyPr wrap="square" rtlCol="0">
            <a:spAutoFit/>
          </a:bodyPr>
          <a:lstStyle/>
          <a:p>
            <a:pPr marL="285750" indent="-285750" algn="just">
              <a:buFont typeface="Wingdings" panose="05000000000000000000" pitchFamily="2" charset="2"/>
              <a:buChar char="q"/>
            </a:pP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 </a:t>
            </a:r>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complete-state formulation </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starts with all 8 queens on the board and moves them around. In either case, the path cost is of no interest because only the final state counts. The first incremental formulation one might try is the following:</a:t>
            </a:r>
          </a:p>
          <a:p>
            <a:pPr marL="285750" indent="-285750" algn="just">
              <a:buFont typeface="Wingdings" panose="05000000000000000000" pitchFamily="2" charset="2"/>
              <a:buChar char="q"/>
            </a:pP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States</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Any arrangement of 0 to 8 queens on the board is a state.</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Initial state</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No queens on the board.</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Actions</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Add a queen to any empty square.</a:t>
            </a: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Transition model</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Returns the board with a queen added to the specified square.</a:t>
            </a:r>
            <a:endParaRPr lang="en-US" sz="2400" b="0" i="0" u="none" strike="noStrike" baseline="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pPr marL="742950" lvl="1" indent="-285750" algn="just"/>
            <a:r>
              <a:rPr lang="en-US" sz="2400" b="1"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Goal test</a:t>
            </a:r>
            <a:r>
              <a:rPr lang="en-US" sz="2400" dirty="0" smtClean="0">
                <a:solidFill>
                  <a:srgbClr val="002060"/>
                </a:solidFill>
                <a:latin typeface="Cambria" panose="02040503050406030204" pitchFamily="18" charset="0"/>
                <a:ea typeface="Cambria" panose="02040503050406030204" pitchFamily="18" charset="0"/>
                <a:cs typeface="Times New Roman" panose="02020603050405020304" charset="0"/>
                <a:sym typeface="+mn-ea"/>
              </a:rPr>
              <a:t>: 8 queens are on the board, none attacked.</a:t>
            </a:r>
            <a:endParaRPr lang="en-IN" sz="2400" dirty="0" smtClean="0">
              <a:solidFill>
                <a:srgbClr val="002060"/>
              </a:solidFill>
              <a:latin typeface="Cambria" panose="02040503050406030204" pitchFamily="18" charset="0"/>
              <a:ea typeface="Cambria" panose="02040503050406030204" pitchFamily="18" charset="0"/>
              <a:cs typeface="Times New Roman" panose="02020603050405020304" charset="0"/>
            </a:endParaRPr>
          </a:p>
          <a:p>
            <a:endParaRPr lang="en-US" dirty="0">
              <a:solidFill>
                <a:srgbClr val="002060"/>
              </a:solidFill>
            </a:endParaRPr>
          </a:p>
        </p:txBody>
      </p:sp>
      <p:pic>
        <p:nvPicPr>
          <p:cNvPr id="5" name="Picture 4"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913269"/>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58093" y="900544"/>
            <a:ext cx="10385762" cy="511276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292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latin typeface="Cambria" panose="02040503050406030204" pitchFamily="18" charset="0"/>
                <a:ea typeface="Cambria" panose="02040503050406030204" pitchFamily="18" charset="0"/>
              </a:rPr>
              <a:t>Eight Queen’s Problem</a:t>
            </a:r>
            <a:endParaRPr lang="en-US"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1139537" y="1066800"/>
            <a:ext cx="8350828" cy="3565798"/>
          </a:xfrm>
          <a:prstGeom prst="rect">
            <a:avLst/>
          </a:prstGeom>
        </p:spPr>
      </p:pic>
      <p:pic>
        <p:nvPicPr>
          <p:cNvPr id="5" name="Picture 4"/>
          <p:cNvPicPr>
            <a:picLocks noChangeAspect="1"/>
          </p:cNvPicPr>
          <p:nvPr/>
        </p:nvPicPr>
        <p:blipFill>
          <a:blip r:embed="rId3"/>
          <a:stretch>
            <a:fillRect/>
          </a:stretch>
        </p:blipFill>
        <p:spPr>
          <a:xfrm>
            <a:off x="1139537" y="4632598"/>
            <a:ext cx="8849592" cy="1272129"/>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4773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b="1" dirty="0"/>
              <a:t>Emergent </a:t>
            </a:r>
            <a:r>
              <a:rPr lang="en-US" b="1" dirty="0" smtClean="0"/>
              <a:t>Systems</a:t>
            </a:r>
            <a:endParaRPr lang="en-US" b="1" dirty="0"/>
          </a:p>
        </p:txBody>
      </p:sp>
      <p:sp>
        <p:nvSpPr>
          <p:cNvPr id="5" name="TextBox 4"/>
          <p:cNvSpPr txBox="1"/>
          <p:nvPr/>
        </p:nvSpPr>
        <p:spPr>
          <a:xfrm>
            <a:off x="812223" y="1145454"/>
            <a:ext cx="10567554" cy="5601533"/>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Process of emergent complex systems by putting together the basic set of simple parts and then letting “nature do the rest”. These efforts to mimic life in the field of Artificial life.</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Cliff &amp; Grand in 1999 – 2001, the authors adopts a ‘bottom-up’ approach of putting together artificial creatures.</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fact that  systems of simple elements can come together to display complex behavior was illustrated by the British mathematician John Conway in a cellular automaton known as Conway’s Game of Life</a:t>
            </a:r>
            <a:r>
              <a:rPr lang="en-US" sz="2000" dirty="0" smtClean="0">
                <a:solidFill>
                  <a:srgbClr val="002060"/>
                </a:solidFill>
                <a:latin typeface="Cambria" panose="02040503050406030204" pitchFamily="18" charset="0"/>
                <a:ea typeface="Cambria" panose="02040503050406030204" pitchFamily="18" charset="0"/>
                <a:cs typeface="Times New Roman" panose="02020603050405020304" charset="0"/>
              </a:rPr>
              <a:t>.</a:t>
            </a:r>
          </a:p>
          <a:p>
            <a:pPr marL="342900" indent="-342900" algn="just">
              <a:buFont typeface="Arial" panose="020B0604020202020204" pitchFamily="34" charset="0"/>
              <a:buChar char="•"/>
            </a:pPr>
            <a:endParaRPr lang="en-US" sz="2000" dirty="0">
              <a:solidFill>
                <a:srgbClr val="002060"/>
              </a:solidFill>
              <a:latin typeface="Cambria" panose="02040503050406030204" pitchFamily="18" charset="0"/>
              <a:ea typeface="Cambria" panose="02040503050406030204" pitchFamily="18" charset="0"/>
              <a:cs typeface="Times New Roman" panose="02020603050405020304" charset="0"/>
            </a:endParaRPr>
          </a:p>
          <a:p>
            <a:pPr marL="342900" indent="-342900" algn="just">
              <a:buFont typeface="Arial" panose="020B0604020202020204" pitchFamily="34" charset="0"/>
              <a:buChar char="•"/>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The Game of life is played on an infinite two-dimensional grid of cells, each of which can be in one of two states dead or alive.</a:t>
            </a:r>
          </a:p>
          <a:p>
            <a:pPr algn="just"/>
            <a:r>
              <a:rPr lang="en-US" sz="2000" dirty="0" smtClean="0">
                <a:solidFill>
                  <a:srgbClr val="002060"/>
                </a:solidFill>
                <a:latin typeface="Cambria" panose="02040503050406030204" pitchFamily="18" charset="0"/>
                <a:ea typeface="Cambria" panose="02040503050406030204" pitchFamily="18" charset="0"/>
                <a:cs typeface="Times New Roman" panose="02020603050405020304" charset="0"/>
              </a:rPr>
              <a:t>	There </a:t>
            </a: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are two simple rules for life and death:</a:t>
            </a:r>
          </a:p>
          <a:p>
            <a:pPr marL="342900" indent="-342900" algn="just">
              <a:buAutoNum type="arabicPeriod"/>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Cells that are alive will continue to live if they have exactly two or three living cells in their neighborhood. Otherwise they die of loneliness(less than two neighbors around ) or overcrowding (more than three neighbors alive).</a:t>
            </a:r>
          </a:p>
          <a:p>
            <a:pPr marL="342900" indent="-342900" algn="just">
              <a:buAutoNum type="arabicPeriod"/>
            </a:pPr>
            <a:r>
              <a:rPr lang="en-US" sz="2000" dirty="0">
                <a:solidFill>
                  <a:srgbClr val="002060"/>
                </a:solidFill>
                <a:latin typeface="Cambria" panose="02040503050406030204" pitchFamily="18" charset="0"/>
                <a:ea typeface="Cambria" panose="02040503050406030204" pitchFamily="18" charset="0"/>
                <a:cs typeface="Times New Roman" panose="02020603050405020304" charset="0"/>
              </a:rPr>
              <a:t>Cell that are dead are born again if they are surrounded by exactly three living cells</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1283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199" y="3399486"/>
            <a:ext cx="10515600" cy="3021765"/>
          </a:xfrm>
          <a:prstGeom prst="rect">
            <a:avLst/>
          </a:prstGeom>
        </p:spPr>
      </p:pic>
      <p:pic>
        <p:nvPicPr>
          <p:cNvPr id="5" name="Picture 4"/>
          <p:cNvPicPr>
            <a:picLocks noChangeAspect="1"/>
          </p:cNvPicPr>
          <p:nvPr/>
        </p:nvPicPr>
        <p:blipFill>
          <a:blip r:embed="rId3"/>
          <a:stretch>
            <a:fillRect/>
          </a:stretch>
        </p:blipFill>
        <p:spPr>
          <a:xfrm>
            <a:off x="838199" y="1196109"/>
            <a:ext cx="10515600" cy="2468748"/>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6437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6509" y="795759"/>
            <a:ext cx="9725891" cy="573952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0130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98073" y="578585"/>
            <a:ext cx="8465126" cy="583672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7501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32867" y="3256754"/>
            <a:ext cx="10072162" cy="2174166"/>
          </a:xfrm>
          <a:prstGeom prst="rect">
            <a:avLst/>
          </a:prstGeom>
        </p:spPr>
      </p:pic>
      <p:pic>
        <p:nvPicPr>
          <p:cNvPr id="4" name="Picture 3"/>
          <p:cNvPicPr>
            <a:picLocks noChangeAspect="1"/>
          </p:cNvPicPr>
          <p:nvPr/>
        </p:nvPicPr>
        <p:blipFill>
          <a:blip r:embed="rId3"/>
          <a:stretch>
            <a:fillRect/>
          </a:stretch>
        </p:blipFill>
        <p:spPr>
          <a:xfrm>
            <a:off x="1132867" y="1758053"/>
            <a:ext cx="10072162" cy="1498701"/>
          </a:xfrm>
          <a:prstGeom prst="rect">
            <a:avLst/>
          </a:prstGeom>
        </p:spPr>
      </p:pic>
      <p:pic>
        <p:nvPicPr>
          <p:cNvPr id="6" name="Picture 5"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1056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15670" y="114414"/>
            <a:ext cx="6133194" cy="661295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9990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smtClean="0"/>
              <a:t>Application </a:t>
            </a:r>
            <a:r>
              <a:rPr lang="en-US" b="1" dirty="0"/>
              <a:t>to TSP</a:t>
            </a:r>
          </a:p>
        </p:txBody>
      </p:sp>
      <p:sp>
        <p:nvSpPr>
          <p:cNvPr id="3" name="Content Placeholder 2"/>
          <p:cNvSpPr>
            <a:spLocks noGrp="1"/>
          </p:cNvSpPr>
          <p:nvPr>
            <p:ph idx="1"/>
          </p:nvPr>
        </p:nvSpPr>
        <p:spPr>
          <a:xfrm>
            <a:off x="362857" y="1099910"/>
            <a:ext cx="11582399" cy="5489575"/>
          </a:xfrm>
        </p:spPr>
        <p:txBody>
          <a:bodyPr>
            <a:normAutofit/>
          </a:bodyPr>
          <a:lstStyle/>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The main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application </a:t>
            </a:r>
            <a:r>
              <a:rPr lang="en-US" sz="2400" dirty="0">
                <a:solidFill>
                  <a:schemeClr val="tx2">
                    <a:lumMod val="60000"/>
                    <a:lumOff val="40000"/>
                  </a:schemeClr>
                </a:solidFill>
                <a:latin typeface="Cambria" panose="02040503050406030204" pitchFamily="18" charset="0"/>
                <a:ea typeface="Cambria" panose="02040503050406030204" pitchFamily="18" charset="0"/>
              </a:rPr>
              <a:t>of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arises in real scenario as it is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capable </a:t>
            </a:r>
            <a:r>
              <a:rPr lang="en-US" sz="2400" dirty="0">
                <a:solidFill>
                  <a:schemeClr val="tx2">
                    <a:lumMod val="60000"/>
                    <a:lumOff val="40000"/>
                  </a:schemeClr>
                </a:solidFill>
                <a:latin typeface="Cambria" panose="02040503050406030204" pitchFamily="18" charset="0"/>
                <a:ea typeface="Cambria" panose="02040503050406030204" pitchFamily="18" charset="0"/>
              </a:rPr>
              <a:t>to handle multiple salesman. These situations arise mostly in various routing and scheduling problems. Some reported applications in literature are presented below</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t>
            </a:r>
          </a:p>
          <a:p>
            <a:pPr marL="0" indent="0" algn="just">
              <a:buNone/>
            </a:pPr>
            <a:r>
              <a:rPr lang="en-US" sz="2400" dirty="0" smtClean="0">
                <a:solidFill>
                  <a:schemeClr val="tx2">
                    <a:lumMod val="60000"/>
                    <a:lumOff val="40000"/>
                  </a:schemeClr>
                </a:solidFill>
              </a:rPr>
              <a:t>1</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 </a:t>
            </a:r>
            <a:r>
              <a:rPr lang="en-US" sz="2400" b="1" dirty="0" smtClean="0">
                <a:solidFill>
                  <a:schemeClr val="tx2">
                    <a:lumMod val="60000"/>
                    <a:lumOff val="40000"/>
                  </a:schemeClr>
                </a:solidFill>
                <a:latin typeface="Cambria" panose="02040503050406030204" pitchFamily="18" charset="0"/>
                <a:ea typeface="Cambria" panose="02040503050406030204" pitchFamily="18" charset="0"/>
              </a:rPr>
              <a:t>Printing </a:t>
            </a:r>
            <a:r>
              <a:rPr lang="en-US" sz="2400" b="1" dirty="0">
                <a:solidFill>
                  <a:schemeClr val="tx2">
                    <a:lumMod val="60000"/>
                    <a:lumOff val="40000"/>
                  </a:schemeClr>
                </a:solidFill>
                <a:latin typeface="Cambria" panose="02040503050406030204" pitchFamily="18" charset="0"/>
                <a:ea typeface="Cambria" panose="02040503050406030204" pitchFamily="18" charset="0"/>
              </a:rPr>
              <a:t>press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One of the major and primary applications of the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arises in scheduling a printing press for a periodical with multi-editions. Here, there exist five pairs of cylinders between which the paper rolls and both sides of a page are printed simultaneously. There exist three kind of forms, namely 4-, 6- and 8-page forms, which are used to print the editions. The scheduling problem consists of deciding which form will be on which run and the length of each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run.</a:t>
            </a:r>
          </a:p>
          <a:p>
            <a:pPr marL="0" indent="0" algn="just">
              <a:buNone/>
            </a:pPr>
            <a:r>
              <a:rPr lang="en-US" sz="2400" dirty="0" smtClean="0">
                <a:solidFill>
                  <a:schemeClr val="tx2">
                    <a:lumMod val="60000"/>
                    <a:lumOff val="40000"/>
                  </a:schemeClr>
                </a:solidFill>
                <a:latin typeface="Cambria" panose="02040503050406030204" pitchFamily="18" charset="0"/>
                <a:ea typeface="Cambria" panose="02040503050406030204" pitchFamily="18" charset="0"/>
              </a:rPr>
              <a:t>2. </a:t>
            </a:r>
            <a:r>
              <a:rPr lang="en-US" sz="2400" b="1" dirty="0">
                <a:solidFill>
                  <a:schemeClr val="tx2">
                    <a:lumMod val="60000"/>
                    <a:lumOff val="40000"/>
                  </a:schemeClr>
                </a:solidFill>
                <a:latin typeface="Cambria" panose="02040503050406030204" pitchFamily="18" charset="0"/>
                <a:ea typeface="Cambria" panose="02040503050406030204" pitchFamily="18" charset="0"/>
              </a:rPr>
              <a:t>School bus routing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(Angel et al., 1972) investigated the problem of scheduling buses as a variation of the </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TSP </a:t>
            </a:r>
            <a:r>
              <a:rPr lang="en-US" sz="2400" dirty="0">
                <a:solidFill>
                  <a:schemeClr val="tx2">
                    <a:lumMod val="60000"/>
                    <a:lumOff val="40000"/>
                  </a:schemeClr>
                </a:solidFill>
                <a:latin typeface="Cambria" panose="02040503050406030204" pitchFamily="18" charset="0"/>
                <a:ea typeface="Cambria" panose="02040503050406030204" pitchFamily="18" charset="0"/>
              </a:rPr>
              <a:t>with some side constraints. The objective of the scheduling is to obtain a bus loading pattern such that the number of routes is minimized, the total distance travelled by all buses is kept at minimum, no bus is overloaded and the time required to traverse any route does not exceed a maximum allowed policy.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5226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4" y="861652"/>
            <a:ext cx="11466286" cy="4551364"/>
          </a:xfrm>
        </p:spPr>
        <p:txBody>
          <a:bodyPr>
            <a:noAutofit/>
          </a:bodyPr>
          <a:lstStyle/>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3. </a:t>
            </a:r>
            <a:r>
              <a:rPr lang="en-US" sz="2400" b="1" dirty="0">
                <a:solidFill>
                  <a:schemeClr val="tx2">
                    <a:lumMod val="60000"/>
                    <a:lumOff val="40000"/>
                  </a:schemeClr>
                </a:solidFill>
                <a:latin typeface="Cambria" panose="02040503050406030204" pitchFamily="18" charset="0"/>
                <a:ea typeface="Cambria" panose="02040503050406030204" pitchFamily="18" charset="0"/>
              </a:rPr>
              <a:t>Crew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An application for deposit carrying between different branch banks is reported by (</a:t>
            </a:r>
            <a:r>
              <a:rPr lang="en-US" sz="2400" dirty="0" err="1">
                <a:solidFill>
                  <a:schemeClr val="tx2">
                    <a:lumMod val="60000"/>
                    <a:lumOff val="40000"/>
                  </a:schemeClr>
                </a:solidFill>
                <a:latin typeface="Cambria" panose="02040503050406030204" pitchFamily="18" charset="0"/>
                <a:ea typeface="Cambria" panose="02040503050406030204" pitchFamily="18" charset="0"/>
              </a:rPr>
              <a:t>Svestka</a:t>
            </a:r>
            <a:r>
              <a:rPr lang="en-US" sz="2400" dirty="0">
                <a:solidFill>
                  <a:schemeClr val="tx2">
                    <a:lumMod val="60000"/>
                    <a:lumOff val="40000"/>
                  </a:schemeClr>
                </a:solidFill>
                <a:latin typeface="Cambria" panose="02040503050406030204" pitchFamily="18" charset="0"/>
                <a:ea typeface="Cambria" panose="02040503050406030204" pitchFamily="18" charset="0"/>
              </a:rPr>
              <a:t> &amp; </a:t>
            </a:r>
            <a:r>
              <a:rPr lang="en-US" sz="2400" dirty="0" err="1">
                <a:solidFill>
                  <a:schemeClr val="tx2">
                    <a:lumMod val="60000"/>
                    <a:lumOff val="40000"/>
                  </a:schemeClr>
                </a:solidFill>
                <a:latin typeface="Cambria" panose="02040503050406030204" pitchFamily="18" charset="0"/>
                <a:ea typeface="Cambria" panose="02040503050406030204" pitchFamily="18" charset="0"/>
              </a:rPr>
              <a:t>Huckfeldt</a:t>
            </a:r>
            <a:r>
              <a:rPr lang="en-US" sz="2400" dirty="0">
                <a:solidFill>
                  <a:schemeClr val="tx2">
                    <a:lumMod val="60000"/>
                    <a:lumOff val="40000"/>
                  </a:schemeClr>
                </a:solidFill>
                <a:latin typeface="Cambria" panose="02040503050406030204" pitchFamily="18" charset="0"/>
                <a:ea typeface="Cambria" panose="02040503050406030204" pitchFamily="18" charset="0"/>
              </a:rPr>
              <a:t>, 1973). Here, deposits need to be picked up at branch banks and returned to the central office by a crew of messengers. The problem is to determine the routes having a total minimum cost.</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4. </a:t>
            </a:r>
            <a:r>
              <a:rPr lang="en-US" sz="2400" b="1" dirty="0">
                <a:solidFill>
                  <a:schemeClr val="tx2">
                    <a:lumMod val="60000"/>
                    <a:lumOff val="40000"/>
                  </a:schemeClr>
                </a:solidFill>
                <a:latin typeface="Cambria" panose="02040503050406030204" pitchFamily="18" charset="0"/>
                <a:ea typeface="Cambria" panose="02040503050406030204" pitchFamily="18" charset="0"/>
              </a:rPr>
              <a:t>Interview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(Gilbert &amp; Hofstra, 1992) found the application of TSP, having </a:t>
            </a:r>
            <a:r>
              <a:rPr lang="en-US" sz="2400" dirty="0" err="1">
                <a:solidFill>
                  <a:schemeClr val="tx2">
                    <a:lumMod val="60000"/>
                    <a:lumOff val="40000"/>
                  </a:schemeClr>
                </a:solidFill>
                <a:latin typeface="Cambria" panose="02040503050406030204" pitchFamily="18" charset="0"/>
                <a:ea typeface="Cambria" panose="02040503050406030204" pitchFamily="18" charset="0"/>
              </a:rPr>
              <a:t>multiperiod</a:t>
            </a:r>
            <a:r>
              <a:rPr lang="en-US" sz="2400" dirty="0">
                <a:solidFill>
                  <a:schemeClr val="tx2">
                    <a:lumMod val="60000"/>
                    <a:lumOff val="40000"/>
                  </a:schemeClr>
                </a:solidFill>
                <a:latin typeface="Cambria" panose="02040503050406030204" pitchFamily="18" charset="0"/>
                <a:ea typeface="Cambria" panose="02040503050406030204" pitchFamily="18" charset="0"/>
              </a:rPr>
              <a:t> variations, in scheduling interviews between tour brokers and vendors of the tourism industry. Each broker corresponds to a salesman who must visit a specified set of vendor booths, which are represented by a set of T cities.  </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5. </a:t>
            </a:r>
            <a:r>
              <a:rPr lang="en-US" sz="2400" b="1" dirty="0">
                <a:solidFill>
                  <a:schemeClr val="tx2">
                    <a:lumMod val="60000"/>
                    <a:lumOff val="40000"/>
                  </a:schemeClr>
                </a:solidFill>
                <a:latin typeface="Cambria" panose="02040503050406030204" pitchFamily="18" charset="0"/>
                <a:ea typeface="Cambria" panose="02040503050406030204" pitchFamily="18" charset="0"/>
              </a:rPr>
              <a:t>Hot rolling scheduling problem</a:t>
            </a:r>
            <a:r>
              <a:rPr lang="en-US" sz="2400" dirty="0">
                <a:solidFill>
                  <a:schemeClr val="tx2">
                    <a:lumMod val="60000"/>
                    <a:lumOff val="40000"/>
                  </a:schemeClr>
                </a:solidFill>
                <a:latin typeface="Cambria" panose="02040503050406030204" pitchFamily="18" charset="0"/>
                <a:ea typeface="Cambria" panose="02040503050406030204" pitchFamily="18" charset="0"/>
              </a:rPr>
              <a:t>: In the iron and steel industry, orders are scheduled on the hot rolling mill in such a way that the total set-up cost during the production can be minimized. </a:t>
            </a:r>
          </a:p>
          <a:p>
            <a:pPr marL="0" indent="0" algn="just">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6. </a:t>
            </a:r>
            <a:r>
              <a:rPr lang="en-US" sz="2400" b="1" dirty="0">
                <a:solidFill>
                  <a:schemeClr val="tx2">
                    <a:lumMod val="60000"/>
                    <a:lumOff val="40000"/>
                  </a:schemeClr>
                </a:solidFill>
                <a:latin typeface="Cambria" panose="02040503050406030204" pitchFamily="18" charset="0"/>
                <a:ea typeface="Cambria" panose="02040503050406030204" pitchFamily="18" charset="0"/>
              </a:rPr>
              <a:t>Design of global navigation satellite system surveying networks: </a:t>
            </a:r>
            <a:r>
              <a:rPr lang="en-US" sz="2400" dirty="0">
                <a:solidFill>
                  <a:schemeClr val="tx2">
                    <a:lumMod val="60000"/>
                    <a:lumOff val="40000"/>
                  </a:schemeClr>
                </a:solidFill>
                <a:latin typeface="Cambria" panose="02040503050406030204" pitchFamily="18" charset="0"/>
                <a:ea typeface="Cambria" panose="02040503050406030204" pitchFamily="18" charset="0"/>
              </a:rPr>
              <a:t>A very recent and an interesting application of the TSP, as investigated by (Saleh &amp; </a:t>
            </a:r>
            <a:r>
              <a:rPr lang="en-US" sz="2400" dirty="0" err="1">
                <a:solidFill>
                  <a:schemeClr val="tx2">
                    <a:lumMod val="60000"/>
                    <a:lumOff val="40000"/>
                  </a:schemeClr>
                </a:solidFill>
                <a:latin typeface="Cambria" panose="02040503050406030204" pitchFamily="18" charset="0"/>
                <a:ea typeface="Cambria" panose="02040503050406030204" pitchFamily="18" charset="0"/>
              </a:rPr>
              <a:t>Chelouah</a:t>
            </a:r>
            <a:r>
              <a:rPr lang="en-US" sz="2400" dirty="0">
                <a:solidFill>
                  <a:schemeClr val="tx2">
                    <a:lumMod val="60000"/>
                    <a:lumOff val="40000"/>
                  </a:schemeClr>
                </a:solidFill>
                <a:latin typeface="Cambria" panose="02040503050406030204" pitchFamily="18" charset="0"/>
                <a:ea typeface="Cambria" panose="02040503050406030204" pitchFamily="18" charset="0"/>
              </a:rPr>
              <a:t>, 2004) arises in the design of global navigation satellite system (GNSS) surveying networks. A GNSS is a space-based satellite system which provides coverage for all locations worldwide and is quite crucial in real-life applications such as early warning and management for disasters, environment and agriculture monitoring, </a:t>
            </a:r>
            <a:r>
              <a:rPr lang="en-US" sz="2400" dirty="0" err="1">
                <a:solidFill>
                  <a:schemeClr val="tx2">
                    <a:lumMod val="60000"/>
                    <a:lumOff val="40000"/>
                  </a:schemeClr>
                </a:solidFill>
                <a:latin typeface="Cambria" panose="02040503050406030204" pitchFamily="18" charset="0"/>
                <a:ea typeface="Cambria" panose="02040503050406030204" pitchFamily="18" charset="0"/>
              </a:rPr>
              <a:t>etc</a:t>
            </a:r>
            <a:endParaRPr lang="en-US" sz="2400" dirty="0">
              <a:solidFill>
                <a:schemeClr val="tx2">
                  <a:lumMod val="60000"/>
                  <a:lumOff val="40000"/>
                </a:schemeClr>
              </a:solidFill>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9964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Overview of Concepts of Ant Colony Optimization</a:t>
            </a:r>
          </a:p>
        </p:txBody>
      </p:sp>
      <p:sp>
        <p:nvSpPr>
          <p:cNvPr id="3" name="Content Placeholder 2"/>
          <p:cNvSpPr>
            <a:spLocks noGrp="1"/>
          </p:cNvSpPr>
          <p:nvPr>
            <p:ph idx="1"/>
          </p:nvPr>
        </p:nvSpPr>
        <p:spPr/>
        <p:txBody>
          <a:bodyPr/>
          <a:lstStyle/>
          <a:p>
            <a:pPr lvl="1" algn="just"/>
            <a:r>
              <a:rPr lang="en-GB" altLang="en-US" dirty="0">
                <a:latin typeface="Times New Roman" panose="02020603050405020304" pitchFamily="18" charset="0"/>
                <a:cs typeface="Times New Roman" panose="02020603050405020304" pitchFamily="18" charset="0"/>
              </a:rPr>
              <a:t>Ant Colony (-based) Optimisation – a way to solve optimisation problems based on the way that ants indirectly communicate directions to each other. </a:t>
            </a:r>
            <a:endParaRPr lang="en-US" i="1" dirty="0">
              <a:latin typeface="Times New Roman" panose="02020603050405020304" pitchFamily="18" charset="0"/>
              <a:cs typeface="Times New Roman" panose="02020603050405020304" pitchFamily="18" charset="0"/>
            </a:endParaRPr>
          </a:p>
          <a:p>
            <a:pPr lvl="1" algn="just"/>
            <a:r>
              <a:rPr lang="en-US" i="1" dirty="0" smtClean="0">
                <a:latin typeface="Times New Roman" panose="02020603050405020304" pitchFamily="18" charset="0"/>
                <a:cs typeface="Times New Roman" panose="02020603050405020304" pitchFamily="18" charset="0"/>
              </a:rPr>
              <a:t>Inspiration</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ACO is inspired by the foraging behavior of real ant colonies. Ants deposit chemical substances on the ground as they travel, and the intensity of chemical substances influences the paths chosen by other ants. Over time, shorter paths accumulate more pheromones, leading to the discovery of optimal routes.</a:t>
            </a:r>
          </a:p>
          <a:p>
            <a:pPr lvl="1" algn="just"/>
            <a:r>
              <a:rPr lang="en-US" i="1" dirty="0">
                <a:latin typeface="Times New Roman" panose="02020603050405020304" pitchFamily="18" charset="0"/>
                <a:cs typeface="Times New Roman" panose="02020603050405020304" pitchFamily="18" charset="0"/>
              </a:rPr>
              <a:t>Application:</a:t>
            </a:r>
            <a:r>
              <a:rPr lang="en-US" dirty="0">
                <a:latin typeface="Times New Roman" panose="02020603050405020304" pitchFamily="18" charset="0"/>
                <a:cs typeface="Times New Roman" panose="02020603050405020304" pitchFamily="18" charset="0"/>
              </a:rPr>
              <a:t> ACO has been successfully applied to combinatorial optimization problems, such as the traveling salesman problem, job scheduling, and network routing.</a:t>
            </a:r>
          </a:p>
          <a:p>
            <a:pPr lvl="1" algn="just"/>
            <a:endParaRPr lang="en-US" sz="2200" dirty="0">
              <a:latin typeface="Times New Roman" panose="02020603050405020304" pitchFamily="18" charset="0"/>
              <a:cs typeface="Times New Roman" panose="02020603050405020304" pitchFamily="18" charset="0"/>
            </a:endParaRP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1343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t>A living bridge</a:t>
            </a:r>
            <a:endParaRPr 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958975"/>
            <a:ext cx="57150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6750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t>Co-operative carrying</a:t>
            </a:r>
            <a:endParaRPr 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634" y="1916113"/>
            <a:ext cx="6913563"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9224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381" y="680857"/>
            <a:ext cx="10515600" cy="1325563"/>
          </a:xfrm>
        </p:spPr>
        <p:txBody>
          <a:bodyPr/>
          <a:lstStyle/>
          <a:p>
            <a:pPr algn="ctr"/>
            <a:r>
              <a:rPr lang="en-GB" altLang="en-US" dirty="0" smtClean="0"/>
              <a:t>Emergent </a:t>
            </a:r>
            <a:r>
              <a:rPr lang="en-GB" altLang="en-US" dirty="0"/>
              <a:t>property of many individuals operating simple rules</a:t>
            </a:r>
            <a:endParaRPr lang="en-US" dirty="0"/>
          </a:p>
        </p:txBody>
      </p:sp>
      <p:sp>
        <p:nvSpPr>
          <p:cNvPr id="3" name="Content Placeholder 2"/>
          <p:cNvSpPr>
            <a:spLocks noGrp="1"/>
          </p:cNvSpPr>
          <p:nvPr>
            <p:ph idx="1"/>
          </p:nvPr>
        </p:nvSpPr>
        <p:spPr/>
        <p:txBody>
          <a:bodyPr>
            <a:normAutofit/>
          </a:bodyPr>
          <a:lstStyle/>
          <a:p>
            <a:pPr lvl="1"/>
            <a:r>
              <a:rPr lang="en-GB" altLang="en-US" sz="2800" b="1" dirty="0">
                <a:latin typeface="Cambria" panose="02040503050406030204" pitchFamily="18" charset="0"/>
                <a:ea typeface="Cambria" panose="02040503050406030204" pitchFamily="18" charset="0"/>
              </a:rPr>
              <a:t>forming </a:t>
            </a:r>
            <a:r>
              <a:rPr lang="en-GB" altLang="en-US" sz="2800" b="1" dirty="0" smtClean="0">
                <a:latin typeface="Cambria" panose="02040503050406030204" pitchFamily="18" charset="0"/>
                <a:ea typeface="Cambria" panose="02040503050406030204" pitchFamily="18" charset="0"/>
              </a:rPr>
              <a:t>bridges</a:t>
            </a:r>
            <a:endParaRPr lang="en-GB" altLang="en-US" sz="2800" dirty="0">
              <a:latin typeface="Cambria" panose="02040503050406030204" pitchFamily="18" charset="0"/>
              <a:ea typeface="Cambria" panose="02040503050406030204" pitchFamily="18" charset="0"/>
            </a:endParaRPr>
          </a:p>
          <a:p>
            <a:pPr lvl="1"/>
            <a:r>
              <a:rPr lang="en-GB" altLang="en-US" sz="2800" b="1" dirty="0" smtClean="0">
                <a:latin typeface="Cambria" panose="02040503050406030204" pitchFamily="18" charset="0"/>
                <a:ea typeface="Cambria" panose="02040503050406030204" pitchFamily="18" charset="0"/>
              </a:rPr>
              <a:t>sorting </a:t>
            </a:r>
            <a:r>
              <a:rPr lang="en-GB" altLang="en-US" sz="2800" b="1" dirty="0">
                <a:latin typeface="Cambria" panose="02040503050406030204" pitchFamily="18" charset="0"/>
                <a:ea typeface="Cambria" panose="02040503050406030204" pitchFamily="18" charset="0"/>
              </a:rPr>
              <a:t>brood and food </a:t>
            </a:r>
            <a:r>
              <a:rPr lang="en-GB" altLang="en-US" sz="2800" b="1" dirty="0" smtClean="0">
                <a:latin typeface="Cambria" panose="02040503050406030204" pitchFamily="18" charset="0"/>
                <a:ea typeface="Cambria" panose="02040503050406030204" pitchFamily="18" charset="0"/>
              </a:rPr>
              <a:t>items</a:t>
            </a:r>
            <a:endParaRPr lang="en-GB" altLang="en-US" sz="2800" b="1" dirty="0">
              <a:latin typeface="Cambria" panose="02040503050406030204" pitchFamily="18" charset="0"/>
              <a:ea typeface="Cambria" panose="02040503050406030204" pitchFamily="18" charset="0"/>
            </a:endParaRPr>
          </a:p>
          <a:p>
            <a:pPr lvl="1"/>
            <a:r>
              <a:rPr lang="en-GB" altLang="en-US" sz="2800" b="1" dirty="0">
                <a:latin typeface="Cambria" panose="02040503050406030204" pitchFamily="18" charset="0"/>
                <a:ea typeface="Cambria" panose="02040503050406030204" pitchFamily="18" charset="0"/>
              </a:rPr>
              <a:t>cooperating in carrying large </a:t>
            </a:r>
            <a:r>
              <a:rPr lang="en-GB" altLang="en-US" sz="2800" b="1" dirty="0" smtClean="0">
                <a:latin typeface="Cambria" panose="02040503050406030204" pitchFamily="18" charset="0"/>
                <a:ea typeface="Cambria" panose="02040503050406030204" pitchFamily="18" charset="0"/>
              </a:rPr>
              <a:t>items</a:t>
            </a:r>
            <a:endParaRPr lang="en-GB" altLang="en-US" sz="2800" dirty="0">
              <a:latin typeface="Cambria" panose="02040503050406030204" pitchFamily="18" charset="0"/>
              <a:ea typeface="Cambria" panose="02040503050406030204" pitchFamily="18" charset="0"/>
            </a:endParaRPr>
          </a:p>
          <a:p>
            <a:pPr lvl="1"/>
            <a:r>
              <a:rPr lang="en-GB" altLang="en-US" sz="2800" dirty="0" smtClean="0">
                <a:solidFill>
                  <a:srgbClr val="FF0000"/>
                </a:solidFill>
                <a:latin typeface="Cambria" panose="02040503050406030204" pitchFamily="18" charset="0"/>
                <a:ea typeface="Cambria" panose="02040503050406030204" pitchFamily="18" charset="0"/>
              </a:rPr>
              <a:t>finding </a:t>
            </a:r>
            <a:r>
              <a:rPr lang="en-GB" altLang="en-US" sz="2800" dirty="0">
                <a:solidFill>
                  <a:srgbClr val="FF0000"/>
                </a:solidFill>
                <a:latin typeface="Cambria" panose="02040503050406030204" pitchFamily="18" charset="0"/>
                <a:ea typeface="Cambria" panose="02040503050406030204" pitchFamily="18" charset="0"/>
              </a:rPr>
              <a:t>shortest route from nest to food </a:t>
            </a:r>
            <a:r>
              <a:rPr lang="en-GB" altLang="en-US" sz="2800" dirty="0" smtClean="0">
                <a:solidFill>
                  <a:srgbClr val="FF0000"/>
                </a:solidFill>
                <a:latin typeface="Cambria" panose="02040503050406030204" pitchFamily="18" charset="0"/>
                <a:ea typeface="Cambria" panose="02040503050406030204" pitchFamily="18" charset="0"/>
              </a:rPr>
              <a:t>source</a:t>
            </a:r>
          </a:p>
          <a:p>
            <a:pPr marL="457200" lvl="1" indent="0">
              <a:buNone/>
            </a:pPr>
            <a:endParaRPr lang="en-GB" altLang="en-US" sz="2800" dirty="0">
              <a:latin typeface="Cambria" panose="02040503050406030204" pitchFamily="18" charset="0"/>
              <a:ea typeface="Cambria" panose="02040503050406030204" pitchFamily="18" charset="0"/>
            </a:endParaRPr>
          </a:p>
          <a:p>
            <a:pPr marL="0" indent="0">
              <a:buNone/>
            </a:pPr>
            <a:r>
              <a:rPr lang="en-GB" altLang="en-US" sz="3600" dirty="0"/>
              <a:t>The ACO algorithm is inspired by </a:t>
            </a:r>
            <a:r>
              <a:rPr lang="en-GB" altLang="en-US" sz="3600" dirty="0" smtClean="0"/>
              <a:t>the above point</a:t>
            </a:r>
            <a:endParaRPr lang="en-US" sz="3600" dirty="0"/>
          </a:p>
        </p:txBody>
      </p:sp>
      <p:sp>
        <p:nvSpPr>
          <p:cNvPr id="7" name="Freeform 6"/>
          <p:cNvSpPr/>
          <p:nvPr/>
        </p:nvSpPr>
        <p:spPr>
          <a:xfrm>
            <a:off x="7933872" y="3342481"/>
            <a:ext cx="2979738" cy="1317625"/>
          </a:xfrm>
          <a:custGeom>
            <a:avLst/>
            <a:gdLst>
              <a:gd name="connsiteX0" fmla="*/ 0 w 2979420"/>
              <a:gd name="connsiteY0" fmla="*/ 1301496 h 1316736"/>
              <a:gd name="connsiteX1" fmla="*/ 2596896 w 2979420"/>
              <a:gd name="connsiteY1" fmla="*/ 1127760 h 1316736"/>
              <a:gd name="connsiteX2" fmla="*/ 2295144 w 2979420"/>
              <a:gd name="connsiteY2" fmla="*/ 167640 h 1316736"/>
              <a:gd name="connsiteX3" fmla="*/ 1005840 w 2979420"/>
              <a:gd name="connsiteY3" fmla="*/ 121920 h 1316736"/>
            </a:gdLst>
            <a:ahLst/>
            <a:cxnLst>
              <a:cxn ang="0">
                <a:pos x="connsiteX0" y="connsiteY0"/>
              </a:cxn>
              <a:cxn ang="0">
                <a:pos x="connsiteX1" y="connsiteY1"/>
              </a:cxn>
              <a:cxn ang="0">
                <a:pos x="connsiteX2" y="connsiteY2"/>
              </a:cxn>
              <a:cxn ang="0">
                <a:pos x="connsiteX3" y="connsiteY3"/>
              </a:cxn>
            </a:cxnLst>
            <a:rect l="l" t="t" r="r" b="b"/>
            <a:pathLst>
              <a:path w="2979420" h="1316736">
                <a:moveTo>
                  <a:pt x="0" y="1301496"/>
                </a:moveTo>
                <a:cubicBezTo>
                  <a:pt x="1107186" y="1309116"/>
                  <a:pt x="2214372" y="1316736"/>
                  <a:pt x="2596896" y="1127760"/>
                </a:cubicBezTo>
                <a:cubicBezTo>
                  <a:pt x="2979420" y="938784"/>
                  <a:pt x="2560320" y="335280"/>
                  <a:pt x="2295144" y="167640"/>
                </a:cubicBezTo>
                <a:cubicBezTo>
                  <a:pt x="2029968" y="0"/>
                  <a:pt x="1517904" y="60960"/>
                  <a:pt x="1005840" y="121920"/>
                </a:cubicBezTo>
              </a:path>
            </a:pathLst>
          </a:custGeom>
          <a:ln w="38100">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pic>
        <p:nvPicPr>
          <p:cNvPr id="5" name="Picture 4"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1817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45" y="861652"/>
            <a:ext cx="10515600" cy="1325563"/>
          </a:xfrm>
        </p:spPr>
        <p:txBody>
          <a:bodyPr/>
          <a:lstStyle/>
          <a:p>
            <a:pPr algn="ctr"/>
            <a:r>
              <a:rPr lang="en-GB" altLang="en-US" dirty="0"/>
              <a:t>Ant Colony Optimisation Algorithms: Basic Ideas</a:t>
            </a:r>
            <a:endParaRPr lang="en-US" dirty="0"/>
          </a:p>
        </p:txBody>
      </p:sp>
      <p:sp>
        <p:nvSpPr>
          <p:cNvPr id="5" name="Rectangle 3"/>
          <p:cNvSpPr txBox="1">
            <a:spLocks noChangeArrowheads="1"/>
          </p:cNvSpPr>
          <p:nvPr/>
        </p:nvSpPr>
        <p:spPr>
          <a:xfrm>
            <a:off x="962025" y="1825625"/>
            <a:ext cx="9996261" cy="4444546"/>
          </a:xfrm>
          <a:prstGeom prst="rect">
            <a:avLst/>
          </a:prstGeom>
        </p:spPr>
        <p:txBody>
          <a:bodyPr vert="horz" lIns="92075" tIns="46038" rIns="92075" bIns="4603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defRPr/>
            </a:pPr>
            <a:r>
              <a:rPr lang="en-GB" sz="2000" dirty="0" smtClean="0">
                <a:latin typeface="Cambria" panose="02040503050406030204" pitchFamily="18" charset="0"/>
                <a:ea typeface="Cambria" panose="02040503050406030204" pitchFamily="18" charset="0"/>
              </a:rPr>
              <a:t>Ants are </a:t>
            </a:r>
            <a:r>
              <a:rPr lang="en-GB" sz="2000" i="1" dirty="0" smtClean="0">
                <a:latin typeface="Cambria" panose="02040503050406030204" pitchFamily="18" charset="0"/>
                <a:ea typeface="Cambria" panose="02040503050406030204" pitchFamily="18" charset="0"/>
              </a:rPr>
              <a:t>agents</a:t>
            </a:r>
            <a:r>
              <a:rPr lang="en-GB" sz="2000" dirty="0" smtClean="0">
                <a:latin typeface="Cambria" panose="02040503050406030204" pitchFamily="18" charset="0"/>
                <a:ea typeface="Cambria" panose="02040503050406030204" pitchFamily="18" charset="0"/>
              </a:rPr>
              <a:t> that:</a:t>
            </a: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00B050"/>
                </a:solidFill>
                <a:latin typeface="Cambria" panose="02040503050406030204" pitchFamily="18" charset="0"/>
                <a:ea typeface="Cambria" panose="02040503050406030204" pitchFamily="18" charset="0"/>
              </a:rPr>
              <a:t>Move along between nodes in a graph</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chemeClr val="accent2">
                    <a:lumMod val="75000"/>
                  </a:schemeClr>
                </a:solidFill>
                <a:latin typeface="Cambria" panose="02040503050406030204" pitchFamily="18" charset="0"/>
                <a:ea typeface="Cambria" panose="02040503050406030204" pitchFamily="18" charset="0"/>
              </a:rPr>
              <a:t>They choose where to go based on pheromone strength </a:t>
            </a:r>
            <a:r>
              <a:rPr lang="en-GB" sz="2000" dirty="0" smtClean="0">
                <a:latin typeface="Cambria" panose="02040503050406030204" pitchFamily="18" charset="0"/>
                <a:ea typeface="Cambria" panose="02040503050406030204" pitchFamily="18" charset="0"/>
              </a:rPr>
              <a:t>(and maybe  other things)</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C00000"/>
                </a:solidFill>
                <a:latin typeface="Cambria" panose="02040503050406030204" pitchFamily="18" charset="0"/>
                <a:ea typeface="Cambria" panose="02040503050406030204" pitchFamily="18" charset="0"/>
              </a:rPr>
              <a:t>An ant’s path represents a specific  candidate solution</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00B050"/>
                </a:solidFill>
                <a:latin typeface="Cambria" panose="02040503050406030204" pitchFamily="18" charset="0"/>
                <a:ea typeface="Cambria" panose="02040503050406030204" pitchFamily="18" charset="0"/>
              </a:rPr>
              <a:t>When an ant has finished a solution, pheromone is laid on its path, according to quality of solution</a:t>
            </a:r>
            <a:r>
              <a:rPr lang="en-GB" sz="2000" dirty="0" smtClean="0">
                <a:latin typeface="Cambria" panose="02040503050406030204" pitchFamily="18" charset="0"/>
                <a:ea typeface="Cambria" panose="02040503050406030204" pitchFamily="18" charset="0"/>
              </a:rPr>
              <a:t>.</a:t>
            </a:r>
          </a:p>
          <a:p>
            <a:pPr>
              <a:buFontTx/>
              <a:buNone/>
              <a:defRPr/>
            </a:pPr>
            <a:endParaRPr lang="en-GB" sz="2000" dirty="0" smtClean="0">
              <a:latin typeface="Cambria" panose="02040503050406030204" pitchFamily="18" charset="0"/>
              <a:ea typeface="Cambria" panose="02040503050406030204" pitchFamily="18" charset="0"/>
            </a:endParaRPr>
          </a:p>
          <a:p>
            <a:pPr>
              <a:buFontTx/>
              <a:buNone/>
              <a:defRPr/>
            </a:pPr>
            <a:r>
              <a:rPr lang="en-GB" sz="2000" dirty="0" smtClean="0">
                <a:latin typeface="Cambria" panose="02040503050406030204" pitchFamily="18" charset="0"/>
                <a:ea typeface="Cambria" panose="02040503050406030204" pitchFamily="18" charset="0"/>
              </a:rPr>
              <a:t>        </a:t>
            </a:r>
            <a:r>
              <a:rPr lang="en-GB" sz="2000" dirty="0" smtClean="0">
                <a:solidFill>
                  <a:srgbClr val="7030A0"/>
                </a:solidFill>
                <a:latin typeface="Cambria" panose="02040503050406030204" pitchFamily="18" charset="0"/>
                <a:ea typeface="Cambria" panose="02040503050406030204" pitchFamily="18" charset="0"/>
              </a:rPr>
              <a:t>This pheromone trail affects behaviour of other ants by `</a:t>
            </a:r>
            <a:r>
              <a:rPr lang="en-GB" sz="2000" dirty="0" err="1" smtClean="0">
                <a:solidFill>
                  <a:srgbClr val="7030A0"/>
                </a:solidFill>
                <a:latin typeface="Cambria" panose="02040503050406030204" pitchFamily="18" charset="0"/>
                <a:ea typeface="Cambria" panose="02040503050406030204" pitchFamily="18" charset="0"/>
              </a:rPr>
              <a:t>stigmergy</a:t>
            </a:r>
            <a:r>
              <a:rPr lang="en-GB" sz="2000" dirty="0" smtClean="0">
                <a:latin typeface="Cambria" panose="02040503050406030204" pitchFamily="18" charset="0"/>
                <a:ea typeface="Cambria" panose="02040503050406030204" pitchFamily="18" charset="0"/>
              </a:rPr>
              <a:t>’ …</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2259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altLang="en-US" dirty="0">
                <a:latin typeface="Cambria" panose="02040503050406030204" pitchFamily="18" charset="0"/>
                <a:ea typeface="Cambria" panose="02040503050406030204" pitchFamily="18" charset="0"/>
              </a:rPr>
              <a:t>Pheromone Trails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a:buNone/>
            </a:pPr>
            <a:r>
              <a:rPr lang="en-GB" altLang="en-US" dirty="0">
                <a:latin typeface="Cambria" panose="02040503050406030204" pitchFamily="18" charset="0"/>
                <a:ea typeface="Cambria" panose="02040503050406030204" pitchFamily="18" charset="0"/>
              </a:rPr>
              <a:t>Individual ants lay pheromone trails while travelling from the nest, to the nest or possibly in both directions.</a:t>
            </a:r>
          </a:p>
          <a:p>
            <a:pPr>
              <a:buNone/>
            </a:pPr>
            <a:r>
              <a:rPr lang="en-GB" altLang="en-US" dirty="0">
                <a:latin typeface="Cambria" panose="02040503050406030204" pitchFamily="18" charset="0"/>
                <a:ea typeface="Cambria" panose="02040503050406030204" pitchFamily="18" charset="0"/>
              </a:rPr>
              <a:t>The pheromone trail gradually evaporates over time.</a:t>
            </a:r>
          </a:p>
          <a:p>
            <a:pPr>
              <a:buNone/>
            </a:pPr>
            <a:r>
              <a:rPr lang="en-GB" altLang="en-US" dirty="0">
                <a:latin typeface="Cambria" panose="02040503050406030204" pitchFamily="18" charset="0"/>
                <a:ea typeface="Cambria" panose="02040503050406030204" pitchFamily="18" charset="0"/>
              </a:rPr>
              <a:t>But pheromone trail strength accumulate with multiple ants using path.</a:t>
            </a:r>
          </a:p>
          <a:p>
            <a:endParaRPr lang="en-US" dirty="0"/>
          </a:p>
        </p:txBody>
      </p:sp>
      <p:grpSp>
        <p:nvGrpSpPr>
          <p:cNvPr id="4" name="Group 4"/>
          <p:cNvGrpSpPr>
            <a:grpSpLocks/>
          </p:cNvGrpSpPr>
          <p:nvPr/>
        </p:nvGrpSpPr>
        <p:grpSpPr bwMode="auto">
          <a:xfrm>
            <a:off x="3238500" y="4376057"/>
            <a:ext cx="5715000" cy="1676400"/>
            <a:chOff x="1345" y="3425"/>
            <a:chExt cx="3167" cy="704"/>
          </a:xfrm>
        </p:grpSpPr>
        <p:grpSp>
          <p:nvGrpSpPr>
            <p:cNvPr id="5" name="Group 5"/>
            <p:cNvGrpSpPr>
              <a:grpSpLocks/>
            </p:cNvGrpSpPr>
            <p:nvPr/>
          </p:nvGrpSpPr>
          <p:grpSpPr bwMode="auto">
            <a:xfrm>
              <a:off x="1345" y="3425"/>
              <a:ext cx="3023" cy="704"/>
              <a:chOff x="1345" y="3425"/>
              <a:chExt cx="3023" cy="704"/>
            </a:xfrm>
          </p:grpSpPr>
          <p:grpSp>
            <p:nvGrpSpPr>
              <p:cNvPr id="8" name="Group 6"/>
              <p:cNvGrpSpPr>
                <a:grpSpLocks/>
              </p:cNvGrpSpPr>
              <p:nvPr/>
            </p:nvGrpSpPr>
            <p:grpSpPr bwMode="auto">
              <a:xfrm>
                <a:off x="1345" y="3840"/>
                <a:ext cx="191" cy="191"/>
                <a:chOff x="1345" y="3840"/>
                <a:chExt cx="191" cy="191"/>
              </a:xfrm>
            </p:grpSpPr>
            <p:sp>
              <p:nvSpPr>
                <p:cNvPr id="43" name="Oval 7"/>
                <p:cNvSpPr>
                  <a:spLocks noChangeArrowheads="1"/>
                </p:cNvSpPr>
                <p:nvPr/>
              </p:nvSpPr>
              <p:spPr bwMode="auto">
                <a:xfrm>
                  <a:off x="1345" y="3888"/>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44" name="Line 8"/>
                <p:cNvSpPr>
                  <a:spLocks noChangeShapeType="1"/>
                </p:cNvSpPr>
                <p:nvPr/>
              </p:nvSpPr>
              <p:spPr bwMode="auto">
                <a:xfrm flipH="1" flipV="1">
                  <a:off x="1345"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5" name="Line 9"/>
                <p:cNvSpPr>
                  <a:spLocks noChangeShapeType="1"/>
                </p:cNvSpPr>
                <p:nvPr/>
              </p:nvSpPr>
              <p:spPr bwMode="auto">
                <a:xfrm flipV="1">
                  <a:off x="1440" y="3840"/>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 name="Line 10"/>
                <p:cNvSpPr>
                  <a:spLocks noChangeShapeType="1"/>
                </p:cNvSpPr>
                <p:nvPr/>
              </p:nvSpPr>
              <p:spPr bwMode="auto">
                <a:xfrm flipV="1">
                  <a:off x="1489"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 name="Line 11"/>
                <p:cNvSpPr>
                  <a:spLocks noChangeShapeType="1"/>
                </p:cNvSpPr>
                <p:nvPr/>
              </p:nvSpPr>
              <p:spPr bwMode="auto">
                <a:xfrm flipH="1">
                  <a:off x="1346"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8" name="Line 12"/>
                <p:cNvSpPr>
                  <a:spLocks noChangeShapeType="1"/>
                </p:cNvSpPr>
                <p:nvPr/>
              </p:nvSpPr>
              <p:spPr bwMode="auto">
                <a:xfrm>
                  <a:off x="1440" y="3985"/>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9" name="Line 13"/>
                <p:cNvSpPr>
                  <a:spLocks noChangeShapeType="1"/>
                </p:cNvSpPr>
                <p:nvPr/>
              </p:nvSpPr>
              <p:spPr bwMode="auto">
                <a:xfrm>
                  <a:off x="1490"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0" name="Line 14"/>
                <p:cNvSpPr>
                  <a:spLocks noChangeShapeType="1"/>
                </p:cNvSpPr>
                <p:nvPr/>
              </p:nvSpPr>
              <p:spPr bwMode="auto">
                <a:xfrm flipV="1">
                  <a:off x="1536" y="3888"/>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1" name="Line 15"/>
                <p:cNvSpPr>
                  <a:spLocks noChangeShapeType="1"/>
                </p:cNvSpPr>
                <p:nvPr/>
              </p:nvSpPr>
              <p:spPr bwMode="auto">
                <a:xfrm>
                  <a:off x="1536" y="3937"/>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9" name="Group 16"/>
              <p:cNvGrpSpPr>
                <a:grpSpLocks/>
              </p:cNvGrpSpPr>
              <p:nvPr/>
            </p:nvGrpSpPr>
            <p:grpSpPr bwMode="auto">
              <a:xfrm>
                <a:off x="1633" y="3840"/>
                <a:ext cx="191" cy="191"/>
                <a:chOff x="1633" y="3840"/>
                <a:chExt cx="191" cy="191"/>
              </a:xfrm>
            </p:grpSpPr>
            <p:sp>
              <p:nvSpPr>
                <p:cNvPr id="34" name="Oval 17"/>
                <p:cNvSpPr>
                  <a:spLocks noChangeArrowheads="1"/>
                </p:cNvSpPr>
                <p:nvPr/>
              </p:nvSpPr>
              <p:spPr bwMode="auto">
                <a:xfrm>
                  <a:off x="1633" y="3888"/>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5" name="Line 18"/>
                <p:cNvSpPr>
                  <a:spLocks noChangeShapeType="1"/>
                </p:cNvSpPr>
                <p:nvPr/>
              </p:nvSpPr>
              <p:spPr bwMode="auto">
                <a:xfrm flipH="1" flipV="1">
                  <a:off x="1633"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6" name="Line 19"/>
                <p:cNvSpPr>
                  <a:spLocks noChangeShapeType="1"/>
                </p:cNvSpPr>
                <p:nvPr/>
              </p:nvSpPr>
              <p:spPr bwMode="auto">
                <a:xfrm flipV="1">
                  <a:off x="1728" y="3840"/>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 name="Line 20"/>
                <p:cNvSpPr>
                  <a:spLocks noChangeShapeType="1"/>
                </p:cNvSpPr>
                <p:nvPr/>
              </p:nvSpPr>
              <p:spPr bwMode="auto">
                <a:xfrm flipV="1">
                  <a:off x="1777" y="3840"/>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 name="Line 21"/>
                <p:cNvSpPr>
                  <a:spLocks noChangeShapeType="1"/>
                </p:cNvSpPr>
                <p:nvPr/>
              </p:nvSpPr>
              <p:spPr bwMode="auto">
                <a:xfrm flipH="1">
                  <a:off x="1634"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 name="Line 22"/>
                <p:cNvSpPr>
                  <a:spLocks noChangeShapeType="1"/>
                </p:cNvSpPr>
                <p:nvPr/>
              </p:nvSpPr>
              <p:spPr bwMode="auto">
                <a:xfrm>
                  <a:off x="1728" y="3985"/>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0" name="Line 23"/>
                <p:cNvSpPr>
                  <a:spLocks noChangeShapeType="1"/>
                </p:cNvSpPr>
                <p:nvPr/>
              </p:nvSpPr>
              <p:spPr bwMode="auto">
                <a:xfrm>
                  <a:off x="1778" y="3985"/>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1" name="Line 24"/>
                <p:cNvSpPr>
                  <a:spLocks noChangeShapeType="1"/>
                </p:cNvSpPr>
                <p:nvPr/>
              </p:nvSpPr>
              <p:spPr bwMode="auto">
                <a:xfrm flipV="1">
                  <a:off x="1824" y="3888"/>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2" name="Line 25"/>
                <p:cNvSpPr>
                  <a:spLocks noChangeShapeType="1"/>
                </p:cNvSpPr>
                <p:nvPr/>
              </p:nvSpPr>
              <p:spPr bwMode="auto">
                <a:xfrm>
                  <a:off x="1824" y="3937"/>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10" name="Freeform 26"/>
              <p:cNvSpPr>
                <a:spLocks/>
              </p:cNvSpPr>
              <p:nvPr/>
            </p:nvSpPr>
            <p:spPr bwMode="auto">
              <a:xfrm>
                <a:off x="1924" y="3425"/>
                <a:ext cx="1918" cy="482"/>
              </a:xfrm>
              <a:custGeom>
                <a:avLst/>
                <a:gdLst>
                  <a:gd name="T0" fmla="*/ 0 w 1918"/>
                  <a:gd name="T1" fmla="*/ 481 h 482"/>
                  <a:gd name="T2" fmla="*/ 18 w 1918"/>
                  <a:gd name="T3" fmla="*/ 469 h 482"/>
                  <a:gd name="T4" fmla="*/ 36 w 1918"/>
                  <a:gd name="T5" fmla="*/ 456 h 482"/>
                  <a:gd name="T6" fmla="*/ 67 w 1918"/>
                  <a:gd name="T7" fmla="*/ 425 h 482"/>
                  <a:gd name="T8" fmla="*/ 92 w 1918"/>
                  <a:gd name="T9" fmla="*/ 400 h 482"/>
                  <a:gd name="T10" fmla="*/ 116 w 1918"/>
                  <a:gd name="T11" fmla="*/ 381 h 482"/>
                  <a:gd name="T12" fmla="*/ 122 w 1918"/>
                  <a:gd name="T13" fmla="*/ 369 h 482"/>
                  <a:gd name="T14" fmla="*/ 129 w 1918"/>
                  <a:gd name="T15" fmla="*/ 362 h 482"/>
                  <a:gd name="T16" fmla="*/ 135 w 1918"/>
                  <a:gd name="T17" fmla="*/ 362 h 482"/>
                  <a:gd name="T18" fmla="*/ 147 w 1918"/>
                  <a:gd name="T19" fmla="*/ 350 h 482"/>
                  <a:gd name="T20" fmla="*/ 184 w 1918"/>
                  <a:gd name="T21" fmla="*/ 306 h 482"/>
                  <a:gd name="T22" fmla="*/ 202 w 1918"/>
                  <a:gd name="T23" fmla="*/ 281 h 482"/>
                  <a:gd name="T24" fmla="*/ 227 w 1918"/>
                  <a:gd name="T25" fmla="*/ 262 h 482"/>
                  <a:gd name="T26" fmla="*/ 264 w 1918"/>
                  <a:gd name="T27" fmla="*/ 225 h 482"/>
                  <a:gd name="T28" fmla="*/ 282 w 1918"/>
                  <a:gd name="T29" fmla="*/ 206 h 482"/>
                  <a:gd name="T30" fmla="*/ 307 w 1918"/>
                  <a:gd name="T31" fmla="*/ 200 h 482"/>
                  <a:gd name="T32" fmla="*/ 356 w 1918"/>
                  <a:gd name="T33" fmla="*/ 169 h 482"/>
                  <a:gd name="T34" fmla="*/ 399 w 1918"/>
                  <a:gd name="T35" fmla="*/ 150 h 482"/>
                  <a:gd name="T36" fmla="*/ 497 w 1918"/>
                  <a:gd name="T37" fmla="*/ 112 h 482"/>
                  <a:gd name="T38" fmla="*/ 528 w 1918"/>
                  <a:gd name="T39" fmla="*/ 119 h 482"/>
                  <a:gd name="T40" fmla="*/ 559 w 1918"/>
                  <a:gd name="T41" fmla="*/ 119 h 482"/>
                  <a:gd name="T42" fmla="*/ 583 w 1918"/>
                  <a:gd name="T43" fmla="*/ 125 h 482"/>
                  <a:gd name="T44" fmla="*/ 590 w 1918"/>
                  <a:gd name="T45" fmla="*/ 131 h 482"/>
                  <a:gd name="T46" fmla="*/ 596 w 1918"/>
                  <a:gd name="T47" fmla="*/ 131 h 482"/>
                  <a:gd name="T48" fmla="*/ 620 w 1918"/>
                  <a:gd name="T49" fmla="*/ 156 h 482"/>
                  <a:gd name="T50" fmla="*/ 645 w 1918"/>
                  <a:gd name="T51" fmla="*/ 181 h 482"/>
                  <a:gd name="T52" fmla="*/ 663 w 1918"/>
                  <a:gd name="T53" fmla="*/ 206 h 482"/>
                  <a:gd name="T54" fmla="*/ 682 w 1918"/>
                  <a:gd name="T55" fmla="*/ 231 h 482"/>
                  <a:gd name="T56" fmla="*/ 688 w 1918"/>
                  <a:gd name="T57" fmla="*/ 250 h 482"/>
                  <a:gd name="T58" fmla="*/ 700 w 1918"/>
                  <a:gd name="T59" fmla="*/ 269 h 482"/>
                  <a:gd name="T60" fmla="*/ 706 w 1918"/>
                  <a:gd name="T61" fmla="*/ 275 h 482"/>
                  <a:gd name="T62" fmla="*/ 719 w 1918"/>
                  <a:gd name="T63" fmla="*/ 275 h 482"/>
                  <a:gd name="T64" fmla="*/ 768 w 1918"/>
                  <a:gd name="T65" fmla="*/ 275 h 482"/>
                  <a:gd name="T66" fmla="*/ 811 w 1918"/>
                  <a:gd name="T67" fmla="*/ 269 h 482"/>
                  <a:gd name="T68" fmla="*/ 829 w 1918"/>
                  <a:gd name="T69" fmla="*/ 256 h 482"/>
                  <a:gd name="T70" fmla="*/ 842 w 1918"/>
                  <a:gd name="T71" fmla="*/ 237 h 482"/>
                  <a:gd name="T72" fmla="*/ 854 w 1918"/>
                  <a:gd name="T73" fmla="*/ 212 h 482"/>
                  <a:gd name="T74" fmla="*/ 866 w 1918"/>
                  <a:gd name="T75" fmla="*/ 200 h 482"/>
                  <a:gd name="T76" fmla="*/ 897 w 1918"/>
                  <a:gd name="T77" fmla="*/ 169 h 482"/>
                  <a:gd name="T78" fmla="*/ 921 w 1918"/>
                  <a:gd name="T79" fmla="*/ 137 h 482"/>
                  <a:gd name="T80" fmla="*/ 1001 w 1918"/>
                  <a:gd name="T81" fmla="*/ 69 h 482"/>
                  <a:gd name="T82" fmla="*/ 1087 w 1918"/>
                  <a:gd name="T83" fmla="*/ 12 h 482"/>
                  <a:gd name="T84" fmla="*/ 1137 w 1918"/>
                  <a:gd name="T85" fmla="*/ 6 h 482"/>
                  <a:gd name="T86" fmla="*/ 1186 w 1918"/>
                  <a:gd name="T87" fmla="*/ 0 h 482"/>
                  <a:gd name="T88" fmla="*/ 1229 w 1918"/>
                  <a:gd name="T89" fmla="*/ 6 h 482"/>
                  <a:gd name="T90" fmla="*/ 1247 w 1918"/>
                  <a:gd name="T91" fmla="*/ 12 h 482"/>
                  <a:gd name="T92" fmla="*/ 1259 w 1918"/>
                  <a:gd name="T93" fmla="*/ 25 h 482"/>
                  <a:gd name="T94" fmla="*/ 1284 w 1918"/>
                  <a:gd name="T95" fmla="*/ 56 h 482"/>
                  <a:gd name="T96" fmla="*/ 1309 w 1918"/>
                  <a:gd name="T97" fmla="*/ 100 h 482"/>
                  <a:gd name="T98" fmla="*/ 1321 w 1918"/>
                  <a:gd name="T99" fmla="*/ 144 h 482"/>
                  <a:gd name="T100" fmla="*/ 1339 w 1918"/>
                  <a:gd name="T101" fmla="*/ 181 h 482"/>
                  <a:gd name="T102" fmla="*/ 1364 w 1918"/>
                  <a:gd name="T103" fmla="*/ 219 h 482"/>
                  <a:gd name="T104" fmla="*/ 1395 w 1918"/>
                  <a:gd name="T105" fmla="*/ 250 h 482"/>
                  <a:gd name="T106" fmla="*/ 1462 w 1918"/>
                  <a:gd name="T107" fmla="*/ 294 h 482"/>
                  <a:gd name="T108" fmla="*/ 1518 w 1918"/>
                  <a:gd name="T109" fmla="*/ 319 h 482"/>
                  <a:gd name="T110" fmla="*/ 1567 w 1918"/>
                  <a:gd name="T111" fmla="*/ 337 h 482"/>
                  <a:gd name="T112" fmla="*/ 1622 w 1918"/>
                  <a:gd name="T113" fmla="*/ 344 h 482"/>
                  <a:gd name="T114" fmla="*/ 1677 w 1918"/>
                  <a:gd name="T115" fmla="*/ 344 h 482"/>
                  <a:gd name="T116" fmla="*/ 1794 w 1918"/>
                  <a:gd name="T117" fmla="*/ 344 h 482"/>
                  <a:gd name="T118" fmla="*/ 1917 w 1918"/>
                  <a:gd name="T119" fmla="*/ 337 h 4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18"/>
                  <a:gd name="T181" fmla="*/ 0 h 482"/>
                  <a:gd name="T182" fmla="*/ 1918 w 1918"/>
                  <a:gd name="T183" fmla="*/ 482 h 4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18" h="482">
                    <a:moveTo>
                      <a:pt x="0" y="481"/>
                    </a:moveTo>
                    <a:lnTo>
                      <a:pt x="18" y="469"/>
                    </a:lnTo>
                    <a:lnTo>
                      <a:pt x="36" y="456"/>
                    </a:lnTo>
                    <a:lnTo>
                      <a:pt x="67" y="425"/>
                    </a:lnTo>
                    <a:lnTo>
                      <a:pt x="92" y="400"/>
                    </a:lnTo>
                    <a:lnTo>
                      <a:pt x="116" y="381"/>
                    </a:lnTo>
                    <a:lnTo>
                      <a:pt x="122" y="369"/>
                    </a:lnTo>
                    <a:lnTo>
                      <a:pt x="129" y="362"/>
                    </a:lnTo>
                    <a:lnTo>
                      <a:pt x="135" y="362"/>
                    </a:lnTo>
                    <a:lnTo>
                      <a:pt x="147" y="350"/>
                    </a:lnTo>
                    <a:lnTo>
                      <a:pt x="184" y="306"/>
                    </a:lnTo>
                    <a:lnTo>
                      <a:pt x="202" y="281"/>
                    </a:lnTo>
                    <a:lnTo>
                      <a:pt x="227" y="262"/>
                    </a:lnTo>
                    <a:lnTo>
                      <a:pt x="264" y="225"/>
                    </a:lnTo>
                    <a:lnTo>
                      <a:pt x="282" y="206"/>
                    </a:lnTo>
                    <a:lnTo>
                      <a:pt x="307" y="200"/>
                    </a:lnTo>
                    <a:lnTo>
                      <a:pt x="356" y="169"/>
                    </a:lnTo>
                    <a:lnTo>
                      <a:pt x="399" y="150"/>
                    </a:lnTo>
                    <a:lnTo>
                      <a:pt x="497" y="112"/>
                    </a:lnTo>
                    <a:lnTo>
                      <a:pt x="528" y="119"/>
                    </a:lnTo>
                    <a:lnTo>
                      <a:pt x="559" y="119"/>
                    </a:lnTo>
                    <a:lnTo>
                      <a:pt x="583" y="125"/>
                    </a:lnTo>
                    <a:lnTo>
                      <a:pt x="590" y="131"/>
                    </a:lnTo>
                    <a:lnTo>
                      <a:pt x="596" y="131"/>
                    </a:lnTo>
                    <a:lnTo>
                      <a:pt x="620" y="156"/>
                    </a:lnTo>
                    <a:lnTo>
                      <a:pt x="645" y="181"/>
                    </a:lnTo>
                    <a:lnTo>
                      <a:pt x="663" y="206"/>
                    </a:lnTo>
                    <a:lnTo>
                      <a:pt x="682" y="231"/>
                    </a:lnTo>
                    <a:lnTo>
                      <a:pt x="688" y="250"/>
                    </a:lnTo>
                    <a:lnTo>
                      <a:pt x="700" y="269"/>
                    </a:lnTo>
                    <a:lnTo>
                      <a:pt x="706" y="275"/>
                    </a:lnTo>
                    <a:lnTo>
                      <a:pt x="719" y="275"/>
                    </a:lnTo>
                    <a:lnTo>
                      <a:pt x="768" y="275"/>
                    </a:lnTo>
                    <a:lnTo>
                      <a:pt x="811" y="269"/>
                    </a:lnTo>
                    <a:lnTo>
                      <a:pt x="829" y="256"/>
                    </a:lnTo>
                    <a:lnTo>
                      <a:pt x="842" y="237"/>
                    </a:lnTo>
                    <a:lnTo>
                      <a:pt x="854" y="212"/>
                    </a:lnTo>
                    <a:lnTo>
                      <a:pt x="866" y="200"/>
                    </a:lnTo>
                    <a:lnTo>
                      <a:pt x="897" y="169"/>
                    </a:lnTo>
                    <a:lnTo>
                      <a:pt x="921" y="137"/>
                    </a:lnTo>
                    <a:lnTo>
                      <a:pt x="1001" y="69"/>
                    </a:lnTo>
                    <a:lnTo>
                      <a:pt x="1087" y="12"/>
                    </a:lnTo>
                    <a:lnTo>
                      <a:pt x="1137" y="6"/>
                    </a:lnTo>
                    <a:lnTo>
                      <a:pt x="1186" y="0"/>
                    </a:lnTo>
                    <a:lnTo>
                      <a:pt x="1229" y="6"/>
                    </a:lnTo>
                    <a:lnTo>
                      <a:pt x="1247" y="12"/>
                    </a:lnTo>
                    <a:lnTo>
                      <a:pt x="1259" y="25"/>
                    </a:lnTo>
                    <a:lnTo>
                      <a:pt x="1284" y="56"/>
                    </a:lnTo>
                    <a:lnTo>
                      <a:pt x="1309" y="100"/>
                    </a:lnTo>
                    <a:lnTo>
                      <a:pt x="1321" y="144"/>
                    </a:lnTo>
                    <a:lnTo>
                      <a:pt x="1339" y="181"/>
                    </a:lnTo>
                    <a:lnTo>
                      <a:pt x="1364" y="219"/>
                    </a:lnTo>
                    <a:lnTo>
                      <a:pt x="1395" y="250"/>
                    </a:lnTo>
                    <a:lnTo>
                      <a:pt x="1462" y="294"/>
                    </a:lnTo>
                    <a:lnTo>
                      <a:pt x="1518" y="319"/>
                    </a:lnTo>
                    <a:lnTo>
                      <a:pt x="1567" y="337"/>
                    </a:lnTo>
                    <a:lnTo>
                      <a:pt x="1622" y="344"/>
                    </a:lnTo>
                    <a:lnTo>
                      <a:pt x="1677" y="344"/>
                    </a:lnTo>
                    <a:lnTo>
                      <a:pt x="1794" y="344"/>
                    </a:lnTo>
                    <a:lnTo>
                      <a:pt x="1917" y="337"/>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 name="Freeform 27"/>
              <p:cNvSpPr>
                <a:spLocks/>
              </p:cNvSpPr>
              <p:nvPr/>
            </p:nvSpPr>
            <p:spPr bwMode="auto">
              <a:xfrm>
                <a:off x="2043" y="3667"/>
                <a:ext cx="1769" cy="306"/>
              </a:xfrm>
              <a:custGeom>
                <a:avLst/>
                <a:gdLst>
                  <a:gd name="T0" fmla="*/ 0 w 1769"/>
                  <a:gd name="T1" fmla="*/ 305 h 306"/>
                  <a:gd name="T2" fmla="*/ 30 w 1769"/>
                  <a:gd name="T3" fmla="*/ 273 h 306"/>
                  <a:gd name="T4" fmla="*/ 61 w 1769"/>
                  <a:gd name="T5" fmla="*/ 241 h 306"/>
                  <a:gd name="T6" fmla="*/ 122 w 1769"/>
                  <a:gd name="T7" fmla="*/ 203 h 306"/>
                  <a:gd name="T8" fmla="*/ 177 w 1769"/>
                  <a:gd name="T9" fmla="*/ 165 h 306"/>
                  <a:gd name="T10" fmla="*/ 195 w 1769"/>
                  <a:gd name="T11" fmla="*/ 152 h 306"/>
                  <a:gd name="T12" fmla="*/ 213 w 1769"/>
                  <a:gd name="T13" fmla="*/ 140 h 306"/>
                  <a:gd name="T14" fmla="*/ 231 w 1769"/>
                  <a:gd name="T15" fmla="*/ 127 h 306"/>
                  <a:gd name="T16" fmla="*/ 256 w 1769"/>
                  <a:gd name="T17" fmla="*/ 121 h 306"/>
                  <a:gd name="T18" fmla="*/ 292 w 1769"/>
                  <a:gd name="T19" fmla="*/ 102 h 306"/>
                  <a:gd name="T20" fmla="*/ 335 w 1769"/>
                  <a:gd name="T21" fmla="*/ 89 h 306"/>
                  <a:gd name="T22" fmla="*/ 372 w 1769"/>
                  <a:gd name="T23" fmla="*/ 102 h 306"/>
                  <a:gd name="T24" fmla="*/ 414 w 1769"/>
                  <a:gd name="T25" fmla="*/ 121 h 306"/>
                  <a:gd name="T26" fmla="*/ 488 w 1769"/>
                  <a:gd name="T27" fmla="*/ 152 h 306"/>
                  <a:gd name="T28" fmla="*/ 500 w 1769"/>
                  <a:gd name="T29" fmla="*/ 159 h 306"/>
                  <a:gd name="T30" fmla="*/ 512 w 1769"/>
                  <a:gd name="T31" fmla="*/ 165 h 306"/>
                  <a:gd name="T32" fmla="*/ 524 w 1769"/>
                  <a:gd name="T33" fmla="*/ 172 h 306"/>
                  <a:gd name="T34" fmla="*/ 536 w 1769"/>
                  <a:gd name="T35" fmla="*/ 172 h 306"/>
                  <a:gd name="T36" fmla="*/ 561 w 1769"/>
                  <a:gd name="T37" fmla="*/ 178 h 306"/>
                  <a:gd name="T38" fmla="*/ 567 w 1769"/>
                  <a:gd name="T39" fmla="*/ 184 h 306"/>
                  <a:gd name="T40" fmla="*/ 573 w 1769"/>
                  <a:gd name="T41" fmla="*/ 184 h 306"/>
                  <a:gd name="T42" fmla="*/ 616 w 1769"/>
                  <a:gd name="T43" fmla="*/ 184 h 306"/>
                  <a:gd name="T44" fmla="*/ 652 w 1769"/>
                  <a:gd name="T45" fmla="*/ 178 h 306"/>
                  <a:gd name="T46" fmla="*/ 664 w 1769"/>
                  <a:gd name="T47" fmla="*/ 178 h 306"/>
                  <a:gd name="T48" fmla="*/ 683 w 1769"/>
                  <a:gd name="T49" fmla="*/ 172 h 306"/>
                  <a:gd name="T50" fmla="*/ 695 w 1769"/>
                  <a:gd name="T51" fmla="*/ 165 h 306"/>
                  <a:gd name="T52" fmla="*/ 701 w 1769"/>
                  <a:gd name="T53" fmla="*/ 165 h 306"/>
                  <a:gd name="T54" fmla="*/ 738 w 1769"/>
                  <a:gd name="T55" fmla="*/ 140 h 306"/>
                  <a:gd name="T56" fmla="*/ 768 w 1769"/>
                  <a:gd name="T57" fmla="*/ 127 h 306"/>
                  <a:gd name="T58" fmla="*/ 811 w 1769"/>
                  <a:gd name="T59" fmla="*/ 89 h 306"/>
                  <a:gd name="T60" fmla="*/ 866 w 1769"/>
                  <a:gd name="T61" fmla="*/ 64 h 306"/>
                  <a:gd name="T62" fmla="*/ 969 w 1769"/>
                  <a:gd name="T63" fmla="*/ 19 h 306"/>
                  <a:gd name="T64" fmla="*/ 1006 w 1769"/>
                  <a:gd name="T65" fmla="*/ 6 h 306"/>
                  <a:gd name="T66" fmla="*/ 1042 w 1769"/>
                  <a:gd name="T67" fmla="*/ 0 h 306"/>
                  <a:gd name="T68" fmla="*/ 1091 w 1769"/>
                  <a:gd name="T69" fmla="*/ 0 h 306"/>
                  <a:gd name="T70" fmla="*/ 1146 w 1769"/>
                  <a:gd name="T71" fmla="*/ 6 h 306"/>
                  <a:gd name="T72" fmla="*/ 1152 w 1769"/>
                  <a:gd name="T73" fmla="*/ 13 h 306"/>
                  <a:gd name="T74" fmla="*/ 1164 w 1769"/>
                  <a:gd name="T75" fmla="*/ 32 h 306"/>
                  <a:gd name="T76" fmla="*/ 1177 w 1769"/>
                  <a:gd name="T77" fmla="*/ 44 h 306"/>
                  <a:gd name="T78" fmla="*/ 1183 w 1769"/>
                  <a:gd name="T79" fmla="*/ 57 h 306"/>
                  <a:gd name="T80" fmla="*/ 1207 w 1769"/>
                  <a:gd name="T81" fmla="*/ 76 h 306"/>
                  <a:gd name="T82" fmla="*/ 1219 w 1769"/>
                  <a:gd name="T83" fmla="*/ 89 h 306"/>
                  <a:gd name="T84" fmla="*/ 1231 w 1769"/>
                  <a:gd name="T85" fmla="*/ 102 h 306"/>
                  <a:gd name="T86" fmla="*/ 1256 w 1769"/>
                  <a:gd name="T87" fmla="*/ 121 h 306"/>
                  <a:gd name="T88" fmla="*/ 1268 w 1769"/>
                  <a:gd name="T89" fmla="*/ 127 h 306"/>
                  <a:gd name="T90" fmla="*/ 1286 w 1769"/>
                  <a:gd name="T91" fmla="*/ 127 h 306"/>
                  <a:gd name="T92" fmla="*/ 1298 w 1769"/>
                  <a:gd name="T93" fmla="*/ 127 h 306"/>
                  <a:gd name="T94" fmla="*/ 1311 w 1769"/>
                  <a:gd name="T95" fmla="*/ 127 h 306"/>
                  <a:gd name="T96" fmla="*/ 1390 w 1769"/>
                  <a:gd name="T97" fmla="*/ 146 h 306"/>
                  <a:gd name="T98" fmla="*/ 1469 w 1769"/>
                  <a:gd name="T99" fmla="*/ 159 h 306"/>
                  <a:gd name="T100" fmla="*/ 1628 w 1769"/>
                  <a:gd name="T101" fmla="*/ 172 h 306"/>
                  <a:gd name="T102" fmla="*/ 1664 w 1769"/>
                  <a:gd name="T103" fmla="*/ 184 h 306"/>
                  <a:gd name="T104" fmla="*/ 1695 w 1769"/>
                  <a:gd name="T105" fmla="*/ 191 h 306"/>
                  <a:gd name="T106" fmla="*/ 1719 w 1769"/>
                  <a:gd name="T107" fmla="*/ 197 h 306"/>
                  <a:gd name="T108" fmla="*/ 1744 w 1769"/>
                  <a:gd name="T109" fmla="*/ 197 h 306"/>
                  <a:gd name="T110" fmla="*/ 1762 w 1769"/>
                  <a:gd name="T111" fmla="*/ 203 h 306"/>
                  <a:gd name="T112" fmla="*/ 1768 w 1769"/>
                  <a:gd name="T113" fmla="*/ 203 h 3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769"/>
                  <a:gd name="T172" fmla="*/ 0 h 306"/>
                  <a:gd name="T173" fmla="*/ 1769 w 1769"/>
                  <a:gd name="T174" fmla="*/ 306 h 3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769" h="306">
                    <a:moveTo>
                      <a:pt x="0" y="305"/>
                    </a:moveTo>
                    <a:lnTo>
                      <a:pt x="30" y="273"/>
                    </a:lnTo>
                    <a:lnTo>
                      <a:pt x="61" y="241"/>
                    </a:lnTo>
                    <a:lnTo>
                      <a:pt x="122" y="203"/>
                    </a:lnTo>
                    <a:lnTo>
                      <a:pt x="177" y="165"/>
                    </a:lnTo>
                    <a:lnTo>
                      <a:pt x="195" y="152"/>
                    </a:lnTo>
                    <a:lnTo>
                      <a:pt x="213" y="140"/>
                    </a:lnTo>
                    <a:lnTo>
                      <a:pt x="231" y="127"/>
                    </a:lnTo>
                    <a:lnTo>
                      <a:pt x="256" y="121"/>
                    </a:lnTo>
                    <a:lnTo>
                      <a:pt x="292" y="102"/>
                    </a:lnTo>
                    <a:lnTo>
                      <a:pt x="335" y="89"/>
                    </a:lnTo>
                    <a:lnTo>
                      <a:pt x="372" y="102"/>
                    </a:lnTo>
                    <a:lnTo>
                      <a:pt x="414" y="121"/>
                    </a:lnTo>
                    <a:lnTo>
                      <a:pt x="488" y="152"/>
                    </a:lnTo>
                    <a:lnTo>
                      <a:pt x="500" y="159"/>
                    </a:lnTo>
                    <a:lnTo>
                      <a:pt x="512" y="165"/>
                    </a:lnTo>
                    <a:lnTo>
                      <a:pt x="524" y="172"/>
                    </a:lnTo>
                    <a:lnTo>
                      <a:pt x="536" y="172"/>
                    </a:lnTo>
                    <a:lnTo>
                      <a:pt x="561" y="178"/>
                    </a:lnTo>
                    <a:lnTo>
                      <a:pt x="567" y="184"/>
                    </a:lnTo>
                    <a:lnTo>
                      <a:pt x="573" y="184"/>
                    </a:lnTo>
                    <a:lnTo>
                      <a:pt x="616" y="184"/>
                    </a:lnTo>
                    <a:lnTo>
                      <a:pt x="652" y="178"/>
                    </a:lnTo>
                    <a:lnTo>
                      <a:pt x="664" y="178"/>
                    </a:lnTo>
                    <a:lnTo>
                      <a:pt x="683" y="172"/>
                    </a:lnTo>
                    <a:lnTo>
                      <a:pt x="695" y="165"/>
                    </a:lnTo>
                    <a:lnTo>
                      <a:pt x="701" y="165"/>
                    </a:lnTo>
                    <a:lnTo>
                      <a:pt x="738" y="140"/>
                    </a:lnTo>
                    <a:lnTo>
                      <a:pt x="768" y="127"/>
                    </a:lnTo>
                    <a:lnTo>
                      <a:pt x="811" y="89"/>
                    </a:lnTo>
                    <a:lnTo>
                      <a:pt x="866" y="64"/>
                    </a:lnTo>
                    <a:lnTo>
                      <a:pt x="969" y="19"/>
                    </a:lnTo>
                    <a:lnTo>
                      <a:pt x="1006" y="6"/>
                    </a:lnTo>
                    <a:lnTo>
                      <a:pt x="1042" y="0"/>
                    </a:lnTo>
                    <a:lnTo>
                      <a:pt x="1091" y="0"/>
                    </a:lnTo>
                    <a:lnTo>
                      <a:pt x="1146" y="6"/>
                    </a:lnTo>
                    <a:lnTo>
                      <a:pt x="1152" y="13"/>
                    </a:lnTo>
                    <a:lnTo>
                      <a:pt x="1164" y="32"/>
                    </a:lnTo>
                    <a:lnTo>
                      <a:pt x="1177" y="44"/>
                    </a:lnTo>
                    <a:lnTo>
                      <a:pt x="1183" y="57"/>
                    </a:lnTo>
                    <a:lnTo>
                      <a:pt x="1207" y="76"/>
                    </a:lnTo>
                    <a:lnTo>
                      <a:pt x="1219" y="89"/>
                    </a:lnTo>
                    <a:lnTo>
                      <a:pt x="1231" y="102"/>
                    </a:lnTo>
                    <a:lnTo>
                      <a:pt x="1256" y="121"/>
                    </a:lnTo>
                    <a:lnTo>
                      <a:pt x="1268" y="127"/>
                    </a:lnTo>
                    <a:lnTo>
                      <a:pt x="1286" y="127"/>
                    </a:lnTo>
                    <a:lnTo>
                      <a:pt x="1298" y="127"/>
                    </a:lnTo>
                    <a:lnTo>
                      <a:pt x="1311" y="127"/>
                    </a:lnTo>
                    <a:lnTo>
                      <a:pt x="1390" y="146"/>
                    </a:lnTo>
                    <a:lnTo>
                      <a:pt x="1469" y="159"/>
                    </a:lnTo>
                    <a:lnTo>
                      <a:pt x="1628" y="172"/>
                    </a:lnTo>
                    <a:lnTo>
                      <a:pt x="1664" y="184"/>
                    </a:lnTo>
                    <a:lnTo>
                      <a:pt x="1695" y="191"/>
                    </a:lnTo>
                    <a:lnTo>
                      <a:pt x="1719" y="197"/>
                    </a:lnTo>
                    <a:lnTo>
                      <a:pt x="1744" y="197"/>
                    </a:lnTo>
                    <a:lnTo>
                      <a:pt x="1762" y="203"/>
                    </a:lnTo>
                    <a:lnTo>
                      <a:pt x="1768" y="203"/>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28"/>
              <p:cNvSpPr>
                <a:spLocks/>
              </p:cNvSpPr>
              <p:nvPr/>
            </p:nvSpPr>
            <p:spPr bwMode="auto">
              <a:xfrm>
                <a:off x="2046" y="3882"/>
                <a:ext cx="1760" cy="150"/>
              </a:xfrm>
              <a:custGeom>
                <a:avLst/>
                <a:gdLst>
                  <a:gd name="T0" fmla="*/ 0 w 1760"/>
                  <a:gd name="T1" fmla="*/ 104 h 150"/>
                  <a:gd name="T2" fmla="*/ 146 w 1760"/>
                  <a:gd name="T3" fmla="*/ 117 h 150"/>
                  <a:gd name="T4" fmla="*/ 286 w 1760"/>
                  <a:gd name="T5" fmla="*/ 123 h 150"/>
                  <a:gd name="T6" fmla="*/ 426 w 1760"/>
                  <a:gd name="T7" fmla="*/ 130 h 150"/>
                  <a:gd name="T8" fmla="*/ 578 w 1760"/>
                  <a:gd name="T9" fmla="*/ 130 h 150"/>
                  <a:gd name="T10" fmla="*/ 633 w 1760"/>
                  <a:gd name="T11" fmla="*/ 136 h 150"/>
                  <a:gd name="T12" fmla="*/ 675 w 1760"/>
                  <a:gd name="T13" fmla="*/ 143 h 150"/>
                  <a:gd name="T14" fmla="*/ 712 w 1760"/>
                  <a:gd name="T15" fmla="*/ 143 h 150"/>
                  <a:gd name="T16" fmla="*/ 742 w 1760"/>
                  <a:gd name="T17" fmla="*/ 143 h 150"/>
                  <a:gd name="T18" fmla="*/ 785 w 1760"/>
                  <a:gd name="T19" fmla="*/ 149 h 150"/>
                  <a:gd name="T20" fmla="*/ 828 w 1760"/>
                  <a:gd name="T21" fmla="*/ 149 h 150"/>
                  <a:gd name="T22" fmla="*/ 852 w 1760"/>
                  <a:gd name="T23" fmla="*/ 149 h 150"/>
                  <a:gd name="T24" fmla="*/ 882 w 1760"/>
                  <a:gd name="T25" fmla="*/ 143 h 150"/>
                  <a:gd name="T26" fmla="*/ 919 w 1760"/>
                  <a:gd name="T27" fmla="*/ 143 h 150"/>
                  <a:gd name="T28" fmla="*/ 974 w 1760"/>
                  <a:gd name="T29" fmla="*/ 143 h 150"/>
                  <a:gd name="T30" fmla="*/ 1035 w 1760"/>
                  <a:gd name="T31" fmla="*/ 143 h 150"/>
                  <a:gd name="T32" fmla="*/ 1108 w 1760"/>
                  <a:gd name="T33" fmla="*/ 136 h 150"/>
                  <a:gd name="T34" fmla="*/ 1205 w 1760"/>
                  <a:gd name="T35" fmla="*/ 136 h 150"/>
                  <a:gd name="T36" fmla="*/ 1315 w 1760"/>
                  <a:gd name="T37" fmla="*/ 136 h 150"/>
                  <a:gd name="T38" fmla="*/ 1357 w 1760"/>
                  <a:gd name="T39" fmla="*/ 136 h 150"/>
                  <a:gd name="T40" fmla="*/ 1400 w 1760"/>
                  <a:gd name="T41" fmla="*/ 130 h 150"/>
                  <a:gd name="T42" fmla="*/ 1418 w 1760"/>
                  <a:gd name="T43" fmla="*/ 130 h 150"/>
                  <a:gd name="T44" fmla="*/ 1442 w 1760"/>
                  <a:gd name="T45" fmla="*/ 117 h 150"/>
                  <a:gd name="T46" fmla="*/ 1479 w 1760"/>
                  <a:gd name="T47" fmla="*/ 104 h 150"/>
                  <a:gd name="T48" fmla="*/ 1546 w 1760"/>
                  <a:gd name="T49" fmla="*/ 78 h 150"/>
                  <a:gd name="T50" fmla="*/ 1607 w 1760"/>
                  <a:gd name="T51" fmla="*/ 52 h 150"/>
                  <a:gd name="T52" fmla="*/ 1662 w 1760"/>
                  <a:gd name="T53" fmla="*/ 39 h 150"/>
                  <a:gd name="T54" fmla="*/ 1710 w 1760"/>
                  <a:gd name="T55" fmla="*/ 26 h 150"/>
                  <a:gd name="T56" fmla="*/ 1735 w 1760"/>
                  <a:gd name="T57" fmla="*/ 13 h 150"/>
                  <a:gd name="T58" fmla="*/ 1759 w 1760"/>
                  <a:gd name="T59" fmla="*/ 0 h 15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60"/>
                  <a:gd name="T91" fmla="*/ 0 h 150"/>
                  <a:gd name="T92" fmla="*/ 1760 w 1760"/>
                  <a:gd name="T93" fmla="*/ 150 h 15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60" h="150">
                    <a:moveTo>
                      <a:pt x="0" y="104"/>
                    </a:moveTo>
                    <a:lnTo>
                      <a:pt x="146" y="117"/>
                    </a:lnTo>
                    <a:lnTo>
                      <a:pt x="286" y="123"/>
                    </a:lnTo>
                    <a:lnTo>
                      <a:pt x="426" y="130"/>
                    </a:lnTo>
                    <a:lnTo>
                      <a:pt x="578" y="130"/>
                    </a:lnTo>
                    <a:lnTo>
                      <a:pt x="633" y="136"/>
                    </a:lnTo>
                    <a:lnTo>
                      <a:pt x="675" y="143"/>
                    </a:lnTo>
                    <a:lnTo>
                      <a:pt x="712" y="143"/>
                    </a:lnTo>
                    <a:lnTo>
                      <a:pt x="742" y="143"/>
                    </a:lnTo>
                    <a:lnTo>
                      <a:pt x="785" y="149"/>
                    </a:lnTo>
                    <a:lnTo>
                      <a:pt x="828" y="149"/>
                    </a:lnTo>
                    <a:lnTo>
                      <a:pt x="852" y="149"/>
                    </a:lnTo>
                    <a:lnTo>
                      <a:pt x="882" y="143"/>
                    </a:lnTo>
                    <a:lnTo>
                      <a:pt x="919" y="143"/>
                    </a:lnTo>
                    <a:lnTo>
                      <a:pt x="974" y="143"/>
                    </a:lnTo>
                    <a:lnTo>
                      <a:pt x="1035" y="143"/>
                    </a:lnTo>
                    <a:lnTo>
                      <a:pt x="1108" y="136"/>
                    </a:lnTo>
                    <a:lnTo>
                      <a:pt x="1205" y="136"/>
                    </a:lnTo>
                    <a:lnTo>
                      <a:pt x="1315" y="136"/>
                    </a:lnTo>
                    <a:lnTo>
                      <a:pt x="1357" y="136"/>
                    </a:lnTo>
                    <a:lnTo>
                      <a:pt x="1400" y="130"/>
                    </a:lnTo>
                    <a:lnTo>
                      <a:pt x="1418" y="130"/>
                    </a:lnTo>
                    <a:lnTo>
                      <a:pt x="1442" y="117"/>
                    </a:lnTo>
                    <a:lnTo>
                      <a:pt x="1479" y="104"/>
                    </a:lnTo>
                    <a:lnTo>
                      <a:pt x="1546" y="78"/>
                    </a:lnTo>
                    <a:lnTo>
                      <a:pt x="1607" y="52"/>
                    </a:lnTo>
                    <a:lnTo>
                      <a:pt x="1662" y="39"/>
                    </a:lnTo>
                    <a:lnTo>
                      <a:pt x="1710" y="26"/>
                    </a:lnTo>
                    <a:lnTo>
                      <a:pt x="1735" y="13"/>
                    </a:lnTo>
                    <a:lnTo>
                      <a:pt x="1759"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29"/>
              <p:cNvSpPr>
                <a:spLocks/>
              </p:cNvSpPr>
              <p:nvPr/>
            </p:nvSpPr>
            <p:spPr bwMode="auto">
              <a:xfrm>
                <a:off x="1927" y="3976"/>
                <a:ext cx="1947" cy="153"/>
              </a:xfrm>
              <a:custGeom>
                <a:avLst/>
                <a:gdLst>
                  <a:gd name="T0" fmla="*/ 0 w 1947"/>
                  <a:gd name="T1" fmla="*/ 99 h 153"/>
                  <a:gd name="T2" fmla="*/ 124 w 1947"/>
                  <a:gd name="T3" fmla="*/ 112 h 153"/>
                  <a:gd name="T4" fmla="*/ 248 w 1947"/>
                  <a:gd name="T5" fmla="*/ 119 h 153"/>
                  <a:gd name="T6" fmla="*/ 304 w 1947"/>
                  <a:gd name="T7" fmla="*/ 132 h 153"/>
                  <a:gd name="T8" fmla="*/ 360 w 1947"/>
                  <a:gd name="T9" fmla="*/ 139 h 153"/>
                  <a:gd name="T10" fmla="*/ 391 w 1947"/>
                  <a:gd name="T11" fmla="*/ 139 h 153"/>
                  <a:gd name="T12" fmla="*/ 434 w 1947"/>
                  <a:gd name="T13" fmla="*/ 145 h 153"/>
                  <a:gd name="T14" fmla="*/ 508 w 1947"/>
                  <a:gd name="T15" fmla="*/ 145 h 153"/>
                  <a:gd name="T16" fmla="*/ 546 w 1947"/>
                  <a:gd name="T17" fmla="*/ 152 h 153"/>
                  <a:gd name="T18" fmla="*/ 577 w 1947"/>
                  <a:gd name="T19" fmla="*/ 152 h 153"/>
                  <a:gd name="T20" fmla="*/ 595 w 1947"/>
                  <a:gd name="T21" fmla="*/ 152 h 153"/>
                  <a:gd name="T22" fmla="*/ 601 w 1947"/>
                  <a:gd name="T23" fmla="*/ 152 h 153"/>
                  <a:gd name="T24" fmla="*/ 961 w 1947"/>
                  <a:gd name="T25" fmla="*/ 152 h 153"/>
                  <a:gd name="T26" fmla="*/ 1320 w 1947"/>
                  <a:gd name="T27" fmla="*/ 145 h 153"/>
                  <a:gd name="T28" fmla="*/ 1364 w 1947"/>
                  <a:gd name="T29" fmla="*/ 145 h 153"/>
                  <a:gd name="T30" fmla="*/ 1407 w 1947"/>
                  <a:gd name="T31" fmla="*/ 139 h 153"/>
                  <a:gd name="T32" fmla="*/ 1444 w 1947"/>
                  <a:gd name="T33" fmla="*/ 132 h 153"/>
                  <a:gd name="T34" fmla="*/ 1487 w 1947"/>
                  <a:gd name="T35" fmla="*/ 119 h 153"/>
                  <a:gd name="T36" fmla="*/ 1518 w 1947"/>
                  <a:gd name="T37" fmla="*/ 112 h 153"/>
                  <a:gd name="T38" fmla="*/ 1549 w 1947"/>
                  <a:gd name="T39" fmla="*/ 106 h 153"/>
                  <a:gd name="T40" fmla="*/ 1574 w 1947"/>
                  <a:gd name="T41" fmla="*/ 99 h 153"/>
                  <a:gd name="T42" fmla="*/ 1587 w 1947"/>
                  <a:gd name="T43" fmla="*/ 99 h 153"/>
                  <a:gd name="T44" fmla="*/ 1642 w 1947"/>
                  <a:gd name="T45" fmla="*/ 73 h 153"/>
                  <a:gd name="T46" fmla="*/ 1704 w 1947"/>
                  <a:gd name="T47" fmla="*/ 60 h 153"/>
                  <a:gd name="T48" fmla="*/ 1766 w 1947"/>
                  <a:gd name="T49" fmla="*/ 53 h 153"/>
                  <a:gd name="T50" fmla="*/ 1822 w 1947"/>
                  <a:gd name="T51" fmla="*/ 46 h 153"/>
                  <a:gd name="T52" fmla="*/ 1859 w 1947"/>
                  <a:gd name="T53" fmla="*/ 40 h 153"/>
                  <a:gd name="T54" fmla="*/ 1890 w 1947"/>
                  <a:gd name="T55" fmla="*/ 33 h 153"/>
                  <a:gd name="T56" fmla="*/ 1903 w 1947"/>
                  <a:gd name="T57" fmla="*/ 27 h 153"/>
                  <a:gd name="T58" fmla="*/ 1909 w 1947"/>
                  <a:gd name="T59" fmla="*/ 20 h 153"/>
                  <a:gd name="T60" fmla="*/ 1934 w 1947"/>
                  <a:gd name="T61" fmla="*/ 13 h 153"/>
                  <a:gd name="T62" fmla="*/ 1940 w 1947"/>
                  <a:gd name="T63" fmla="*/ 13 h 153"/>
                  <a:gd name="T64" fmla="*/ 1946 w 1947"/>
                  <a:gd name="T65" fmla="*/ 7 h 153"/>
                  <a:gd name="T66" fmla="*/ 1946 w 1947"/>
                  <a:gd name="T67" fmla="*/ 0 h 1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47"/>
                  <a:gd name="T103" fmla="*/ 0 h 153"/>
                  <a:gd name="T104" fmla="*/ 1947 w 1947"/>
                  <a:gd name="T105" fmla="*/ 153 h 1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47" h="153">
                    <a:moveTo>
                      <a:pt x="0" y="99"/>
                    </a:moveTo>
                    <a:lnTo>
                      <a:pt x="124" y="112"/>
                    </a:lnTo>
                    <a:lnTo>
                      <a:pt x="248" y="119"/>
                    </a:lnTo>
                    <a:lnTo>
                      <a:pt x="304" y="132"/>
                    </a:lnTo>
                    <a:lnTo>
                      <a:pt x="360" y="139"/>
                    </a:lnTo>
                    <a:lnTo>
                      <a:pt x="391" y="139"/>
                    </a:lnTo>
                    <a:lnTo>
                      <a:pt x="434" y="145"/>
                    </a:lnTo>
                    <a:lnTo>
                      <a:pt x="508" y="145"/>
                    </a:lnTo>
                    <a:lnTo>
                      <a:pt x="546" y="152"/>
                    </a:lnTo>
                    <a:lnTo>
                      <a:pt x="577" y="152"/>
                    </a:lnTo>
                    <a:lnTo>
                      <a:pt x="595" y="152"/>
                    </a:lnTo>
                    <a:lnTo>
                      <a:pt x="601" y="152"/>
                    </a:lnTo>
                    <a:lnTo>
                      <a:pt x="961" y="152"/>
                    </a:lnTo>
                    <a:lnTo>
                      <a:pt x="1320" y="145"/>
                    </a:lnTo>
                    <a:lnTo>
                      <a:pt x="1364" y="145"/>
                    </a:lnTo>
                    <a:lnTo>
                      <a:pt x="1407" y="139"/>
                    </a:lnTo>
                    <a:lnTo>
                      <a:pt x="1444" y="132"/>
                    </a:lnTo>
                    <a:lnTo>
                      <a:pt x="1487" y="119"/>
                    </a:lnTo>
                    <a:lnTo>
                      <a:pt x="1518" y="112"/>
                    </a:lnTo>
                    <a:lnTo>
                      <a:pt x="1549" y="106"/>
                    </a:lnTo>
                    <a:lnTo>
                      <a:pt x="1574" y="99"/>
                    </a:lnTo>
                    <a:lnTo>
                      <a:pt x="1587" y="99"/>
                    </a:lnTo>
                    <a:lnTo>
                      <a:pt x="1642" y="73"/>
                    </a:lnTo>
                    <a:lnTo>
                      <a:pt x="1704" y="60"/>
                    </a:lnTo>
                    <a:lnTo>
                      <a:pt x="1766" y="53"/>
                    </a:lnTo>
                    <a:lnTo>
                      <a:pt x="1822" y="46"/>
                    </a:lnTo>
                    <a:lnTo>
                      <a:pt x="1859" y="40"/>
                    </a:lnTo>
                    <a:lnTo>
                      <a:pt x="1890" y="33"/>
                    </a:lnTo>
                    <a:lnTo>
                      <a:pt x="1903" y="27"/>
                    </a:lnTo>
                    <a:lnTo>
                      <a:pt x="1909" y="20"/>
                    </a:lnTo>
                    <a:lnTo>
                      <a:pt x="1934" y="13"/>
                    </a:lnTo>
                    <a:lnTo>
                      <a:pt x="1940" y="13"/>
                    </a:lnTo>
                    <a:lnTo>
                      <a:pt x="1946" y="7"/>
                    </a:lnTo>
                    <a:lnTo>
                      <a:pt x="1946"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30"/>
              <p:cNvGrpSpPr>
                <a:grpSpLocks/>
              </p:cNvGrpSpPr>
              <p:nvPr/>
            </p:nvGrpSpPr>
            <p:grpSpPr bwMode="auto">
              <a:xfrm>
                <a:off x="3889" y="3744"/>
                <a:ext cx="191" cy="191"/>
                <a:chOff x="3889" y="3744"/>
                <a:chExt cx="191" cy="191"/>
              </a:xfrm>
            </p:grpSpPr>
            <p:sp>
              <p:nvSpPr>
                <p:cNvPr id="25" name="Oval 31"/>
                <p:cNvSpPr>
                  <a:spLocks noChangeArrowheads="1"/>
                </p:cNvSpPr>
                <p:nvPr/>
              </p:nvSpPr>
              <p:spPr bwMode="auto">
                <a:xfrm>
                  <a:off x="3889" y="3792"/>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 name="Line 32"/>
                <p:cNvSpPr>
                  <a:spLocks noChangeShapeType="1"/>
                </p:cNvSpPr>
                <p:nvPr/>
              </p:nvSpPr>
              <p:spPr bwMode="auto">
                <a:xfrm flipH="1" flipV="1">
                  <a:off x="3889"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7" name="Line 33"/>
                <p:cNvSpPr>
                  <a:spLocks noChangeShapeType="1"/>
                </p:cNvSpPr>
                <p:nvPr/>
              </p:nvSpPr>
              <p:spPr bwMode="auto">
                <a:xfrm flipV="1">
                  <a:off x="3984" y="3744"/>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 name="Line 34"/>
                <p:cNvSpPr>
                  <a:spLocks noChangeShapeType="1"/>
                </p:cNvSpPr>
                <p:nvPr/>
              </p:nvSpPr>
              <p:spPr bwMode="auto">
                <a:xfrm flipV="1">
                  <a:off x="4033"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9" name="Line 35"/>
                <p:cNvSpPr>
                  <a:spLocks noChangeShapeType="1"/>
                </p:cNvSpPr>
                <p:nvPr/>
              </p:nvSpPr>
              <p:spPr bwMode="auto">
                <a:xfrm flipH="1">
                  <a:off x="3890"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 name="Line 36"/>
                <p:cNvSpPr>
                  <a:spLocks noChangeShapeType="1"/>
                </p:cNvSpPr>
                <p:nvPr/>
              </p:nvSpPr>
              <p:spPr bwMode="auto">
                <a:xfrm>
                  <a:off x="3984" y="3889"/>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1" name="Line 37"/>
                <p:cNvSpPr>
                  <a:spLocks noChangeShapeType="1"/>
                </p:cNvSpPr>
                <p:nvPr/>
              </p:nvSpPr>
              <p:spPr bwMode="auto">
                <a:xfrm>
                  <a:off x="4034"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 name="Line 38"/>
                <p:cNvSpPr>
                  <a:spLocks noChangeShapeType="1"/>
                </p:cNvSpPr>
                <p:nvPr/>
              </p:nvSpPr>
              <p:spPr bwMode="auto">
                <a:xfrm flipV="1">
                  <a:off x="4080" y="3792"/>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3" name="Line 39"/>
                <p:cNvSpPr>
                  <a:spLocks noChangeShapeType="1"/>
                </p:cNvSpPr>
                <p:nvPr/>
              </p:nvSpPr>
              <p:spPr bwMode="auto">
                <a:xfrm>
                  <a:off x="4080" y="3841"/>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15" name="Group 40"/>
              <p:cNvGrpSpPr>
                <a:grpSpLocks/>
              </p:cNvGrpSpPr>
              <p:nvPr/>
            </p:nvGrpSpPr>
            <p:grpSpPr bwMode="auto">
              <a:xfrm>
                <a:off x="4177" y="3744"/>
                <a:ext cx="191" cy="191"/>
                <a:chOff x="4177" y="3744"/>
                <a:chExt cx="191" cy="191"/>
              </a:xfrm>
            </p:grpSpPr>
            <p:sp>
              <p:nvSpPr>
                <p:cNvPr id="16" name="Oval 41"/>
                <p:cNvSpPr>
                  <a:spLocks noChangeArrowheads="1"/>
                </p:cNvSpPr>
                <p:nvPr/>
              </p:nvSpPr>
              <p:spPr bwMode="auto">
                <a:xfrm>
                  <a:off x="4177" y="3792"/>
                  <a:ext cx="190" cy="9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17" name="Line 42"/>
                <p:cNvSpPr>
                  <a:spLocks noChangeShapeType="1"/>
                </p:cNvSpPr>
                <p:nvPr/>
              </p:nvSpPr>
              <p:spPr bwMode="auto">
                <a:xfrm flipH="1" flipV="1">
                  <a:off x="4177"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 name="Line 43"/>
                <p:cNvSpPr>
                  <a:spLocks noChangeShapeType="1"/>
                </p:cNvSpPr>
                <p:nvPr/>
              </p:nvSpPr>
              <p:spPr bwMode="auto">
                <a:xfrm flipV="1">
                  <a:off x="4272" y="3744"/>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9" name="Line 44"/>
                <p:cNvSpPr>
                  <a:spLocks noChangeShapeType="1"/>
                </p:cNvSpPr>
                <p:nvPr/>
              </p:nvSpPr>
              <p:spPr bwMode="auto">
                <a:xfrm flipV="1">
                  <a:off x="4321" y="3744"/>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0" name="Line 45"/>
                <p:cNvSpPr>
                  <a:spLocks noChangeShapeType="1"/>
                </p:cNvSpPr>
                <p:nvPr/>
              </p:nvSpPr>
              <p:spPr bwMode="auto">
                <a:xfrm flipH="1">
                  <a:off x="4178"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 name="Line 46"/>
                <p:cNvSpPr>
                  <a:spLocks noChangeShapeType="1"/>
                </p:cNvSpPr>
                <p:nvPr/>
              </p:nvSpPr>
              <p:spPr bwMode="auto">
                <a:xfrm>
                  <a:off x="4272" y="3889"/>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2" name="Line 47"/>
                <p:cNvSpPr>
                  <a:spLocks noChangeShapeType="1"/>
                </p:cNvSpPr>
                <p:nvPr/>
              </p:nvSpPr>
              <p:spPr bwMode="auto">
                <a:xfrm>
                  <a:off x="4322" y="3889"/>
                  <a:ext cx="46"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3" name="Line 48"/>
                <p:cNvSpPr>
                  <a:spLocks noChangeShapeType="1"/>
                </p:cNvSpPr>
                <p:nvPr/>
              </p:nvSpPr>
              <p:spPr bwMode="auto">
                <a:xfrm flipV="1">
                  <a:off x="4368" y="3792"/>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4" name="Line 49"/>
                <p:cNvSpPr>
                  <a:spLocks noChangeShapeType="1"/>
                </p:cNvSpPr>
                <p:nvPr/>
              </p:nvSpPr>
              <p:spPr bwMode="auto">
                <a:xfrm>
                  <a:off x="4368" y="3841"/>
                  <a:ext cx="0" cy="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sp>
          <p:nvSpPr>
            <p:cNvPr id="6" name="Rectangle 50"/>
            <p:cNvSpPr>
              <a:spLocks noChangeArrowheads="1"/>
            </p:cNvSpPr>
            <p:nvPr/>
          </p:nvSpPr>
          <p:spPr bwMode="auto">
            <a:xfrm>
              <a:off x="3840" y="3552"/>
              <a:ext cx="67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GB" altLang="en-US" sz="2000" baseline="-25000">
                  <a:latin typeface="Tahoma" panose="020B0604030504040204" pitchFamily="34" charset="0"/>
                </a:rPr>
                <a:t>Food source</a:t>
              </a:r>
            </a:p>
          </p:txBody>
        </p:sp>
        <p:sp>
          <p:nvSpPr>
            <p:cNvPr id="7" name="Rectangle 51"/>
            <p:cNvSpPr>
              <a:spLocks noChangeArrowheads="1"/>
            </p:cNvSpPr>
            <p:nvPr/>
          </p:nvSpPr>
          <p:spPr bwMode="auto">
            <a:xfrm>
              <a:off x="1488" y="3600"/>
              <a:ext cx="283"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GB" altLang="en-US" sz="2000" baseline="-25000">
                  <a:latin typeface="Tahoma" panose="020B0604030504040204" pitchFamily="34" charset="0"/>
                </a:rPr>
                <a:t>Nest</a:t>
              </a:r>
            </a:p>
          </p:txBody>
        </p:sp>
      </p:grpSp>
      <p:pic>
        <p:nvPicPr>
          <p:cNvPr id="52" name="Picture 51"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87038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dirty="0" smtClean="0"/>
              <a:t>E.g. A 4-city TSP</a:t>
            </a:r>
          </a:p>
        </p:txBody>
      </p:sp>
      <p:sp>
        <p:nvSpPr>
          <p:cNvPr id="24579"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4580"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4581"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4582"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4583"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4"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586" name="Group 10"/>
          <p:cNvGrpSpPr>
            <a:grpSpLocks/>
          </p:cNvGrpSpPr>
          <p:nvPr/>
        </p:nvGrpSpPr>
        <p:grpSpPr bwMode="auto">
          <a:xfrm>
            <a:off x="2362200" y="1981200"/>
            <a:ext cx="457200" cy="685800"/>
            <a:chOff x="816" y="1536"/>
            <a:chExt cx="288" cy="432"/>
          </a:xfrm>
        </p:grpSpPr>
        <p:sp>
          <p:nvSpPr>
            <p:cNvPr id="24616"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4617" name="Group 12"/>
            <p:cNvGrpSpPr>
              <a:grpSpLocks/>
            </p:cNvGrpSpPr>
            <p:nvPr/>
          </p:nvGrpSpPr>
          <p:grpSpPr bwMode="auto">
            <a:xfrm>
              <a:off x="816" y="1536"/>
              <a:ext cx="288" cy="192"/>
              <a:chOff x="816" y="1536"/>
              <a:chExt cx="288" cy="192"/>
            </a:xfrm>
          </p:grpSpPr>
          <p:sp>
            <p:nvSpPr>
              <p:cNvPr id="24626"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7"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9"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30" name="Group 17"/>
              <p:cNvGrpSpPr>
                <a:grpSpLocks/>
              </p:cNvGrpSpPr>
              <p:nvPr/>
            </p:nvGrpSpPr>
            <p:grpSpPr bwMode="auto">
              <a:xfrm flipH="1">
                <a:off x="816" y="1536"/>
                <a:ext cx="96" cy="192"/>
                <a:chOff x="864" y="1536"/>
                <a:chExt cx="96" cy="192"/>
              </a:xfrm>
            </p:grpSpPr>
            <p:sp>
              <p:nvSpPr>
                <p:cNvPr id="24631"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618" name="Group 20"/>
            <p:cNvGrpSpPr>
              <a:grpSpLocks/>
            </p:cNvGrpSpPr>
            <p:nvPr/>
          </p:nvGrpSpPr>
          <p:grpSpPr bwMode="auto">
            <a:xfrm flipV="1">
              <a:off x="816" y="1776"/>
              <a:ext cx="288" cy="192"/>
              <a:chOff x="816" y="1536"/>
              <a:chExt cx="288" cy="192"/>
            </a:xfrm>
          </p:grpSpPr>
          <p:sp>
            <p:nvSpPr>
              <p:cNvPr id="24619"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0"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23" name="Group 25"/>
              <p:cNvGrpSpPr>
                <a:grpSpLocks/>
              </p:cNvGrpSpPr>
              <p:nvPr/>
            </p:nvGrpSpPr>
            <p:grpSpPr bwMode="auto">
              <a:xfrm flipH="1">
                <a:off x="816" y="1536"/>
                <a:ext cx="96" cy="192"/>
                <a:chOff x="864" y="1536"/>
                <a:chExt cx="96" cy="192"/>
              </a:xfrm>
            </p:grpSpPr>
            <p:sp>
              <p:nvSpPr>
                <p:cNvPr id="24624"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5"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4587"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8"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89"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0"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1"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2"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3"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4594"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4595" name="Group 36"/>
          <p:cNvGrpSpPr>
            <a:grpSpLocks/>
          </p:cNvGrpSpPr>
          <p:nvPr/>
        </p:nvGrpSpPr>
        <p:grpSpPr bwMode="auto">
          <a:xfrm>
            <a:off x="1752600" y="6019800"/>
            <a:ext cx="457200" cy="685800"/>
            <a:chOff x="816" y="1536"/>
            <a:chExt cx="288" cy="432"/>
          </a:xfrm>
        </p:grpSpPr>
        <p:sp>
          <p:nvSpPr>
            <p:cNvPr id="24599"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4600" name="Group 38"/>
            <p:cNvGrpSpPr>
              <a:grpSpLocks/>
            </p:cNvGrpSpPr>
            <p:nvPr/>
          </p:nvGrpSpPr>
          <p:grpSpPr bwMode="auto">
            <a:xfrm>
              <a:off x="816" y="1536"/>
              <a:ext cx="288" cy="192"/>
              <a:chOff x="816" y="1536"/>
              <a:chExt cx="288" cy="192"/>
            </a:xfrm>
          </p:grpSpPr>
          <p:sp>
            <p:nvSpPr>
              <p:cNvPr id="24609"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2"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13" name="Group 43"/>
              <p:cNvGrpSpPr>
                <a:grpSpLocks/>
              </p:cNvGrpSpPr>
              <p:nvPr/>
            </p:nvGrpSpPr>
            <p:grpSpPr bwMode="auto">
              <a:xfrm flipH="1">
                <a:off x="816" y="1536"/>
                <a:ext cx="96" cy="192"/>
                <a:chOff x="864" y="1536"/>
                <a:chExt cx="96" cy="192"/>
              </a:xfrm>
            </p:grpSpPr>
            <p:sp>
              <p:nvSpPr>
                <p:cNvPr id="24614"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5"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4601" name="Group 46"/>
            <p:cNvGrpSpPr>
              <a:grpSpLocks/>
            </p:cNvGrpSpPr>
            <p:nvPr/>
          </p:nvGrpSpPr>
          <p:grpSpPr bwMode="auto">
            <a:xfrm flipV="1">
              <a:off x="816" y="1776"/>
              <a:ext cx="288" cy="192"/>
              <a:chOff x="816" y="1536"/>
              <a:chExt cx="288" cy="192"/>
            </a:xfrm>
          </p:grpSpPr>
          <p:sp>
            <p:nvSpPr>
              <p:cNvPr id="24602"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4"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06" name="Group 51"/>
              <p:cNvGrpSpPr>
                <a:grpSpLocks/>
              </p:cNvGrpSpPr>
              <p:nvPr/>
            </p:nvGrpSpPr>
            <p:grpSpPr bwMode="auto">
              <a:xfrm flipH="1">
                <a:off x="816" y="1536"/>
                <a:ext cx="96" cy="192"/>
                <a:chOff x="864" y="1536"/>
                <a:chExt cx="96" cy="192"/>
              </a:xfrm>
            </p:grpSpPr>
            <p:sp>
              <p:nvSpPr>
                <p:cNvPr id="24607"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4596"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4597"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4598" name="Text Box 56"/>
          <p:cNvSpPr txBox="1">
            <a:spLocks noChangeArrowheads="1"/>
          </p:cNvSpPr>
          <p:nvPr/>
        </p:nvSpPr>
        <p:spPr bwMode="auto">
          <a:xfrm>
            <a:off x="1812925" y="1260475"/>
            <a:ext cx="7994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Initially, random levels of pheromone are scattered on the edges</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7775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5603"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5604"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5605"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5606"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5607"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08"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10" name="Group 10"/>
          <p:cNvGrpSpPr>
            <a:grpSpLocks/>
          </p:cNvGrpSpPr>
          <p:nvPr/>
        </p:nvGrpSpPr>
        <p:grpSpPr bwMode="auto">
          <a:xfrm>
            <a:off x="8878888" y="1916113"/>
            <a:ext cx="457200" cy="685800"/>
            <a:chOff x="816" y="1536"/>
            <a:chExt cx="288" cy="432"/>
          </a:xfrm>
        </p:grpSpPr>
        <p:sp>
          <p:nvSpPr>
            <p:cNvPr id="25640"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5641" name="Group 12"/>
            <p:cNvGrpSpPr>
              <a:grpSpLocks/>
            </p:cNvGrpSpPr>
            <p:nvPr/>
          </p:nvGrpSpPr>
          <p:grpSpPr bwMode="auto">
            <a:xfrm>
              <a:off x="816" y="1536"/>
              <a:ext cx="288" cy="192"/>
              <a:chOff x="816" y="1536"/>
              <a:chExt cx="288" cy="192"/>
            </a:xfrm>
          </p:grpSpPr>
          <p:sp>
            <p:nvSpPr>
              <p:cNvPr id="25650"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1"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2"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3"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54" name="Group 17"/>
              <p:cNvGrpSpPr>
                <a:grpSpLocks/>
              </p:cNvGrpSpPr>
              <p:nvPr/>
            </p:nvGrpSpPr>
            <p:grpSpPr bwMode="auto">
              <a:xfrm flipH="1">
                <a:off x="816" y="1536"/>
                <a:ext cx="96" cy="192"/>
                <a:chOff x="864" y="1536"/>
                <a:chExt cx="96" cy="192"/>
              </a:xfrm>
            </p:grpSpPr>
            <p:sp>
              <p:nvSpPr>
                <p:cNvPr id="25655"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6"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42" name="Group 20"/>
            <p:cNvGrpSpPr>
              <a:grpSpLocks/>
            </p:cNvGrpSpPr>
            <p:nvPr/>
          </p:nvGrpSpPr>
          <p:grpSpPr bwMode="auto">
            <a:xfrm flipV="1">
              <a:off x="816" y="1776"/>
              <a:ext cx="288" cy="192"/>
              <a:chOff x="816" y="1536"/>
              <a:chExt cx="288" cy="192"/>
            </a:xfrm>
          </p:grpSpPr>
          <p:sp>
            <p:nvSpPr>
              <p:cNvPr id="25643"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4"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5"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6"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47" name="Group 25"/>
              <p:cNvGrpSpPr>
                <a:grpSpLocks/>
              </p:cNvGrpSpPr>
              <p:nvPr/>
            </p:nvGrpSpPr>
            <p:grpSpPr bwMode="auto">
              <a:xfrm flipH="1">
                <a:off x="816" y="1536"/>
                <a:ext cx="96" cy="192"/>
                <a:chOff x="864" y="1536"/>
                <a:chExt cx="96" cy="192"/>
              </a:xfrm>
            </p:grpSpPr>
            <p:sp>
              <p:nvSpPr>
                <p:cNvPr id="25648"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9"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5611"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2"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3"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4"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5"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6"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7"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5618"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5619" name="Group 36"/>
          <p:cNvGrpSpPr>
            <a:grpSpLocks/>
          </p:cNvGrpSpPr>
          <p:nvPr/>
        </p:nvGrpSpPr>
        <p:grpSpPr bwMode="auto">
          <a:xfrm>
            <a:off x="1752600" y="6019800"/>
            <a:ext cx="457200" cy="685800"/>
            <a:chOff x="816" y="1536"/>
            <a:chExt cx="288" cy="432"/>
          </a:xfrm>
        </p:grpSpPr>
        <p:sp>
          <p:nvSpPr>
            <p:cNvPr id="25623"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5624" name="Group 38"/>
            <p:cNvGrpSpPr>
              <a:grpSpLocks/>
            </p:cNvGrpSpPr>
            <p:nvPr/>
          </p:nvGrpSpPr>
          <p:grpSpPr bwMode="auto">
            <a:xfrm>
              <a:off x="816" y="1536"/>
              <a:ext cx="288" cy="192"/>
              <a:chOff x="816" y="1536"/>
              <a:chExt cx="288" cy="192"/>
            </a:xfrm>
          </p:grpSpPr>
          <p:sp>
            <p:nvSpPr>
              <p:cNvPr id="25633"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4"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5"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37" name="Group 43"/>
              <p:cNvGrpSpPr>
                <a:grpSpLocks/>
              </p:cNvGrpSpPr>
              <p:nvPr/>
            </p:nvGrpSpPr>
            <p:grpSpPr bwMode="auto">
              <a:xfrm flipH="1">
                <a:off x="816" y="1536"/>
                <a:ext cx="96" cy="192"/>
                <a:chOff x="864" y="1536"/>
                <a:chExt cx="96" cy="192"/>
              </a:xfrm>
            </p:grpSpPr>
            <p:sp>
              <p:nvSpPr>
                <p:cNvPr id="25638"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5625" name="Group 46"/>
            <p:cNvGrpSpPr>
              <a:grpSpLocks/>
            </p:cNvGrpSpPr>
            <p:nvPr/>
          </p:nvGrpSpPr>
          <p:grpSpPr bwMode="auto">
            <a:xfrm flipV="1">
              <a:off x="816" y="1776"/>
              <a:ext cx="288" cy="192"/>
              <a:chOff x="816" y="1536"/>
              <a:chExt cx="288" cy="192"/>
            </a:xfrm>
          </p:grpSpPr>
          <p:sp>
            <p:nvSpPr>
              <p:cNvPr id="25626"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5630" name="Group 51"/>
              <p:cNvGrpSpPr>
                <a:grpSpLocks/>
              </p:cNvGrpSpPr>
              <p:nvPr/>
            </p:nvGrpSpPr>
            <p:grpSpPr bwMode="auto">
              <a:xfrm flipH="1">
                <a:off x="816" y="1536"/>
                <a:ext cx="96" cy="192"/>
                <a:chOff x="864" y="1536"/>
                <a:chExt cx="96" cy="192"/>
              </a:xfrm>
            </p:grpSpPr>
            <p:sp>
              <p:nvSpPr>
                <p:cNvPr id="25631"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5620"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5621"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5622" name="Text Box 56"/>
          <p:cNvSpPr txBox="1">
            <a:spLocks noChangeArrowheads="1"/>
          </p:cNvSpPr>
          <p:nvPr/>
        </p:nvSpPr>
        <p:spPr bwMode="auto">
          <a:xfrm>
            <a:off x="1812926" y="1260475"/>
            <a:ext cx="433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An ant is placed at a random node</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4429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6627"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6628"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6629"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6630"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6631"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2"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34" name="Group 10"/>
          <p:cNvGrpSpPr>
            <a:grpSpLocks/>
          </p:cNvGrpSpPr>
          <p:nvPr/>
        </p:nvGrpSpPr>
        <p:grpSpPr bwMode="auto">
          <a:xfrm>
            <a:off x="8878888" y="1981200"/>
            <a:ext cx="457200" cy="685800"/>
            <a:chOff x="816" y="1536"/>
            <a:chExt cx="288" cy="432"/>
          </a:xfrm>
        </p:grpSpPr>
        <p:sp>
          <p:nvSpPr>
            <p:cNvPr id="26664"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6665" name="Group 12"/>
            <p:cNvGrpSpPr>
              <a:grpSpLocks/>
            </p:cNvGrpSpPr>
            <p:nvPr/>
          </p:nvGrpSpPr>
          <p:grpSpPr bwMode="auto">
            <a:xfrm>
              <a:off x="816" y="1536"/>
              <a:ext cx="288" cy="192"/>
              <a:chOff x="816" y="1536"/>
              <a:chExt cx="288" cy="192"/>
            </a:xfrm>
          </p:grpSpPr>
          <p:sp>
            <p:nvSpPr>
              <p:cNvPr id="26674"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5"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6"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7"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78" name="Group 17"/>
              <p:cNvGrpSpPr>
                <a:grpSpLocks/>
              </p:cNvGrpSpPr>
              <p:nvPr/>
            </p:nvGrpSpPr>
            <p:grpSpPr bwMode="auto">
              <a:xfrm flipH="1">
                <a:off x="816" y="1536"/>
                <a:ext cx="96" cy="192"/>
                <a:chOff x="864" y="1536"/>
                <a:chExt cx="96" cy="192"/>
              </a:xfrm>
            </p:grpSpPr>
            <p:sp>
              <p:nvSpPr>
                <p:cNvPr id="26679"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80"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66" name="Group 20"/>
            <p:cNvGrpSpPr>
              <a:grpSpLocks/>
            </p:cNvGrpSpPr>
            <p:nvPr/>
          </p:nvGrpSpPr>
          <p:grpSpPr bwMode="auto">
            <a:xfrm flipV="1">
              <a:off x="816" y="1776"/>
              <a:ext cx="288" cy="192"/>
              <a:chOff x="816" y="1536"/>
              <a:chExt cx="288" cy="192"/>
            </a:xfrm>
          </p:grpSpPr>
          <p:sp>
            <p:nvSpPr>
              <p:cNvPr id="26667"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8"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9"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0"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71" name="Group 25"/>
              <p:cNvGrpSpPr>
                <a:grpSpLocks/>
              </p:cNvGrpSpPr>
              <p:nvPr/>
            </p:nvGrpSpPr>
            <p:grpSpPr bwMode="auto">
              <a:xfrm flipH="1">
                <a:off x="816" y="1536"/>
                <a:ext cx="96" cy="192"/>
                <a:chOff x="864" y="1536"/>
                <a:chExt cx="96" cy="192"/>
              </a:xfrm>
            </p:grpSpPr>
            <p:sp>
              <p:nvSpPr>
                <p:cNvPr id="26672"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3"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6635"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6"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7"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8"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39"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0"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1"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6642"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6643" name="Group 36"/>
          <p:cNvGrpSpPr>
            <a:grpSpLocks/>
          </p:cNvGrpSpPr>
          <p:nvPr/>
        </p:nvGrpSpPr>
        <p:grpSpPr bwMode="auto">
          <a:xfrm>
            <a:off x="1752600" y="6019800"/>
            <a:ext cx="457200" cy="685800"/>
            <a:chOff x="816" y="1536"/>
            <a:chExt cx="288" cy="432"/>
          </a:xfrm>
        </p:grpSpPr>
        <p:sp>
          <p:nvSpPr>
            <p:cNvPr id="26647"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6648" name="Group 38"/>
            <p:cNvGrpSpPr>
              <a:grpSpLocks/>
            </p:cNvGrpSpPr>
            <p:nvPr/>
          </p:nvGrpSpPr>
          <p:grpSpPr bwMode="auto">
            <a:xfrm>
              <a:off x="816" y="1536"/>
              <a:ext cx="288" cy="192"/>
              <a:chOff x="816" y="1536"/>
              <a:chExt cx="288" cy="192"/>
            </a:xfrm>
          </p:grpSpPr>
          <p:sp>
            <p:nvSpPr>
              <p:cNvPr id="26657"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8"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0"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1" name="Group 43"/>
              <p:cNvGrpSpPr>
                <a:grpSpLocks/>
              </p:cNvGrpSpPr>
              <p:nvPr/>
            </p:nvGrpSpPr>
            <p:grpSpPr bwMode="auto">
              <a:xfrm flipH="1">
                <a:off x="816" y="1536"/>
                <a:ext cx="96" cy="192"/>
                <a:chOff x="864" y="1536"/>
                <a:chExt cx="96" cy="192"/>
              </a:xfrm>
            </p:grpSpPr>
            <p:sp>
              <p:nvSpPr>
                <p:cNvPr id="26662"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3"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6649" name="Group 46"/>
            <p:cNvGrpSpPr>
              <a:grpSpLocks/>
            </p:cNvGrpSpPr>
            <p:nvPr/>
          </p:nvGrpSpPr>
          <p:grpSpPr bwMode="auto">
            <a:xfrm flipV="1">
              <a:off x="816" y="1776"/>
              <a:ext cx="288" cy="192"/>
              <a:chOff x="816" y="1536"/>
              <a:chExt cx="288" cy="192"/>
            </a:xfrm>
          </p:grpSpPr>
          <p:sp>
            <p:nvSpPr>
              <p:cNvPr id="26650"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3"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54" name="Group 51"/>
              <p:cNvGrpSpPr>
                <a:grpSpLocks/>
              </p:cNvGrpSpPr>
              <p:nvPr/>
            </p:nvGrpSpPr>
            <p:grpSpPr bwMode="auto">
              <a:xfrm flipH="1">
                <a:off x="816" y="1536"/>
                <a:ext cx="96" cy="192"/>
                <a:chOff x="864" y="1536"/>
                <a:chExt cx="96" cy="192"/>
              </a:xfrm>
            </p:grpSpPr>
            <p:sp>
              <p:nvSpPr>
                <p:cNvPr id="26655"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6"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6644"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6645"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6646" name="Text Box 56"/>
          <p:cNvSpPr txBox="1">
            <a:spLocks noChangeArrowheads="1"/>
          </p:cNvSpPr>
          <p:nvPr/>
        </p:nvSpPr>
        <p:spPr bwMode="auto">
          <a:xfrm>
            <a:off x="1812925" y="1260475"/>
            <a:ext cx="560602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The ant decides where to go from that node,</a:t>
            </a:r>
          </a:p>
          <a:p>
            <a:pPr eaLnBrk="1" hangingPunct="1">
              <a:spcBef>
                <a:spcPct val="0"/>
              </a:spcBef>
              <a:buFontTx/>
              <a:buNone/>
            </a:pPr>
            <a:r>
              <a:rPr lang="en-GB" altLang="en-US" sz="2400" dirty="0"/>
              <a:t>based on probabilities</a:t>
            </a:r>
          </a:p>
          <a:p>
            <a:pPr eaLnBrk="1" hangingPunct="1">
              <a:spcBef>
                <a:spcPct val="0"/>
              </a:spcBef>
              <a:buFontTx/>
              <a:buNone/>
            </a:pPr>
            <a:r>
              <a:rPr lang="en-GB" altLang="en-US" sz="2400" dirty="0"/>
              <a:t>calculated from:</a:t>
            </a:r>
          </a:p>
          <a:p>
            <a:pPr eaLnBrk="1" hangingPunct="1">
              <a:spcBef>
                <a:spcPct val="0"/>
              </a:spcBef>
              <a:buFontTx/>
              <a:buNone/>
            </a:pPr>
            <a:r>
              <a:rPr lang="en-GB" altLang="en-US" sz="2400" dirty="0"/>
              <a:t>  - pheromone strengths,</a:t>
            </a:r>
          </a:p>
          <a:p>
            <a:pPr eaLnBrk="1" hangingPunct="1">
              <a:spcBef>
                <a:spcPct val="0"/>
              </a:spcBef>
              <a:buFontTx/>
              <a:buNone/>
            </a:pPr>
            <a:r>
              <a:rPr lang="en-GB" altLang="en-US" sz="2400" dirty="0"/>
              <a:t>  - next-hop distances.</a:t>
            </a:r>
          </a:p>
          <a:p>
            <a:pPr eaLnBrk="1" hangingPunct="1">
              <a:spcBef>
                <a:spcPct val="0"/>
              </a:spcBef>
              <a:buFontTx/>
              <a:buNone/>
            </a:pPr>
            <a:endParaRPr lang="en-GB" altLang="en-US" sz="2400" dirty="0"/>
          </a:p>
          <a:p>
            <a:pPr eaLnBrk="1" hangingPunct="1">
              <a:spcBef>
                <a:spcPct val="0"/>
              </a:spcBef>
              <a:buFontTx/>
              <a:buNone/>
            </a:pPr>
            <a:r>
              <a:rPr lang="en-GB" altLang="en-US" sz="2400" dirty="0"/>
              <a:t>Suppose this one chooses BC</a:t>
            </a:r>
          </a:p>
        </p:txBody>
      </p:sp>
      <p:pic>
        <p:nvPicPr>
          <p:cNvPr id="57" name="Picture 56"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6244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7651"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7652"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7653"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7654"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7655"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56"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58" name="Group 10"/>
          <p:cNvGrpSpPr>
            <a:grpSpLocks/>
          </p:cNvGrpSpPr>
          <p:nvPr/>
        </p:nvGrpSpPr>
        <p:grpSpPr bwMode="auto">
          <a:xfrm>
            <a:off x="5567363" y="5048250"/>
            <a:ext cx="457200" cy="685800"/>
            <a:chOff x="816" y="1536"/>
            <a:chExt cx="288" cy="432"/>
          </a:xfrm>
        </p:grpSpPr>
        <p:sp>
          <p:nvSpPr>
            <p:cNvPr id="27689"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7690" name="Group 12"/>
            <p:cNvGrpSpPr>
              <a:grpSpLocks/>
            </p:cNvGrpSpPr>
            <p:nvPr/>
          </p:nvGrpSpPr>
          <p:grpSpPr bwMode="auto">
            <a:xfrm>
              <a:off x="816" y="1536"/>
              <a:ext cx="288" cy="192"/>
              <a:chOff x="816" y="1536"/>
              <a:chExt cx="288" cy="192"/>
            </a:xfrm>
          </p:grpSpPr>
          <p:sp>
            <p:nvSpPr>
              <p:cNvPr id="27699"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0"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1"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2"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03" name="Group 17"/>
              <p:cNvGrpSpPr>
                <a:grpSpLocks/>
              </p:cNvGrpSpPr>
              <p:nvPr/>
            </p:nvGrpSpPr>
            <p:grpSpPr bwMode="auto">
              <a:xfrm flipH="1">
                <a:off x="816" y="1536"/>
                <a:ext cx="96" cy="192"/>
                <a:chOff x="864" y="1536"/>
                <a:chExt cx="96" cy="192"/>
              </a:xfrm>
            </p:grpSpPr>
            <p:sp>
              <p:nvSpPr>
                <p:cNvPr id="27704"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5"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91" name="Group 20"/>
            <p:cNvGrpSpPr>
              <a:grpSpLocks/>
            </p:cNvGrpSpPr>
            <p:nvPr/>
          </p:nvGrpSpPr>
          <p:grpSpPr bwMode="auto">
            <a:xfrm flipV="1">
              <a:off x="816" y="1776"/>
              <a:ext cx="288" cy="192"/>
              <a:chOff x="816" y="1536"/>
              <a:chExt cx="288" cy="192"/>
            </a:xfrm>
          </p:grpSpPr>
          <p:sp>
            <p:nvSpPr>
              <p:cNvPr id="27692"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3"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4"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5"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96" name="Group 25"/>
              <p:cNvGrpSpPr>
                <a:grpSpLocks/>
              </p:cNvGrpSpPr>
              <p:nvPr/>
            </p:nvGrpSpPr>
            <p:grpSpPr bwMode="auto">
              <a:xfrm flipH="1">
                <a:off x="816" y="1536"/>
                <a:ext cx="96" cy="192"/>
                <a:chOff x="864" y="1536"/>
                <a:chExt cx="96" cy="192"/>
              </a:xfrm>
            </p:grpSpPr>
            <p:sp>
              <p:nvSpPr>
                <p:cNvPr id="27697"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8"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7659"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0"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1"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2"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3"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4"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5"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7666"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7667" name="Group 36"/>
          <p:cNvGrpSpPr>
            <a:grpSpLocks/>
          </p:cNvGrpSpPr>
          <p:nvPr/>
        </p:nvGrpSpPr>
        <p:grpSpPr bwMode="auto">
          <a:xfrm>
            <a:off x="1752600" y="6019800"/>
            <a:ext cx="457200" cy="685800"/>
            <a:chOff x="816" y="1536"/>
            <a:chExt cx="288" cy="432"/>
          </a:xfrm>
        </p:grpSpPr>
        <p:sp>
          <p:nvSpPr>
            <p:cNvPr id="27672"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7673" name="Group 38"/>
            <p:cNvGrpSpPr>
              <a:grpSpLocks/>
            </p:cNvGrpSpPr>
            <p:nvPr/>
          </p:nvGrpSpPr>
          <p:grpSpPr bwMode="auto">
            <a:xfrm>
              <a:off x="816" y="1536"/>
              <a:ext cx="288" cy="192"/>
              <a:chOff x="816" y="1536"/>
              <a:chExt cx="288" cy="192"/>
            </a:xfrm>
          </p:grpSpPr>
          <p:sp>
            <p:nvSpPr>
              <p:cNvPr id="27682"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5"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86" name="Group 43"/>
              <p:cNvGrpSpPr>
                <a:grpSpLocks/>
              </p:cNvGrpSpPr>
              <p:nvPr/>
            </p:nvGrpSpPr>
            <p:grpSpPr bwMode="auto">
              <a:xfrm flipH="1">
                <a:off x="816" y="1536"/>
                <a:ext cx="96" cy="192"/>
                <a:chOff x="864" y="1536"/>
                <a:chExt cx="96" cy="192"/>
              </a:xfrm>
            </p:grpSpPr>
            <p:sp>
              <p:nvSpPr>
                <p:cNvPr id="27687"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8"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7674" name="Group 46"/>
            <p:cNvGrpSpPr>
              <a:grpSpLocks/>
            </p:cNvGrpSpPr>
            <p:nvPr/>
          </p:nvGrpSpPr>
          <p:grpSpPr bwMode="auto">
            <a:xfrm flipV="1">
              <a:off x="816" y="1776"/>
              <a:ext cx="288" cy="192"/>
              <a:chOff x="816" y="1536"/>
              <a:chExt cx="288" cy="192"/>
            </a:xfrm>
          </p:grpSpPr>
          <p:sp>
            <p:nvSpPr>
              <p:cNvPr id="27675"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8"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79" name="Group 51"/>
              <p:cNvGrpSpPr>
                <a:grpSpLocks/>
              </p:cNvGrpSpPr>
              <p:nvPr/>
            </p:nvGrpSpPr>
            <p:grpSpPr bwMode="auto">
              <a:xfrm flipH="1">
                <a:off x="816" y="1536"/>
                <a:ext cx="96" cy="192"/>
                <a:chOff x="864" y="1536"/>
                <a:chExt cx="96" cy="192"/>
              </a:xfrm>
            </p:grpSpPr>
            <p:sp>
              <p:nvSpPr>
                <p:cNvPr id="27680"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1"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7668"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7669"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7670" name="Text Box 56"/>
          <p:cNvSpPr txBox="1">
            <a:spLocks noChangeArrowheads="1"/>
          </p:cNvSpPr>
          <p:nvPr/>
        </p:nvSpPr>
        <p:spPr bwMode="auto">
          <a:xfrm>
            <a:off x="1600201" y="1450975"/>
            <a:ext cx="8841331"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The ant is now at C, and has a `tour memory’ = {B, C} – so he cannot</a:t>
            </a:r>
          </a:p>
          <a:p>
            <a:pPr eaLnBrk="1" hangingPunct="1">
              <a:spcBef>
                <a:spcPct val="0"/>
              </a:spcBef>
              <a:buFontTx/>
              <a:buNone/>
            </a:pPr>
            <a:r>
              <a:rPr lang="en-GB" altLang="en-US" sz="2400"/>
              <a:t> visit B or C again. </a:t>
            </a:r>
          </a:p>
          <a:p>
            <a:pPr eaLnBrk="1" hangingPunct="1">
              <a:spcBef>
                <a:spcPct val="0"/>
              </a:spcBef>
              <a:buFontTx/>
              <a:buNone/>
            </a:pPr>
            <a:r>
              <a:rPr lang="en-GB" altLang="en-US" sz="2400"/>
              <a:t>Again, he decides next hop</a:t>
            </a:r>
          </a:p>
          <a:p>
            <a:pPr eaLnBrk="1" hangingPunct="1">
              <a:spcBef>
                <a:spcPct val="0"/>
              </a:spcBef>
              <a:buFontTx/>
              <a:buNone/>
            </a:pPr>
            <a:r>
              <a:rPr lang="en-GB" altLang="en-US" sz="2400"/>
              <a:t>(from those allowed) based</a:t>
            </a:r>
          </a:p>
          <a:p>
            <a:pPr eaLnBrk="1" hangingPunct="1">
              <a:spcBef>
                <a:spcPct val="0"/>
              </a:spcBef>
              <a:buFontTx/>
              <a:buNone/>
            </a:pPr>
            <a:r>
              <a:rPr lang="en-GB" altLang="en-US" sz="2400"/>
              <a:t>on pheromone strength</a:t>
            </a:r>
          </a:p>
          <a:p>
            <a:pPr eaLnBrk="1" hangingPunct="1">
              <a:spcBef>
                <a:spcPct val="0"/>
              </a:spcBef>
              <a:buFontTx/>
              <a:buNone/>
            </a:pPr>
            <a:r>
              <a:rPr lang="en-GB" altLang="en-US" sz="2400"/>
              <a:t>and distance;</a:t>
            </a:r>
          </a:p>
          <a:p>
            <a:pPr eaLnBrk="1" hangingPunct="1">
              <a:spcBef>
                <a:spcPct val="0"/>
              </a:spcBef>
              <a:buFontTx/>
              <a:buNone/>
            </a:pPr>
            <a:r>
              <a:rPr lang="en-GB" altLang="en-US" sz="2400"/>
              <a:t>suppose he chooses</a:t>
            </a:r>
          </a:p>
          <a:p>
            <a:pPr eaLnBrk="1" hangingPunct="1">
              <a:spcBef>
                <a:spcPct val="0"/>
              </a:spcBef>
              <a:buFontTx/>
              <a:buNone/>
            </a:pPr>
            <a:r>
              <a:rPr lang="en-GB" altLang="en-US" sz="2400"/>
              <a:t>CD</a:t>
            </a:r>
          </a:p>
        </p:txBody>
      </p:sp>
      <p:sp>
        <p:nvSpPr>
          <p:cNvPr id="27671" name="Line 57"/>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8" name="Picture 57"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4310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8675"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8676"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8677"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8678"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8679"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0"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682" name="Group 10"/>
          <p:cNvGrpSpPr>
            <a:grpSpLocks/>
          </p:cNvGrpSpPr>
          <p:nvPr/>
        </p:nvGrpSpPr>
        <p:grpSpPr bwMode="auto">
          <a:xfrm>
            <a:off x="8256588" y="5157788"/>
            <a:ext cx="457200" cy="685800"/>
            <a:chOff x="816" y="1536"/>
            <a:chExt cx="288" cy="432"/>
          </a:xfrm>
        </p:grpSpPr>
        <p:sp>
          <p:nvSpPr>
            <p:cNvPr id="28714"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8715" name="Group 12"/>
            <p:cNvGrpSpPr>
              <a:grpSpLocks/>
            </p:cNvGrpSpPr>
            <p:nvPr/>
          </p:nvGrpSpPr>
          <p:grpSpPr bwMode="auto">
            <a:xfrm>
              <a:off x="816" y="1536"/>
              <a:ext cx="288" cy="192"/>
              <a:chOff x="816" y="1536"/>
              <a:chExt cx="288" cy="192"/>
            </a:xfrm>
          </p:grpSpPr>
          <p:sp>
            <p:nvSpPr>
              <p:cNvPr id="28724"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5"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7"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28" name="Group 17"/>
              <p:cNvGrpSpPr>
                <a:grpSpLocks/>
              </p:cNvGrpSpPr>
              <p:nvPr/>
            </p:nvGrpSpPr>
            <p:grpSpPr bwMode="auto">
              <a:xfrm flipH="1">
                <a:off x="816" y="1536"/>
                <a:ext cx="96" cy="192"/>
                <a:chOff x="864" y="1536"/>
                <a:chExt cx="96" cy="192"/>
              </a:xfrm>
            </p:grpSpPr>
            <p:sp>
              <p:nvSpPr>
                <p:cNvPr id="28729"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0"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8716" name="Group 20"/>
            <p:cNvGrpSpPr>
              <a:grpSpLocks/>
            </p:cNvGrpSpPr>
            <p:nvPr/>
          </p:nvGrpSpPr>
          <p:grpSpPr bwMode="auto">
            <a:xfrm flipV="1">
              <a:off x="816" y="1776"/>
              <a:ext cx="288" cy="192"/>
              <a:chOff x="816" y="1536"/>
              <a:chExt cx="288" cy="192"/>
            </a:xfrm>
          </p:grpSpPr>
          <p:sp>
            <p:nvSpPr>
              <p:cNvPr id="28717"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21" name="Group 25"/>
              <p:cNvGrpSpPr>
                <a:grpSpLocks/>
              </p:cNvGrpSpPr>
              <p:nvPr/>
            </p:nvGrpSpPr>
            <p:grpSpPr bwMode="auto">
              <a:xfrm flipH="1">
                <a:off x="816" y="1536"/>
                <a:ext cx="96" cy="192"/>
                <a:chOff x="864" y="1536"/>
                <a:chExt cx="96" cy="192"/>
              </a:xfrm>
            </p:grpSpPr>
            <p:sp>
              <p:nvSpPr>
                <p:cNvPr id="28722"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8683"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4"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5"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6"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7"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8"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89"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8690"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8691" name="Group 36"/>
          <p:cNvGrpSpPr>
            <a:grpSpLocks/>
          </p:cNvGrpSpPr>
          <p:nvPr/>
        </p:nvGrpSpPr>
        <p:grpSpPr bwMode="auto">
          <a:xfrm>
            <a:off x="1752600" y="6019800"/>
            <a:ext cx="457200" cy="685800"/>
            <a:chOff x="816" y="1536"/>
            <a:chExt cx="288" cy="432"/>
          </a:xfrm>
        </p:grpSpPr>
        <p:sp>
          <p:nvSpPr>
            <p:cNvPr id="28697"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8698" name="Group 38"/>
            <p:cNvGrpSpPr>
              <a:grpSpLocks/>
            </p:cNvGrpSpPr>
            <p:nvPr/>
          </p:nvGrpSpPr>
          <p:grpSpPr bwMode="auto">
            <a:xfrm>
              <a:off x="816" y="1536"/>
              <a:ext cx="288" cy="192"/>
              <a:chOff x="816" y="1536"/>
              <a:chExt cx="288" cy="192"/>
            </a:xfrm>
          </p:grpSpPr>
          <p:sp>
            <p:nvSpPr>
              <p:cNvPr id="28707"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11" name="Group 43"/>
              <p:cNvGrpSpPr>
                <a:grpSpLocks/>
              </p:cNvGrpSpPr>
              <p:nvPr/>
            </p:nvGrpSpPr>
            <p:grpSpPr bwMode="auto">
              <a:xfrm flipH="1">
                <a:off x="816" y="1536"/>
                <a:ext cx="96" cy="192"/>
                <a:chOff x="864" y="1536"/>
                <a:chExt cx="96" cy="192"/>
              </a:xfrm>
            </p:grpSpPr>
            <p:sp>
              <p:nvSpPr>
                <p:cNvPr id="28712"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8699" name="Group 46"/>
            <p:cNvGrpSpPr>
              <a:grpSpLocks/>
            </p:cNvGrpSpPr>
            <p:nvPr/>
          </p:nvGrpSpPr>
          <p:grpSpPr bwMode="auto">
            <a:xfrm flipV="1">
              <a:off x="816" y="1776"/>
              <a:ext cx="288" cy="192"/>
              <a:chOff x="816" y="1536"/>
              <a:chExt cx="288" cy="192"/>
            </a:xfrm>
          </p:grpSpPr>
          <p:sp>
            <p:nvSpPr>
              <p:cNvPr id="28700"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2"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04" name="Group 51"/>
              <p:cNvGrpSpPr>
                <a:grpSpLocks/>
              </p:cNvGrpSpPr>
              <p:nvPr/>
            </p:nvGrpSpPr>
            <p:grpSpPr bwMode="auto">
              <a:xfrm flipH="1">
                <a:off x="816" y="1536"/>
                <a:ext cx="96" cy="192"/>
                <a:chOff x="864" y="1536"/>
                <a:chExt cx="96" cy="192"/>
              </a:xfrm>
            </p:grpSpPr>
            <p:sp>
              <p:nvSpPr>
                <p:cNvPr id="28705"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8692"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8693"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8694" name="Text Box 56"/>
          <p:cNvSpPr txBox="1">
            <a:spLocks noChangeArrowheads="1"/>
          </p:cNvSpPr>
          <p:nvPr/>
        </p:nvSpPr>
        <p:spPr bwMode="auto">
          <a:xfrm>
            <a:off x="1600201" y="1295401"/>
            <a:ext cx="73906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The ant is now at D, and has a `tour memory’ = {B, C, D}</a:t>
            </a:r>
          </a:p>
          <a:p>
            <a:pPr eaLnBrk="1" hangingPunct="1">
              <a:spcBef>
                <a:spcPct val="0"/>
              </a:spcBef>
              <a:buFontTx/>
              <a:buNone/>
            </a:pPr>
            <a:r>
              <a:rPr lang="en-GB" altLang="en-US" sz="2400"/>
              <a:t>There is only one place he can go now: </a:t>
            </a:r>
          </a:p>
          <a:p>
            <a:pPr eaLnBrk="1" hangingPunct="1">
              <a:spcBef>
                <a:spcPct val="0"/>
              </a:spcBef>
              <a:buFontTx/>
              <a:buNone/>
            </a:pPr>
            <a:r>
              <a:rPr lang="en-GB" altLang="en-US" sz="2400"/>
              <a:t>  </a:t>
            </a:r>
          </a:p>
        </p:txBody>
      </p:sp>
      <p:sp>
        <p:nvSpPr>
          <p:cNvPr id="28695" name="Line 57"/>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96" name="Line 58"/>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9" name="Picture 58"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4682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29699"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29700"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29701"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29702"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29703"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4"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06" name="Group 10"/>
          <p:cNvGrpSpPr>
            <a:grpSpLocks/>
          </p:cNvGrpSpPr>
          <p:nvPr/>
        </p:nvGrpSpPr>
        <p:grpSpPr bwMode="auto">
          <a:xfrm>
            <a:off x="4943475" y="2238375"/>
            <a:ext cx="457200" cy="685800"/>
            <a:chOff x="816" y="1536"/>
            <a:chExt cx="288" cy="432"/>
          </a:xfrm>
        </p:grpSpPr>
        <p:sp>
          <p:nvSpPr>
            <p:cNvPr id="29739"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9740" name="Group 12"/>
            <p:cNvGrpSpPr>
              <a:grpSpLocks/>
            </p:cNvGrpSpPr>
            <p:nvPr/>
          </p:nvGrpSpPr>
          <p:grpSpPr bwMode="auto">
            <a:xfrm>
              <a:off x="816" y="1536"/>
              <a:ext cx="288" cy="192"/>
              <a:chOff x="816" y="1536"/>
              <a:chExt cx="288" cy="192"/>
            </a:xfrm>
          </p:grpSpPr>
          <p:sp>
            <p:nvSpPr>
              <p:cNvPr id="29749"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0"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1"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2"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53" name="Group 17"/>
              <p:cNvGrpSpPr>
                <a:grpSpLocks/>
              </p:cNvGrpSpPr>
              <p:nvPr/>
            </p:nvGrpSpPr>
            <p:grpSpPr bwMode="auto">
              <a:xfrm flipH="1">
                <a:off x="816" y="1536"/>
                <a:ext cx="96" cy="192"/>
                <a:chOff x="864" y="1536"/>
                <a:chExt cx="96" cy="192"/>
              </a:xfrm>
            </p:grpSpPr>
            <p:sp>
              <p:nvSpPr>
                <p:cNvPr id="29754"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5"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9741" name="Group 20"/>
            <p:cNvGrpSpPr>
              <a:grpSpLocks/>
            </p:cNvGrpSpPr>
            <p:nvPr/>
          </p:nvGrpSpPr>
          <p:grpSpPr bwMode="auto">
            <a:xfrm flipV="1">
              <a:off x="816" y="1776"/>
              <a:ext cx="288" cy="192"/>
              <a:chOff x="816" y="1536"/>
              <a:chExt cx="288" cy="192"/>
            </a:xfrm>
          </p:grpSpPr>
          <p:sp>
            <p:nvSpPr>
              <p:cNvPr id="29742"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3"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4"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5"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46" name="Group 25"/>
              <p:cNvGrpSpPr>
                <a:grpSpLocks/>
              </p:cNvGrpSpPr>
              <p:nvPr/>
            </p:nvGrpSpPr>
            <p:grpSpPr bwMode="auto">
              <a:xfrm flipH="1">
                <a:off x="816" y="1536"/>
                <a:ext cx="96" cy="192"/>
                <a:chOff x="864" y="1536"/>
                <a:chExt cx="96" cy="192"/>
              </a:xfrm>
            </p:grpSpPr>
            <p:sp>
              <p:nvSpPr>
                <p:cNvPr id="29747"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8"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9707"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8"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09"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0"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1"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2"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3"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29714"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29715" name="Group 36"/>
          <p:cNvGrpSpPr>
            <a:grpSpLocks/>
          </p:cNvGrpSpPr>
          <p:nvPr/>
        </p:nvGrpSpPr>
        <p:grpSpPr bwMode="auto">
          <a:xfrm>
            <a:off x="1752600" y="6019800"/>
            <a:ext cx="457200" cy="685800"/>
            <a:chOff x="816" y="1536"/>
            <a:chExt cx="288" cy="432"/>
          </a:xfrm>
        </p:grpSpPr>
        <p:sp>
          <p:nvSpPr>
            <p:cNvPr id="29722"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29723" name="Group 38"/>
            <p:cNvGrpSpPr>
              <a:grpSpLocks/>
            </p:cNvGrpSpPr>
            <p:nvPr/>
          </p:nvGrpSpPr>
          <p:grpSpPr bwMode="auto">
            <a:xfrm>
              <a:off x="816" y="1536"/>
              <a:ext cx="288" cy="192"/>
              <a:chOff x="816" y="1536"/>
              <a:chExt cx="288" cy="192"/>
            </a:xfrm>
          </p:grpSpPr>
          <p:sp>
            <p:nvSpPr>
              <p:cNvPr id="29732"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3"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4"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5"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36" name="Group 43"/>
              <p:cNvGrpSpPr>
                <a:grpSpLocks/>
              </p:cNvGrpSpPr>
              <p:nvPr/>
            </p:nvGrpSpPr>
            <p:grpSpPr bwMode="auto">
              <a:xfrm flipH="1">
                <a:off x="816" y="1536"/>
                <a:ext cx="96" cy="192"/>
                <a:chOff x="864" y="1536"/>
                <a:chExt cx="96" cy="192"/>
              </a:xfrm>
            </p:grpSpPr>
            <p:sp>
              <p:nvSpPr>
                <p:cNvPr id="29737"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8"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9724" name="Group 46"/>
            <p:cNvGrpSpPr>
              <a:grpSpLocks/>
            </p:cNvGrpSpPr>
            <p:nvPr/>
          </p:nvGrpSpPr>
          <p:grpSpPr bwMode="auto">
            <a:xfrm flipV="1">
              <a:off x="816" y="1776"/>
              <a:ext cx="288" cy="192"/>
              <a:chOff x="816" y="1536"/>
              <a:chExt cx="288" cy="192"/>
            </a:xfrm>
          </p:grpSpPr>
          <p:sp>
            <p:nvSpPr>
              <p:cNvPr id="29725"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6"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7"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8"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9729" name="Group 51"/>
              <p:cNvGrpSpPr>
                <a:grpSpLocks/>
              </p:cNvGrpSpPr>
              <p:nvPr/>
            </p:nvGrpSpPr>
            <p:grpSpPr bwMode="auto">
              <a:xfrm flipH="1">
                <a:off x="816" y="1536"/>
                <a:ext cx="96" cy="192"/>
                <a:chOff x="864" y="1536"/>
                <a:chExt cx="96" cy="192"/>
              </a:xfrm>
            </p:grpSpPr>
            <p:sp>
              <p:nvSpPr>
                <p:cNvPr id="29730"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1"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29716"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29717"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29718" name="Text Box 56"/>
          <p:cNvSpPr txBox="1">
            <a:spLocks noChangeArrowheads="1"/>
          </p:cNvSpPr>
          <p:nvPr/>
        </p:nvSpPr>
        <p:spPr bwMode="auto">
          <a:xfrm>
            <a:off x="1600201" y="1295401"/>
            <a:ext cx="78507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So, he has nearly finished his tour, having gone over the links:</a:t>
            </a:r>
          </a:p>
          <a:p>
            <a:pPr eaLnBrk="1" hangingPunct="1">
              <a:spcBef>
                <a:spcPct val="0"/>
              </a:spcBef>
              <a:buFontTx/>
              <a:buNone/>
            </a:pPr>
            <a:r>
              <a:rPr lang="en-GB" altLang="en-US" sz="2400"/>
              <a:t>BC, CD, and DA.  </a:t>
            </a:r>
          </a:p>
          <a:p>
            <a:pPr eaLnBrk="1" hangingPunct="1">
              <a:spcBef>
                <a:spcPct val="0"/>
              </a:spcBef>
              <a:buFontTx/>
              <a:buNone/>
            </a:pPr>
            <a:r>
              <a:rPr lang="en-GB" altLang="en-US" sz="2400"/>
              <a:t>  </a:t>
            </a:r>
          </a:p>
        </p:txBody>
      </p:sp>
      <p:sp>
        <p:nvSpPr>
          <p:cNvPr id="29719" name="Line 62"/>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0" name="Line 63"/>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21" name="Line 64"/>
          <p:cNvSpPr>
            <a:spLocks noChangeShapeType="1"/>
          </p:cNvSpPr>
          <p:nvPr/>
        </p:nvSpPr>
        <p:spPr bwMode="auto">
          <a:xfrm flipH="1" flipV="1">
            <a:off x="5880100" y="2420939"/>
            <a:ext cx="2736850" cy="2376487"/>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60" name="Picture 59"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821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0723"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30724"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0725"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0726"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0727"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28"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30" name="Group 10"/>
          <p:cNvGrpSpPr>
            <a:grpSpLocks/>
          </p:cNvGrpSpPr>
          <p:nvPr/>
        </p:nvGrpSpPr>
        <p:grpSpPr bwMode="auto">
          <a:xfrm>
            <a:off x="8904288" y="2349500"/>
            <a:ext cx="457200" cy="685800"/>
            <a:chOff x="816" y="1536"/>
            <a:chExt cx="288" cy="432"/>
          </a:xfrm>
        </p:grpSpPr>
        <p:sp>
          <p:nvSpPr>
            <p:cNvPr id="30765"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0766" name="Group 12"/>
            <p:cNvGrpSpPr>
              <a:grpSpLocks/>
            </p:cNvGrpSpPr>
            <p:nvPr/>
          </p:nvGrpSpPr>
          <p:grpSpPr bwMode="auto">
            <a:xfrm>
              <a:off x="816" y="1536"/>
              <a:ext cx="288" cy="192"/>
              <a:chOff x="816" y="1536"/>
              <a:chExt cx="288" cy="192"/>
            </a:xfrm>
          </p:grpSpPr>
          <p:sp>
            <p:nvSpPr>
              <p:cNvPr id="30775"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6"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7"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8"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79" name="Group 17"/>
              <p:cNvGrpSpPr>
                <a:grpSpLocks/>
              </p:cNvGrpSpPr>
              <p:nvPr/>
            </p:nvGrpSpPr>
            <p:grpSpPr bwMode="auto">
              <a:xfrm flipH="1">
                <a:off x="816" y="1536"/>
                <a:ext cx="96" cy="192"/>
                <a:chOff x="864" y="1536"/>
                <a:chExt cx="96" cy="192"/>
              </a:xfrm>
            </p:grpSpPr>
            <p:sp>
              <p:nvSpPr>
                <p:cNvPr id="30780"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81"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0767" name="Group 20"/>
            <p:cNvGrpSpPr>
              <a:grpSpLocks/>
            </p:cNvGrpSpPr>
            <p:nvPr/>
          </p:nvGrpSpPr>
          <p:grpSpPr bwMode="auto">
            <a:xfrm flipV="1">
              <a:off x="816" y="1776"/>
              <a:ext cx="288" cy="192"/>
              <a:chOff x="816" y="1536"/>
              <a:chExt cx="288" cy="192"/>
            </a:xfrm>
          </p:grpSpPr>
          <p:sp>
            <p:nvSpPr>
              <p:cNvPr id="30768"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9"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0"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1"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72" name="Group 25"/>
              <p:cNvGrpSpPr>
                <a:grpSpLocks/>
              </p:cNvGrpSpPr>
              <p:nvPr/>
            </p:nvGrpSpPr>
            <p:grpSpPr bwMode="auto">
              <a:xfrm flipH="1">
                <a:off x="816" y="1536"/>
                <a:ext cx="96" cy="192"/>
                <a:chOff x="864" y="1536"/>
                <a:chExt cx="96" cy="192"/>
              </a:xfrm>
            </p:grpSpPr>
            <p:sp>
              <p:nvSpPr>
                <p:cNvPr id="30773"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4"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0731" name="Oval 28"/>
          <p:cNvSpPr>
            <a:spLocks noChangeArrowheads="1"/>
          </p:cNvSpPr>
          <p:nvPr/>
        </p:nvSpPr>
        <p:spPr bwMode="auto">
          <a:xfrm>
            <a:off x="6096000" y="50292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2" name="Oval 29"/>
          <p:cNvSpPr>
            <a:spLocks noChangeArrowheads="1"/>
          </p:cNvSpPr>
          <p:nvPr/>
        </p:nvSpPr>
        <p:spPr bwMode="auto">
          <a:xfrm>
            <a:off x="6248400" y="2286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3" name="Oval 30"/>
          <p:cNvSpPr>
            <a:spLocks noChangeArrowheads="1"/>
          </p:cNvSpPr>
          <p:nvPr/>
        </p:nvSpPr>
        <p:spPr bwMode="auto">
          <a:xfrm rot="-2235806">
            <a:off x="5867400" y="44196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4" name="Oval 31"/>
          <p:cNvSpPr>
            <a:spLocks noChangeArrowheads="1"/>
          </p:cNvSpPr>
          <p:nvPr/>
        </p:nvSpPr>
        <p:spPr bwMode="auto">
          <a:xfrm rot="2269170">
            <a:off x="5943600" y="30480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5"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6"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7"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0738"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0739" name="Group 36"/>
          <p:cNvGrpSpPr>
            <a:grpSpLocks/>
          </p:cNvGrpSpPr>
          <p:nvPr/>
        </p:nvGrpSpPr>
        <p:grpSpPr bwMode="auto">
          <a:xfrm>
            <a:off x="1752600" y="6019800"/>
            <a:ext cx="457200" cy="685800"/>
            <a:chOff x="816" y="1536"/>
            <a:chExt cx="288" cy="432"/>
          </a:xfrm>
        </p:grpSpPr>
        <p:sp>
          <p:nvSpPr>
            <p:cNvPr id="30748"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0749" name="Group 38"/>
            <p:cNvGrpSpPr>
              <a:grpSpLocks/>
            </p:cNvGrpSpPr>
            <p:nvPr/>
          </p:nvGrpSpPr>
          <p:grpSpPr bwMode="auto">
            <a:xfrm>
              <a:off x="816" y="1536"/>
              <a:ext cx="288" cy="192"/>
              <a:chOff x="816" y="1536"/>
              <a:chExt cx="288" cy="192"/>
            </a:xfrm>
          </p:grpSpPr>
          <p:sp>
            <p:nvSpPr>
              <p:cNvPr id="30758"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9"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0"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1"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62" name="Group 43"/>
              <p:cNvGrpSpPr>
                <a:grpSpLocks/>
              </p:cNvGrpSpPr>
              <p:nvPr/>
            </p:nvGrpSpPr>
            <p:grpSpPr bwMode="auto">
              <a:xfrm flipH="1">
                <a:off x="816" y="1536"/>
                <a:ext cx="96" cy="192"/>
                <a:chOff x="864" y="1536"/>
                <a:chExt cx="96" cy="192"/>
              </a:xfrm>
            </p:grpSpPr>
            <p:sp>
              <p:nvSpPr>
                <p:cNvPr id="30763"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4"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0750" name="Group 46"/>
            <p:cNvGrpSpPr>
              <a:grpSpLocks/>
            </p:cNvGrpSpPr>
            <p:nvPr/>
          </p:nvGrpSpPr>
          <p:grpSpPr bwMode="auto">
            <a:xfrm flipV="1">
              <a:off x="816" y="1776"/>
              <a:ext cx="288" cy="192"/>
              <a:chOff x="816" y="1536"/>
              <a:chExt cx="288" cy="192"/>
            </a:xfrm>
          </p:grpSpPr>
          <p:sp>
            <p:nvSpPr>
              <p:cNvPr id="30751"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2"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3"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4"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0755" name="Group 51"/>
              <p:cNvGrpSpPr>
                <a:grpSpLocks/>
              </p:cNvGrpSpPr>
              <p:nvPr/>
            </p:nvGrpSpPr>
            <p:grpSpPr bwMode="auto">
              <a:xfrm flipH="1">
                <a:off x="816" y="1536"/>
                <a:ext cx="96" cy="192"/>
                <a:chOff x="864" y="1536"/>
                <a:chExt cx="96" cy="192"/>
              </a:xfrm>
            </p:grpSpPr>
            <p:sp>
              <p:nvSpPr>
                <p:cNvPr id="30756"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7"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0740"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0741"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0742" name="Text Box 56"/>
          <p:cNvSpPr txBox="1">
            <a:spLocks noChangeArrowheads="1"/>
          </p:cNvSpPr>
          <p:nvPr/>
        </p:nvSpPr>
        <p:spPr bwMode="auto">
          <a:xfrm>
            <a:off x="1600201" y="1295401"/>
            <a:ext cx="78507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So, he has nearly finished his tour, having gone over the links:</a:t>
            </a:r>
          </a:p>
          <a:p>
            <a:pPr eaLnBrk="1" hangingPunct="1">
              <a:spcBef>
                <a:spcPct val="0"/>
              </a:spcBef>
              <a:buFontTx/>
              <a:buNone/>
            </a:pPr>
            <a:r>
              <a:rPr lang="en-GB" altLang="en-US" sz="2400"/>
              <a:t>BC, CD, and DA. AB is added to complete the round trip. </a:t>
            </a:r>
          </a:p>
          <a:p>
            <a:pPr eaLnBrk="1" hangingPunct="1">
              <a:spcBef>
                <a:spcPct val="0"/>
              </a:spcBef>
              <a:buFontTx/>
              <a:buNone/>
            </a:pPr>
            <a:r>
              <a:rPr lang="en-GB" altLang="en-US" sz="2400"/>
              <a:t>  </a:t>
            </a:r>
          </a:p>
        </p:txBody>
      </p:sp>
      <p:sp>
        <p:nvSpPr>
          <p:cNvPr id="30743" name="Text Box 57"/>
          <p:cNvSpPr txBox="1">
            <a:spLocks noChangeArrowheads="1"/>
          </p:cNvSpPr>
          <p:nvPr/>
        </p:nvSpPr>
        <p:spPr bwMode="auto">
          <a:xfrm>
            <a:off x="1660526" y="3089276"/>
            <a:ext cx="37105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Now, pheromone on the tour</a:t>
            </a:r>
          </a:p>
          <a:p>
            <a:pPr eaLnBrk="1" hangingPunct="1">
              <a:spcBef>
                <a:spcPct val="0"/>
              </a:spcBef>
              <a:buFontTx/>
              <a:buNone/>
            </a:pPr>
            <a:r>
              <a:rPr lang="en-GB" altLang="en-US" sz="2400"/>
              <a:t>is increased, in line with the </a:t>
            </a:r>
          </a:p>
          <a:p>
            <a:pPr eaLnBrk="1" hangingPunct="1">
              <a:spcBef>
                <a:spcPct val="0"/>
              </a:spcBef>
              <a:buFontTx/>
              <a:buNone/>
            </a:pPr>
            <a:r>
              <a:rPr lang="en-GB" altLang="en-US" sz="2400"/>
              <a:t>fitness of that tour.</a:t>
            </a:r>
          </a:p>
        </p:txBody>
      </p:sp>
      <p:sp>
        <p:nvSpPr>
          <p:cNvPr id="30744" name="Line 58"/>
          <p:cNvSpPr>
            <a:spLocks noChangeShapeType="1"/>
          </p:cNvSpPr>
          <p:nvPr/>
        </p:nvSpPr>
        <p:spPr bwMode="auto">
          <a:xfrm flipH="1">
            <a:off x="5951538" y="2636839"/>
            <a:ext cx="2665412" cy="2376487"/>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5" name="Line 59"/>
          <p:cNvSpPr>
            <a:spLocks noChangeShapeType="1"/>
          </p:cNvSpPr>
          <p:nvPr/>
        </p:nvSpPr>
        <p:spPr bwMode="auto">
          <a:xfrm flipV="1">
            <a:off x="6024564" y="4868863"/>
            <a:ext cx="2663825" cy="14446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6" name="Line 60"/>
          <p:cNvSpPr>
            <a:spLocks noChangeShapeType="1"/>
          </p:cNvSpPr>
          <p:nvPr/>
        </p:nvSpPr>
        <p:spPr bwMode="auto">
          <a:xfrm flipH="1" flipV="1">
            <a:off x="5880100" y="2420939"/>
            <a:ext cx="2736850" cy="2376487"/>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7" name="Line 61"/>
          <p:cNvSpPr>
            <a:spLocks noChangeShapeType="1"/>
          </p:cNvSpPr>
          <p:nvPr/>
        </p:nvSpPr>
        <p:spPr bwMode="auto">
          <a:xfrm flipV="1">
            <a:off x="6096000" y="2492375"/>
            <a:ext cx="2520950" cy="0"/>
          </a:xfrm>
          <a:prstGeom prst="line">
            <a:avLst/>
          </a:prstGeom>
          <a:noFill/>
          <a:ln w="412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62" name="Picture 61"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4595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1747" name="Text Box 3"/>
          <p:cNvSpPr txBox="1">
            <a:spLocks noChangeArrowheads="1"/>
          </p:cNvSpPr>
          <p:nvPr/>
        </p:nvSpPr>
        <p:spPr bwMode="auto">
          <a:xfrm>
            <a:off x="5165726" y="1946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sp>
        <p:nvSpPr>
          <p:cNvPr id="31748" name="Text Box 4"/>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1749" name="Text Box 5"/>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1750" name="Text Box 6"/>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1751" name="Rectangle 7"/>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2" name="Line 8"/>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3" name="Line 9"/>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54" name="Group 10"/>
          <p:cNvGrpSpPr>
            <a:grpSpLocks/>
          </p:cNvGrpSpPr>
          <p:nvPr/>
        </p:nvGrpSpPr>
        <p:grpSpPr bwMode="auto">
          <a:xfrm>
            <a:off x="8807450" y="2349500"/>
            <a:ext cx="457200" cy="685800"/>
            <a:chOff x="816" y="1536"/>
            <a:chExt cx="288" cy="432"/>
          </a:xfrm>
        </p:grpSpPr>
        <p:sp>
          <p:nvSpPr>
            <p:cNvPr id="31788" name="Oval 11"/>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1789" name="Group 12"/>
            <p:cNvGrpSpPr>
              <a:grpSpLocks/>
            </p:cNvGrpSpPr>
            <p:nvPr/>
          </p:nvGrpSpPr>
          <p:grpSpPr bwMode="auto">
            <a:xfrm>
              <a:off x="816" y="1536"/>
              <a:ext cx="288" cy="192"/>
              <a:chOff x="816" y="1536"/>
              <a:chExt cx="288" cy="192"/>
            </a:xfrm>
          </p:grpSpPr>
          <p:sp>
            <p:nvSpPr>
              <p:cNvPr id="31798" name="Line 13"/>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9" name="Line 14"/>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0" name="Line 15"/>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1" name="Line 16"/>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802" name="Group 17"/>
              <p:cNvGrpSpPr>
                <a:grpSpLocks/>
              </p:cNvGrpSpPr>
              <p:nvPr/>
            </p:nvGrpSpPr>
            <p:grpSpPr bwMode="auto">
              <a:xfrm flipH="1">
                <a:off x="816" y="1536"/>
                <a:ext cx="96" cy="192"/>
                <a:chOff x="864" y="1536"/>
                <a:chExt cx="96" cy="192"/>
              </a:xfrm>
            </p:grpSpPr>
            <p:sp>
              <p:nvSpPr>
                <p:cNvPr id="31803" name="Line 18"/>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4" name="Line 19"/>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1790" name="Group 20"/>
            <p:cNvGrpSpPr>
              <a:grpSpLocks/>
            </p:cNvGrpSpPr>
            <p:nvPr/>
          </p:nvGrpSpPr>
          <p:grpSpPr bwMode="auto">
            <a:xfrm flipV="1">
              <a:off x="816" y="1776"/>
              <a:ext cx="288" cy="192"/>
              <a:chOff x="816" y="1536"/>
              <a:chExt cx="288" cy="192"/>
            </a:xfrm>
          </p:grpSpPr>
          <p:sp>
            <p:nvSpPr>
              <p:cNvPr id="31791" name="Line 21"/>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2" name="Line 22"/>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3" name="Line 23"/>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4" name="Line 24"/>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95" name="Group 25"/>
              <p:cNvGrpSpPr>
                <a:grpSpLocks/>
              </p:cNvGrpSpPr>
              <p:nvPr/>
            </p:nvGrpSpPr>
            <p:grpSpPr bwMode="auto">
              <a:xfrm flipH="1">
                <a:off x="816" y="1536"/>
                <a:ext cx="96" cy="192"/>
                <a:chOff x="864" y="1536"/>
                <a:chExt cx="96" cy="192"/>
              </a:xfrm>
            </p:grpSpPr>
            <p:sp>
              <p:nvSpPr>
                <p:cNvPr id="31796" name="Line 26"/>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7" name="Line 27"/>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1755" name="Oval 28"/>
          <p:cNvSpPr>
            <a:spLocks noChangeArrowheads="1"/>
          </p:cNvSpPr>
          <p:nvPr/>
        </p:nvSpPr>
        <p:spPr bwMode="auto">
          <a:xfrm>
            <a:off x="6096000" y="4953000"/>
            <a:ext cx="11430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6" name="Oval 29"/>
          <p:cNvSpPr>
            <a:spLocks noChangeArrowheads="1"/>
          </p:cNvSpPr>
          <p:nvPr/>
        </p:nvSpPr>
        <p:spPr bwMode="auto">
          <a:xfrm>
            <a:off x="6248400" y="2133600"/>
            <a:ext cx="10668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7" name="Oval 30"/>
          <p:cNvSpPr>
            <a:spLocks noChangeArrowheads="1"/>
          </p:cNvSpPr>
          <p:nvPr/>
        </p:nvSpPr>
        <p:spPr bwMode="auto">
          <a:xfrm rot="-2235806">
            <a:off x="5827714" y="4262439"/>
            <a:ext cx="1106487" cy="268287"/>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8" name="Oval 31"/>
          <p:cNvSpPr>
            <a:spLocks noChangeArrowheads="1"/>
          </p:cNvSpPr>
          <p:nvPr/>
        </p:nvSpPr>
        <p:spPr bwMode="auto">
          <a:xfrm rot="2269170">
            <a:off x="5867400" y="2971800"/>
            <a:ext cx="914400" cy="3810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59" name="Oval 32"/>
          <p:cNvSpPr>
            <a:spLocks noChangeArrowheads="1"/>
          </p:cNvSpPr>
          <p:nvPr/>
        </p:nvSpPr>
        <p:spPr bwMode="auto">
          <a:xfrm rot="5400000">
            <a:off x="83439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0" name="Oval 33"/>
          <p:cNvSpPr>
            <a:spLocks noChangeArrowheads="1"/>
          </p:cNvSpPr>
          <p:nvPr/>
        </p:nvSpPr>
        <p:spPr bwMode="auto">
          <a:xfrm rot="5400000">
            <a:off x="5143500" y="4381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1" name="Oval 34"/>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1762" name="Text Box 35"/>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1763" name="Group 36"/>
          <p:cNvGrpSpPr>
            <a:grpSpLocks/>
          </p:cNvGrpSpPr>
          <p:nvPr/>
        </p:nvGrpSpPr>
        <p:grpSpPr bwMode="auto">
          <a:xfrm>
            <a:off x="1752600" y="6019800"/>
            <a:ext cx="457200" cy="685800"/>
            <a:chOff x="816" y="1536"/>
            <a:chExt cx="288" cy="432"/>
          </a:xfrm>
        </p:grpSpPr>
        <p:sp>
          <p:nvSpPr>
            <p:cNvPr id="31771" name="Oval 37"/>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1772" name="Group 38"/>
            <p:cNvGrpSpPr>
              <a:grpSpLocks/>
            </p:cNvGrpSpPr>
            <p:nvPr/>
          </p:nvGrpSpPr>
          <p:grpSpPr bwMode="auto">
            <a:xfrm>
              <a:off x="816" y="1536"/>
              <a:ext cx="288" cy="192"/>
              <a:chOff x="816" y="1536"/>
              <a:chExt cx="288" cy="192"/>
            </a:xfrm>
          </p:grpSpPr>
          <p:sp>
            <p:nvSpPr>
              <p:cNvPr id="31781" name="Line 39"/>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2" name="Line 40"/>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3" name="Line 41"/>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4" name="Line 42"/>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85" name="Group 43"/>
              <p:cNvGrpSpPr>
                <a:grpSpLocks/>
              </p:cNvGrpSpPr>
              <p:nvPr/>
            </p:nvGrpSpPr>
            <p:grpSpPr bwMode="auto">
              <a:xfrm flipH="1">
                <a:off x="816" y="1536"/>
                <a:ext cx="96" cy="192"/>
                <a:chOff x="864" y="1536"/>
                <a:chExt cx="96" cy="192"/>
              </a:xfrm>
            </p:grpSpPr>
            <p:sp>
              <p:nvSpPr>
                <p:cNvPr id="31786" name="Line 44"/>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7" name="Line 45"/>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1773" name="Group 46"/>
            <p:cNvGrpSpPr>
              <a:grpSpLocks/>
            </p:cNvGrpSpPr>
            <p:nvPr/>
          </p:nvGrpSpPr>
          <p:grpSpPr bwMode="auto">
            <a:xfrm flipV="1">
              <a:off x="816" y="1776"/>
              <a:ext cx="288" cy="192"/>
              <a:chOff x="816" y="1536"/>
              <a:chExt cx="288" cy="192"/>
            </a:xfrm>
          </p:grpSpPr>
          <p:sp>
            <p:nvSpPr>
              <p:cNvPr id="31774" name="Line 47"/>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5" name="Line 48"/>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6" name="Line 49"/>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7" name="Line 50"/>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1778" name="Group 51"/>
              <p:cNvGrpSpPr>
                <a:grpSpLocks/>
              </p:cNvGrpSpPr>
              <p:nvPr/>
            </p:nvGrpSpPr>
            <p:grpSpPr bwMode="auto">
              <a:xfrm flipH="1">
                <a:off x="816" y="1536"/>
                <a:ext cx="96" cy="192"/>
                <a:chOff x="864" y="1536"/>
                <a:chExt cx="96" cy="192"/>
              </a:xfrm>
            </p:grpSpPr>
            <p:sp>
              <p:nvSpPr>
                <p:cNvPr id="31779" name="Line 52"/>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0" name="Line 53"/>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1764" name="Text Box 54"/>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1765" name="Text Box 55"/>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1766" name="Line 56"/>
          <p:cNvSpPr>
            <a:spLocks noChangeShapeType="1"/>
          </p:cNvSpPr>
          <p:nvPr/>
        </p:nvSpPr>
        <p:spPr bwMode="auto">
          <a:xfrm>
            <a:off x="5867400" y="2514600"/>
            <a:ext cx="259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7" name="Line 57"/>
          <p:cNvSpPr>
            <a:spLocks noChangeShapeType="1"/>
          </p:cNvSpPr>
          <p:nvPr/>
        </p:nvSpPr>
        <p:spPr bwMode="auto">
          <a:xfrm>
            <a:off x="6096000" y="4953000"/>
            <a:ext cx="2590800" cy="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8" name="Line 58"/>
          <p:cNvSpPr>
            <a:spLocks noChangeShapeType="1"/>
          </p:cNvSpPr>
          <p:nvPr/>
        </p:nvSpPr>
        <p:spPr bwMode="auto">
          <a:xfrm flipH="1">
            <a:off x="5943600" y="2743200"/>
            <a:ext cx="2209800" cy="18288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Line 59"/>
          <p:cNvSpPr>
            <a:spLocks noChangeShapeType="1"/>
          </p:cNvSpPr>
          <p:nvPr/>
        </p:nvSpPr>
        <p:spPr bwMode="auto">
          <a:xfrm>
            <a:off x="6096000" y="2667000"/>
            <a:ext cx="2438400" cy="2133600"/>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0" name="Text Box 60"/>
          <p:cNvSpPr txBox="1">
            <a:spLocks noChangeArrowheads="1"/>
          </p:cNvSpPr>
          <p:nvPr/>
        </p:nvSpPr>
        <p:spPr bwMode="auto">
          <a:xfrm>
            <a:off x="1676400" y="2632075"/>
            <a:ext cx="383149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Next, pheromone everywhere</a:t>
            </a:r>
          </a:p>
          <a:p>
            <a:pPr eaLnBrk="1" hangingPunct="1">
              <a:spcBef>
                <a:spcPct val="0"/>
              </a:spcBef>
              <a:buFontTx/>
              <a:buNone/>
            </a:pPr>
            <a:r>
              <a:rPr lang="en-GB" altLang="en-US" sz="2400"/>
              <a:t>is decreased a little, to model</a:t>
            </a:r>
          </a:p>
          <a:p>
            <a:pPr eaLnBrk="1" hangingPunct="1">
              <a:spcBef>
                <a:spcPct val="0"/>
              </a:spcBef>
              <a:buFontTx/>
              <a:buNone/>
            </a:pPr>
            <a:r>
              <a:rPr lang="en-GB" altLang="en-US" sz="2400"/>
              <a:t>decay of trail strength over</a:t>
            </a:r>
          </a:p>
          <a:p>
            <a:pPr eaLnBrk="1" hangingPunct="1">
              <a:spcBef>
                <a:spcPct val="0"/>
              </a:spcBef>
              <a:buFontTx/>
              <a:buNone/>
            </a:pPr>
            <a:r>
              <a:rPr lang="en-GB" altLang="en-US" sz="2400"/>
              <a:t>time</a:t>
            </a:r>
          </a:p>
        </p:txBody>
      </p:sp>
      <p:pic>
        <p:nvPicPr>
          <p:cNvPr id="61" name="Picture 60"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0145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209800" y="228600"/>
            <a:ext cx="7772400" cy="609600"/>
          </a:xfrm>
        </p:spPr>
        <p:txBody>
          <a:bodyPr>
            <a:normAutofit fontScale="90000"/>
          </a:bodyPr>
          <a:lstStyle/>
          <a:p>
            <a:pPr eaLnBrk="1" hangingPunct="1"/>
            <a:r>
              <a:rPr lang="en-GB" altLang="en-US" smtClean="0"/>
              <a:t>E.g. A 4-city TSP</a:t>
            </a:r>
          </a:p>
        </p:txBody>
      </p:sp>
      <p:sp>
        <p:nvSpPr>
          <p:cNvPr id="32771" name="Text Box 3"/>
          <p:cNvSpPr txBox="1">
            <a:spLocks noChangeArrowheads="1"/>
          </p:cNvSpPr>
          <p:nvPr/>
        </p:nvSpPr>
        <p:spPr bwMode="auto">
          <a:xfrm>
            <a:off x="8594725" y="19462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B</a:t>
            </a:r>
          </a:p>
        </p:txBody>
      </p:sp>
      <p:sp>
        <p:nvSpPr>
          <p:cNvPr id="32772" name="Text Box 4"/>
          <p:cNvSpPr txBox="1">
            <a:spLocks noChangeArrowheads="1"/>
          </p:cNvSpPr>
          <p:nvPr/>
        </p:nvSpPr>
        <p:spPr bwMode="auto">
          <a:xfrm>
            <a:off x="5165725" y="51466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C</a:t>
            </a:r>
          </a:p>
        </p:txBody>
      </p:sp>
      <p:sp>
        <p:nvSpPr>
          <p:cNvPr id="32773" name="Text Box 5"/>
          <p:cNvSpPr txBox="1">
            <a:spLocks noChangeArrowheads="1"/>
          </p:cNvSpPr>
          <p:nvPr/>
        </p:nvSpPr>
        <p:spPr bwMode="auto">
          <a:xfrm>
            <a:off x="8747126" y="4994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D</a:t>
            </a:r>
          </a:p>
        </p:txBody>
      </p:sp>
      <p:sp>
        <p:nvSpPr>
          <p:cNvPr id="32774" name="Rectangle 6"/>
          <p:cNvSpPr>
            <a:spLocks noChangeArrowheads="1"/>
          </p:cNvSpPr>
          <p:nvPr/>
        </p:nvSpPr>
        <p:spPr bwMode="auto">
          <a:xfrm>
            <a:off x="5562600" y="2362200"/>
            <a:ext cx="3200400" cy="2743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75" name="Line 7"/>
          <p:cNvSpPr>
            <a:spLocks noChangeShapeType="1"/>
          </p:cNvSpPr>
          <p:nvPr/>
        </p:nvSpPr>
        <p:spPr bwMode="auto">
          <a:xfrm>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6" name="Line 8"/>
          <p:cNvSpPr>
            <a:spLocks noChangeShapeType="1"/>
          </p:cNvSpPr>
          <p:nvPr/>
        </p:nvSpPr>
        <p:spPr bwMode="auto">
          <a:xfrm flipV="1">
            <a:off x="5562600" y="2362200"/>
            <a:ext cx="320040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777" name="Group 9"/>
          <p:cNvGrpSpPr>
            <a:grpSpLocks/>
          </p:cNvGrpSpPr>
          <p:nvPr/>
        </p:nvGrpSpPr>
        <p:grpSpPr bwMode="auto">
          <a:xfrm>
            <a:off x="8904288" y="4581525"/>
            <a:ext cx="457200" cy="685800"/>
            <a:chOff x="816" y="1536"/>
            <a:chExt cx="288" cy="432"/>
          </a:xfrm>
        </p:grpSpPr>
        <p:sp>
          <p:nvSpPr>
            <p:cNvPr id="32811" name="Oval 10"/>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2812" name="Group 11"/>
            <p:cNvGrpSpPr>
              <a:grpSpLocks/>
            </p:cNvGrpSpPr>
            <p:nvPr/>
          </p:nvGrpSpPr>
          <p:grpSpPr bwMode="auto">
            <a:xfrm>
              <a:off x="816" y="1536"/>
              <a:ext cx="288" cy="192"/>
              <a:chOff x="816" y="1536"/>
              <a:chExt cx="288" cy="192"/>
            </a:xfrm>
          </p:grpSpPr>
          <p:sp>
            <p:nvSpPr>
              <p:cNvPr id="32821" name="Line 12"/>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2" name="Line 13"/>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3" name="Line 14"/>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4" name="Line 15"/>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25" name="Group 16"/>
              <p:cNvGrpSpPr>
                <a:grpSpLocks/>
              </p:cNvGrpSpPr>
              <p:nvPr/>
            </p:nvGrpSpPr>
            <p:grpSpPr bwMode="auto">
              <a:xfrm flipH="1">
                <a:off x="816" y="1536"/>
                <a:ext cx="96" cy="192"/>
                <a:chOff x="864" y="1536"/>
                <a:chExt cx="96" cy="192"/>
              </a:xfrm>
            </p:grpSpPr>
            <p:sp>
              <p:nvSpPr>
                <p:cNvPr id="32826" name="Line 17"/>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7" name="Line 18"/>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2813" name="Group 19"/>
            <p:cNvGrpSpPr>
              <a:grpSpLocks/>
            </p:cNvGrpSpPr>
            <p:nvPr/>
          </p:nvGrpSpPr>
          <p:grpSpPr bwMode="auto">
            <a:xfrm flipV="1">
              <a:off x="816" y="1776"/>
              <a:ext cx="288" cy="192"/>
              <a:chOff x="816" y="1536"/>
              <a:chExt cx="288" cy="192"/>
            </a:xfrm>
          </p:grpSpPr>
          <p:sp>
            <p:nvSpPr>
              <p:cNvPr id="32814" name="Line 20"/>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5" name="Line 21"/>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6" name="Line 22"/>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7" name="Line 23"/>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18" name="Group 24"/>
              <p:cNvGrpSpPr>
                <a:grpSpLocks/>
              </p:cNvGrpSpPr>
              <p:nvPr/>
            </p:nvGrpSpPr>
            <p:grpSpPr bwMode="auto">
              <a:xfrm flipH="1">
                <a:off x="816" y="1536"/>
                <a:ext cx="96" cy="192"/>
                <a:chOff x="864" y="1536"/>
                <a:chExt cx="96" cy="192"/>
              </a:xfrm>
            </p:grpSpPr>
            <p:sp>
              <p:nvSpPr>
                <p:cNvPr id="32819" name="Line 25"/>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0" name="Line 26"/>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2778" name="Oval 27"/>
          <p:cNvSpPr>
            <a:spLocks noChangeArrowheads="1"/>
          </p:cNvSpPr>
          <p:nvPr/>
        </p:nvSpPr>
        <p:spPr bwMode="auto">
          <a:xfrm>
            <a:off x="6096000" y="4953000"/>
            <a:ext cx="1143000" cy="3048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79" name="Oval 28"/>
          <p:cNvSpPr>
            <a:spLocks noChangeArrowheads="1"/>
          </p:cNvSpPr>
          <p:nvPr/>
        </p:nvSpPr>
        <p:spPr bwMode="auto">
          <a:xfrm>
            <a:off x="6400800" y="2209800"/>
            <a:ext cx="914400" cy="2286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0" name="Oval 29"/>
          <p:cNvSpPr>
            <a:spLocks noChangeArrowheads="1"/>
          </p:cNvSpPr>
          <p:nvPr/>
        </p:nvSpPr>
        <p:spPr bwMode="auto">
          <a:xfrm rot="-2235806">
            <a:off x="5851525" y="4252913"/>
            <a:ext cx="1066800" cy="233362"/>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1" name="Oval 30"/>
          <p:cNvSpPr>
            <a:spLocks noChangeArrowheads="1"/>
          </p:cNvSpPr>
          <p:nvPr/>
        </p:nvSpPr>
        <p:spPr bwMode="auto">
          <a:xfrm rot="2269170">
            <a:off x="6070600" y="3041650"/>
            <a:ext cx="685800" cy="3810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2" name="Oval 31"/>
          <p:cNvSpPr>
            <a:spLocks noChangeArrowheads="1"/>
          </p:cNvSpPr>
          <p:nvPr/>
        </p:nvSpPr>
        <p:spPr bwMode="auto">
          <a:xfrm rot="5400000">
            <a:off x="8458200" y="4343400"/>
            <a:ext cx="685800" cy="762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3" name="Oval 32"/>
          <p:cNvSpPr>
            <a:spLocks noChangeArrowheads="1"/>
          </p:cNvSpPr>
          <p:nvPr/>
        </p:nvSpPr>
        <p:spPr bwMode="auto">
          <a:xfrm rot="5400000">
            <a:off x="5181600" y="4343400"/>
            <a:ext cx="7620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4" name="Oval 33"/>
          <p:cNvSpPr>
            <a:spLocks noChangeArrowheads="1"/>
          </p:cNvSpPr>
          <p:nvPr/>
        </p:nvSpPr>
        <p:spPr bwMode="auto">
          <a:xfrm rot="5400000">
            <a:off x="1562100" y="5524500"/>
            <a:ext cx="838200" cy="152400"/>
          </a:xfrm>
          <a:prstGeom prst="ellipse">
            <a:avLst/>
          </a:prstGeom>
          <a:solidFill>
            <a:srgbClr val="FF0000"/>
          </a:solidFill>
          <a:ln w="9525">
            <a:solidFill>
              <a:srgbClr val="FF0000"/>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sp>
        <p:nvSpPr>
          <p:cNvPr id="32785" name="Text Box 34"/>
          <p:cNvSpPr txBox="1">
            <a:spLocks noChangeArrowheads="1"/>
          </p:cNvSpPr>
          <p:nvPr/>
        </p:nvSpPr>
        <p:spPr bwMode="auto">
          <a:xfrm>
            <a:off x="2193926" y="5222875"/>
            <a:ext cx="157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Pheromone</a:t>
            </a:r>
          </a:p>
        </p:txBody>
      </p:sp>
      <p:grpSp>
        <p:nvGrpSpPr>
          <p:cNvPr id="32786" name="Group 35"/>
          <p:cNvGrpSpPr>
            <a:grpSpLocks/>
          </p:cNvGrpSpPr>
          <p:nvPr/>
        </p:nvGrpSpPr>
        <p:grpSpPr bwMode="auto">
          <a:xfrm>
            <a:off x="1752600" y="6019800"/>
            <a:ext cx="457200" cy="685800"/>
            <a:chOff x="816" y="1536"/>
            <a:chExt cx="288" cy="432"/>
          </a:xfrm>
        </p:grpSpPr>
        <p:sp>
          <p:nvSpPr>
            <p:cNvPr id="32794" name="Oval 36"/>
            <p:cNvSpPr>
              <a:spLocks noChangeArrowheads="1"/>
            </p:cNvSpPr>
            <p:nvPr/>
          </p:nvSpPr>
          <p:spPr bwMode="auto">
            <a:xfrm>
              <a:off x="864" y="1632"/>
              <a:ext cx="240" cy="19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grpSp>
          <p:nvGrpSpPr>
            <p:cNvPr id="32795" name="Group 37"/>
            <p:cNvGrpSpPr>
              <a:grpSpLocks/>
            </p:cNvGrpSpPr>
            <p:nvPr/>
          </p:nvGrpSpPr>
          <p:grpSpPr bwMode="auto">
            <a:xfrm>
              <a:off x="816" y="1536"/>
              <a:ext cx="288" cy="192"/>
              <a:chOff x="816" y="1536"/>
              <a:chExt cx="288" cy="192"/>
            </a:xfrm>
          </p:grpSpPr>
          <p:sp>
            <p:nvSpPr>
              <p:cNvPr id="32804" name="Line 38"/>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5" name="Line 39"/>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6" name="Line 40"/>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7" name="Line 41"/>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08" name="Group 42"/>
              <p:cNvGrpSpPr>
                <a:grpSpLocks/>
              </p:cNvGrpSpPr>
              <p:nvPr/>
            </p:nvGrpSpPr>
            <p:grpSpPr bwMode="auto">
              <a:xfrm flipH="1">
                <a:off x="816" y="1536"/>
                <a:ext cx="96" cy="192"/>
                <a:chOff x="864" y="1536"/>
                <a:chExt cx="96" cy="192"/>
              </a:xfrm>
            </p:grpSpPr>
            <p:sp>
              <p:nvSpPr>
                <p:cNvPr id="32809" name="Line 43"/>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0" name="Line 44"/>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32796" name="Group 45"/>
            <p:cNvGrpSpPr>
              <a:grpSpLocks/>
            </p:cNvGrpSpPr>
            <p:nvPr/>
          </p:nvGrpSpPr>
          <p:grpSpPr bwMode="auto">
            <a:xfrm flipV="1">
              <a:off x="816" y="1776"/>
              <a:ext cx="288" cy="192"/>
              <a:chOff x="816" y="1536"/>
              <a:chExt cx="288" cy="192"/>
            </a:xfrm>
          </p:grpSpPr>
          <p:sp>
            <p:nvSpPr>
              <p:cNvPr id="32797" name="Line 46"/>
              <p:cNvSpPr>
                <a:spLocks noChangeShapeType="1"/>
              </p:cNvSpPr>
              <p:nvPr/>
            </p:nvSpPr>
            <p:spPr bwMode="auto">
              <a:xfrm flipV="1">
                <a:off x="1008"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8" name="Line 47"/>
              <p:cNvSpPr>
                <a:spLocks noChangeShapeType="1"/>
              </p:cNvSpPr>
              <p:nvPr/>
            </p:nvSpPr>
            <p:spPr bwMode="auto">
              <a:xfrm flipV="1">
                <a:off x="1104"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9" name="Line 48"/>
              <p:cNvSpPr>
                <a:spLocks noChangeShapeType="1"/>
              </p:cNvSpPr>
              <p:nvPr/>
            </p:nvSpPr>
            <p:spPr bwMode="auto">
              <a:xfrm flipV="1">
                <a:off x="912"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0" name="Line 49"/>
              <p:cNvSpPr>
                <a:spLocks noChangeShapeType="1"/>
              </p:cNvSpPr>
              <p:nvPr/>
            </p:nvSpPr>
            <p:spPr bwMode="auto">
              <a:xfrm flipV="1">
                <a:off x="1008"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01" name="Group 50"/>
              <p:cNvGrpSpPr>
                <a:grpSpLocks/>
              </p:cNvGrpSpPr>
              <p:nvPr/>
            </p:nvGrpSpPr>
            <p:grpSpPr bwMode="auto">
              <a:xfrm flipH="1">
                <a:off x="816" y="1536"/>
                <a:ext cx="96" cy="192"/>
                <a:chOff x="864" y="1536"/>
                <a:chExt cx="96" cy="192"/>
              </a:xfrm>
            </p:grpSpPr>
            <p:sp>
              <p:nvSpPr>
                <p:cNvPr id="32802" name="Line 51"/>
                <p:cNvSpPr>
                  <a:spLocks noChangeShapeType="1"/>
                </p:cNvSpPr>
                <p:nvPr/>
              </p:nvSpPr>
              <p:spPr bwMode="auto">
                <a:xfrm rot="10800000" flipV="1">
                  <a:off x="864" y="163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3" name="Line 52"/>
                <p:cNvSpPr>
                  <a:spLocks noChangeShapeType="1"/>
                </p:cNvSpPr>
                <p:nvPr/>
              </p:nvSpPr>
              <p:spPr bwMode="auto">
                <a:xfrm rot="10800000" flipV="1">
                  <a:off x="960" y="15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32787" name="Text Box 53"/>
          <p:cNvSpPr txBox="1">
            <a:spLocks noChangeArrowheads="1"/>
          </p:cNvSpPr>
          <p:nvPr/>
        </p:nvSpPr>
        <p:spPr bwMode="auto">
          <a:xfrm>
            <a:off x="2346325" y="6172200"/>
            <a:ext cx="71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Ant</a:t>
            </a:r>
          </a:p>
        </p:txBody>
      </p:sp>
      <p:sp>
        <p:nvSpPr>
          <p:cNvPr id="32788" name="Text Box 54"/>
          <p:cNvSpPr txBox="1">
            <a:spLocks noChangeArrowheads="1"/>
          </p:cNvSpPr>
          <p:nvPr/>
        </p:nvSpPr>
        <p:spPr bwMode="auto">
          <a:xfrm>
            <a:off x="4327525" y="5984875"/>
            <a:ext cx="590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AB: 10,   AC: 10,   AD, 30,    BC, 40,    CD 20</a:t>
            </a:r>
          </a:p>
        </p:txBody>
      </p:sp>
      <p:sp>
        <p:nvSpPr>
          <p:cNvPr id="32789" name="Text Box 55"/>
          <p:cNvSpPr txBox="1">
            <a:spLocks noChangeArrowheads="1"/>
          </p:cNvSpPr>
          <p:nvPr/>
        </p:nvSpPr>
        <p:spPr bwMode="auto">
          <a:xfrm>
            <a:off x="1676400" y="2632075"/>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t>
            </a:r>
          </a:p>
        </p:txBody>
      </p:sp>
      <p:sp>
        <p:nvSpPr>
          <p:cNvPr id="32790" name="Text Box 56"/>
          <p:cNvSpPr txBox="1">
            <a:spLocks noChangeArrowheads="1"/>
          </p:cNvSpPr>
          <p:nvPr/>
        </p:nvSpPr>
        <p:spPr bwMode="auto">
          <a:xfrm>
            <a:off x="1812926" y="1260475"/>
            <a:ext cx="673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We start again, with another ant in a random position.</a:t>
            </a:r>
          </a:p>
        </p:txBody>
      </p:sp>
      <p:sp>
        <p:nvSpPr>
          <p:cNvPr id="32791" name="Text Box 57"/>
          <p:cNvSpPr txBox="1">
            <a:spLocks noChangeArrowheads="1"/>
          </p:cNvSpPr>
          <p:nvPr/>
        </p:nvSpPr>
        <p:spPr bwMode="auto">
          <a:xfrm>
            <a:off x="1736725" y="2479676"/>
            <a:ext cx="24465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Where will he go?</a:t>
            </a:r>
          </a:p>
          <a:p>
            <a:pPr eaLnBrk="1" hangingPunct="1">
              <a:spcBef>
                <a:spcPct val="0"/>
              </a:spcBef>
              <a:buFontTx/>
              <a:buNone/>
            </a:pPr>
            <a:endParaRPr lang="en-GB" altLang="en-US" sz="2400"/>
          </a:p>
        </p:txBody>
      </p:sp>
      <p:sp>
        <p:nvSpPr>
          <p:cNvPr id="32792" name="Text Box 58"/>
          <p:cNvSpPr txBox="1">
            <a:spLocks noChangeArrowheads="1"/>
          </p:cNvSpPr>
          <p:nvPr/>
        </p:nvSpPr>
        <p:spPr bwMode="auto">
          <a:xfrm>
            <a:off x="1524001" y="3317876"/>
            <a:ext cx="3622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Next  , the actual algorithm</a:t>
            </a:r>
          </a:p>
          <a:p>
            <a:pPr eaLnBrk="1" hangingPunct="1">
              <a:spcBef>
                <a:spcPct val="0"/>
              </a:spcBef>
              <a:buFontTx/>
              <a:buNone/>
            </a:pPr>
            <a:r>
              <a:rPr lang="en-GB" altLang="en-US" sz="2400"/>
              <a:t>and variants.</a:t>
            </a:r>
          </a:p>
        </p:txBody>
      </p:sp>
      <p:sp>
        <p:nvSpPr>
          <p:cNvPr id="32793" name="Text Box 59"/>
          <p:cNvSpPr txBox="1">
            <a:spLocks noChangeArrowheads="1"/>
          </p:cNvSpPr>
          <p:nvPr/>
        </p:nvSpPr>
        <p:spPr bwMode="auto">
          <a:xfrm>
            <a:off x="5259388" y="18923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A</a:t>
            </a:r>
          </a:p>
        </p:txBody>
      </p:sp>
      <p:pic>
        <p:nvPicPr>
          <p:cNvPr id="60" name="Picture 59"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9413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209800" y="609600"/>
            <a:ext cx="7772400" cy="685800"/>
          </a:xfrm>
        </p:spPr>
        <p:txBody>
          <a:bodyPr>
            <a:normAutofit fontScale="90000"/>
          </a:bodyPr>
          <a:lstStyle/>
          <a:p>
            <a:pPr eaLnBrk="1" hangingPunct="1"/>
            <a:r>
              <a:rPr lang="en-GB" altLang="en-US" dirty="0" smtClean="0"/>
              <a:t>The </a:t>
            </a:r>
            <a:r>
              <a:rPr lang="en-GB" altLang="en-US" dirty="0" smtClean="0">
                <a:solidFill>
                  <a:srgbClr val="800080"/>
                </a:solidFill>
              </a:rPr>
              <a:t>ACO</a:t>
            </a:r>
            <a:r>
              <a:rPr lang="en-GB" altLang="en-US" dirty="0" smtClean="0"/>
              <a:t> algorithm for the TSP</a:t>
            </a:r>
            <a:br>
              <a:rPr lang="en-GB" altLang="en-US" dirty="0" smtClean="0"/>
            </a:br>
            <a:endParaRPr lang="en-GB" altLang="en-US" sz="3200" dirty="0"/>
          </a:p>
        </p:txBody>
      </p:sp>
      <p:sp>
        <p:nvSpPr>
          <p:cNvPr id="35843" name="Rectangle 3"/>
          <p:cNvSpPr>
            <a:spLocks noGrp="1" noChangeArrowheads="1"/>
          </p:cNvSpPr>
          <p:nvPr>
            <p:ph type="body" sz="half" idx="1"/>
          </p:nvPr>
        </p:nvSpPr>
        <p:spPr>
          <a:xfrm>
            <a:off x="878114" y="1295400"/>
            <a:ext cx="10435771" cy="5486400"/>
          </a:xfrm>
        </p:spPr>
        <p:txBody>
          <a:bodyPr>
            <a:normAutofit/>
          </a:bodyPr>
          <a:lstStyle/>
          <a:p>
            <a:pPr eaLnBrk="1" hangingPunct="1">
              <a:lnSpc>
                <a:spcPct val="90000"/>
              </a:lnSpc>
              <a:buFontTx/>
              <a:buNone/>
            </a:pPr>
            <a:r>
              <a:rPr lang="en-GB" altLang="en-US" dirty="0" smtClean="0"/>
              <a:t>   </a:t>
            </a:r>
            <a:r>
              <a:rPr lang="en-GB" altLang="en-US" dirty="0" smtClean="0">
                <a:solidFill>
                  <a:srgbClr val="800080"/>
                </a:solidFill>
              </a:rPr>
              <a:t>We have a TSP, with </a:t>
            </a:r>
            <a:r>
              <a:rPr lang="en-GB" altLang="en-US" i="1" dirty="0" smtClean="0">
                <a:solidFill>
                  <a:srgbClr val="800080"/>
                </a:solidFill>
              </a:rPr>
              <a:t>n</a:t>
            </a:r>
            <a:r>
              <a:rPr lang="en-GB" altLang="en-US" dirty="0" smtClean="0">
                <a:solidFill>
                  <a:srgbClr val="800080"/>
                </a:solidFill>
              </a:rPr>
              <a:t> cities. </a:t>
            </a:r>
          </a:p>
          <a:p>
            <a:pPr eaLnBrk="1" hangingPunct="1">
              <a:lnSpc>
                <a:spcPct val="90000"/>
              </a:lnSpc>
              <a:buFontTx/>
              <a:buNone/>
            </a:pPr>
            <a:r>
              <a:rPr lang="en-GB" altLang="en-US" dirty="0" smtClean="0">
                <a:solidFill>
                  <a:srgbClr val="800080"/>
                </a:solidFill>
              </a:rPr>
              <a:t>   1. We place some ants at each city. Each ant then does this:</a:t>
            </a:r>
          </a:p>
          <a:p>
            <a:pPr lvl="2" eaLnBrk="1" hangingPunct="1">
              <a:lnSpc>
                <a:spcPct val="90000"/>
              </a:lnSpc>
            </a:pPr>
            <a:r>
              <a:rPr lang="en-GB" altLang="en-US" dirty="0" smtClean="0">
                <a:solidFill>
                  <a:srgbClr val="800080"/>
                </a:solidFill>
              </a:rPr>
              <a:t> It makes a complete tour of the cities, coming back to its starting city, using a </a:t>
            </a:r>
            <a:r>
              <a:rPr lang="en-GB" altLang="en-US" i="1" dirty="0" smtClean="0">
                <a:solidFill>
                  <a:srgbClr val="800080"/>
                </a:solidFill>
              </a:rPr>
              <a:t>transition rule</a:t>
            </a:r>
            <a:r>
              <a:rPr lang="en-GB" altLang="en-US" dirty="0" smtClean="0">
                <a:solidFill>
                  <a:srgbClr val="800080"/>
                </a:solidFill>
              </a:rPr>
              <a:t> to decide which links to follow. By this rule, it chooses each next-city at random, but biased partly by the pheromone levels existing at each path, and biased partly by </a:t>
            </a:r>
            <a:r>
              <a:rPr lang="en-GB" altLang="en-US" i="1" dirty="0" smtClean="0">
                <a:solidFill>
                  <a:srgbClr val="800080"/>
                </a:solidFill>
              </a:rPr>
              <a:t>heuristic information</a:t>
            </a:r>
            <a:r>
              <a:rPr lang="en-GB" altLang="en-US" dirty="0" smtClean="0">
                <a:solidFill>
                  <a:srgbClr val="800080"/>
                </a:solidFill>
              </a:rPr>
              <a:t>.</a:t>
            </a:r>
          </a:p>
          <a:p>
            <a:pPr eaLnBrk="1" hangingPunct="1">
              <a:lnSpc>
                <a:spcPct val="90000"/>
              </a:lnSpc>
              <a:buFontTx/>
              <a:buNone/>
            </a:pPr>
            <a:r>
              <a:rPr lang="en-GB" altLang="en-US" dirty="0" smtClean="0">
                <a:solidFill>
                  <a:srgbClr val="800080"/>
                </a:solidFill>
              </a:rPr>
              <a:t>    2. When all ants have completed their tours. </a:t>
            </a:r>
          </a:p>
          <a:p>
            <a:pPr eaLnBrk="1" hangingPunct="1">
              <a:lnSpc>
                <a:spcPct val="90000"/>
              </a:lnSpc>
              <a:buFontTx/>
              <a:buNone/>
            </a:pPr>
            <a:r>
              <a:rPr lang="en-GB" altLang="en-US" dirty="0" smtClean="0">
                <a:solidFill>
                  <a:srgbClr val="800080"/>
                </a:solidFill>
              </a:rPr>
              <a:t>         </a:t>
            </a:r>
            <a:r>
              <a:rPr lang="en-GB" altLang="en-US" i="1" dirty="0" smtClean="0">
                <a:solidFill>
                  <a:srgbClr val="800080"/>
                </a:solidFill>
              </a:rPr>
              <a:t>Global  Pheromone Updating</a:t>
            </a:r>
            <a:r>
              <a:rPr lang="en-GB" altLang="en-US" dirty="0" smtClean="0">
                <a:solidFill>
                  <a:srgbClr val="800080"/>
                </a:solidFill>
              </a:rPr>
              <a:t> occurs.</a:t>
            </a:r>
          </a:p>
          <a:p>
            <a:pPr lvl="2" eaLnBrk="1" hangingPunct="1">
              <a:lnSpc>
                <a:spcPct val="90000"/>
              </a:lnSpc>
            </a:pPr>
            <a:r>
              <a:rPr lang="en-GB" altLang="en-US" dirty="0" smtClean="0">
                <a:solidFill>
                  <a:srgbClr val="800080"/>
                </a:solidFill>
              </a:rPr>
              <a:t>The current pheromone levels on all links are reduced (I.e. pheromone levels decay over time).</a:t>
            </a:r>
          </a:p>
          <a:p>
            <a:pPr lvl="2" eaLnBrk="1" hangingPunct="1">
              <a:lnSpc>
                <a:spcPct val="90000"/>
              </a:lnSpc>
            </a:pPr>
            <a:r>
              <a:rPr lang="en-GB" altLang="en-US" dirty="0" smtClean="0">
                <a:solidFill>
                  <a:srgbClr val="800080"/>
                </a:solidFill>
              </a:rPr>
              <a:t>Pheromone is lain (belatedly) by each ant as follows: it places pheromone on all links of its tour, with strength depending on how good the tour was.</a:t>
            </a:r>
          </a:p>
          <a:p>
            <a:pPr eaLnBrk="1" hangingPunct="1">
              <a:lnSpc>
                <a:spcPct val="90000"/>
              </a:lnSpc>
              <a:buFontTx/>
              <a:buNone/>
            </a:pPr>
            <a:r>
              <a:rPr lang="en-GB" altLang="en-US" dirty="0" smtClean="0">
                <a:solidFill>
                  <a:srgbClr val="800080"/>
                </a:solidFill>
              </a:rPr>
              <a:t>   Then we go back to 1 and repeat the whole process many times, until we reach a termination criterion.</a:t>
            </a:r>
          </a:p>
          <a:p>
            <a:pPr lvl="2" eaLnBrk="1" hangingPunct="1">
              <a:lnSpc>
                <a:spcPct val="90000"/>
              </a:lnSpc>
            </a:pPr>
            <a:endParaRPr lang="en-GB" altLang="en-US" dirty="0" smtClean="0">
              <a:solidFill>
                <a:srgbClr val="800080"/>
              </a:solidFill>
            </a:endParaRPr>
          </a:p>
          <a:p>
            <a:pPr lvl="3" eaLnBrk="1" hangingPunct="1">
              <a:lnSpc>
                <a:spcPct val="90000"/>
              </a:lnSpc>
              <a:buFontTx/>
              <a:buNone/>
            </a:pPr>
            <a:endParaRPr lang="en-GB" altLang="en-US" dirty="0" smtClean="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1801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209800" y="152400"/>
            <a:ext cx="7772400" cy="1143000"/>
          </a:xfrm>
        </p:spPr>
        <p:txBody>
          <a:bodyPr/>
          <a:lstStyle/>
          <a:p>
            <a:pPr algn="ctr" eaLnBrk="1" hangingPunct="1"/>
            <a:r>
              <a:rPr lang="en-GB" altLang="en-US" dirty="0" smtClean="0"/>
              <a:t>The transition rule</a:t>
            </a:r>
          </a:p>
        </p:txBody>
      </p:sp>
      <p:sp>
        <p:nvSpPr>
          <p:cNvPr id="37891" name="Text Box 5"/>
          <p:cNvSpPr txBox="1">
            <a:spLocks noChangeArrowheads="1"/>
          </p:cNvSpPr>
          <p:nvPr/>
        </p:nvSpPr>
        <p:spPr bwMode="auto">
          <a:xfrm>
            <a:off x="2041526" y="1143000"/>
            <a:ext cx="8525091"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i="1">
                <a:solidFill>
                  <a:schemeClr val="accent2"/>
                </a:solidFill>
              </a:rPr>
              <a:t>T</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s) is the amount of pheromone currently on the path that goes</a:t>
            </a:r>
          </a:p>
          <a:p>
            <a:pPr eaLnBrk="1" hangingPunct="1">
              <a:spcBef>
                <a:spcPct val="0"/>
              </a:spcBef>
              <a:buFontTx/>
              <a:buNone/>
            </a:pPr>
            <a:r>
              <a:rPr lang="en-GB" altLang="en-US" sz="2400">
                <a:solidFill>
                  <a:schemeClr val="accent2"/>
                </a:solidFill>
              </a:rPr>
              <a:t>   directly from city </a:t>
            </a:r>
            <a:r>
              <a:rPr lang="en-GB" altLang="en-US" sz="2400" i="1">
                <a:solidFill>
                  <a:schemeClr val="accent2"/>
                </a:solidFill>
              </a:rPr>
              <a:t>r </a:t>
            </a:r>
            <a:r>
              <a:rPr lang="en-GB" altLang="en-US" sz="2400">
                <a:solidFill>
                  <a:schemeClr val="accent2"/>
                </a:solidFill>
              </a:rPr>
              <a:t>to city </a:t>
            </a:r>
            <a:r>
              <a:rPr lang="en-GB" altLang="en-US" sz="2400" i="1">
                <a:solidFill>
                  <a:schemeClr val="accent2"/>
                </a:solidFill>
              </a:rPr>
              <a:t>s.</a:t>
            </a:r>
          </a:p>
          <a:p>
            <a:pPr eaLnBrk="1" hangingPunct="1">
              <a:spcBef>
                <a:spcPct val="0"/>
              </a:spcBef>
              <a:buFontTx/>
              <a:buNone/>
            </a:pPr>
            <a:r>
              <a:rPr lang="en-GB" altLang="en-US" sz="2400" i="1"/>
              <a:t>H</a:t>
            </a:r>
            <a:r>
              <a:rPr lang="en-GB" altLang="en-US" sz="2400"/>
              <a:t>(</a:t>
            </a:r>
            <a:r>
              <a:rPr lang="en-GB" altLang="en-US" sz="2400" i="1"/>
              <a:t>r</a:t>
            </a:r>
            <a:r>
              <a:rPr lang="en-GB" altLang="en-US" sz="2400"/>
              <a:t>,</a:t>
            </a:r>
            <a:r>
              <a:rPr lang="en-GB" altLang="en-US" sz="2400" i="1"/>
              <a:t>s</a:t>
            </a:r>
            <a:r>
              <a:rPr lang="en-GB" altLang="en-US" sz="2400"/>
              <a:t>) is the heuristic value of this link – in the classic TSP</a:t>
            </a:r>
          </a:p>
          <a:p>
            <a:pPr eaLnBrk="1" hangingPunct="1">
              <a:spcBef>
                <a:spcPct val="0"/>
              </a:spcBef>
              <a:buFontTx/>
              <a:buNone/>
            </a:pPr>
            <a:r>
              <a:rPr lang="en-GB" altLang="en-US" sz="2400"/>
              <a:t>   application, this is chosen to be 1/distance(</a:t>
            </a:r>
            <a:r>
              <a:rPr lang="en-GB" altLang="en-US" sz="2400" i="1"/>
              <a:t>r</a:t>
            </a:r>
            <a:r>
              <a:rPr lang="en-GB" altLang="en-US" sz="2400"/>
              <a:t>,</a:t>
            </a:r>
            <a:r>
              <a:rPr lang="en-GB" altLang="en-US" sz="2400" i="1"/>
              <a:t>s</a:t>
            </a:r>
            <a:r>
              <a:rPr lang="en-GB" altLang="en-US" sz="2400"/>
              <a:t>)  -- I.e. the shorter </a:t>
            </a:r>
          </a:p>
          <a:p>
            <a:pPr eaLnBrk="1" hangingPunct="1">
              <a:spcBef>
                <a:spcPct val="0"/>
              </a:spcBef>
              <a:buFontTx/>
              <a:buNone/>
            </a:pPr>
            <a:r>
              <a:rPr lang="en-GB" altLang="en-US" sz="2400"/>
              <a:t>   the distance, the higher the heuristic value.</a:t>
            </a:r>
          </a:p>
          <a:p>
            <a:pPr eaLnBrk="1" hangingPunct="1">
              <a:lnSpc>
                <a:spcPct val="120000"/>
              </a:lnSpc>
              <a:spcBef>
                <a:spcPct val="0"/>
              </a:spcBef>
              <a:buFontTx/>
              <a:buNone/>
            </a:pPr>
            <a:r>
              <a:rPr lang="en-GB" altLang="en-US" sz="2400"/>
              <a:t>                 </a:t>
            </a:r>
            <a:r>
              <a:rPr lang="en-GB" altLang="en-US" sz="2400">
                <a:solidFill>
                  <a:schemeClr val="accent2"/>
                </a:solidFill>
              </a:rPr>
              <a:t>is the probability that ant  </a:t>
            </a:r>
            <a:r>
              <a:rPr lang="en-GB" altLang="en-US" sz="2400" i="1">
                <a:solidFill>
                  <a:schemeClr val="accent2"/>
                </a:solidFill>
              </a:rPr>
              <a:t>k </a:t>
            </a:r>
            <a:r>
              <a:rPr lang="en-GB" altLang="en-US" sz="2400">
                <a:solidFill>
                  <a:schemeClr val="accent2"/>
                </a:solidFill>
              </a:rPr>
              <a:t>will choose the link that goes</a:t>
            </a:r>
          </a:p>
          <a:p>
            <a:pPr eaLnBrk="1" hangingPunct="1">
              <a:spcBef>
                <a:spcPct val="0"/>
              </a:spcBef>
              <a:buFontTx/>
              <a:buNone/>
            </a:pPr>
            <a:r>
              <a:rPr lang="en-GB" altLang="en-US" sz="2400">
                <a:solidFill>
                  <a:schemeClr val="accent2"/>
                </a:solidFill>
              </a:rPr>
              <a:t>           from </a:t>
            </a:r>
            <a:r>
              <a:rPr lang="en-GB" altLang="en-US" sz="2400" i="1">
                <a:solidFill>
                  <a:schemeClr val="accent2"/>
                </a:solidFill>
              </a:rPr>
              <a:t>r</a:t>
            </a:r>
            <a:r>
              <a:rPr lang="en-GB" altLang="en-US" sz="2400">
                <a:solidFill>
                  <a:schemeClr val="accent2"/>
                </a:solidFill>
              </a:rPr>
              <a:t> to </a:t>
            </a:r>
            <a:r>
              <a:rPr lang="en-GB" altLang="en-US" sz="2400" i="1">
                <a:solidFill>
                  <a:schemeClr val="accent2"/>
                </a:solidFill>
              </a:rPr>
              <a:t>s</a:t>
            </a:r>
          </a:p>
          <a:p>
            <a:pPr eaLnBrk="1" hangingPunct="1">
              <a:spcBef>
                <a:spcPct val="0"/>
              </a:spcBef>
              <a:buFontTx/>
              <a:buNone/>
            </a:pPr>
            <a:r>
              <a:rPr lang="en-GB" altLang="en-US" sz="2400" i="1"/>
              <a:t>       </a:t>
            </a:r>
            <a:r>
              <a:rPr lang="en-GB" altLang="en-US" sz="2400"/>
              <a:t>is a parameter that we can call the </a:t>
            </a:r>
            <a:r>
              <a:rPr lang="en-GB" altLang="en-US" sz="2400" i="1"/>
              <a:t>heuristic strength</a:t>
            </a:r>
          </a:p>
          <a:p>
            <a:pPr eaLnBrk="1" hangingPunct="1">
              <a:spcBef>
                <a:spcPct val="0"/>
              </a:spcBef>
              <a:buFontTx/>
              <a:buNone/>
            </a:pPr>
            <a:r>
              <a:rPr lang="en-GB" altLang="en-US" sz="2400"/>
              <a:t> </a:t>
            </a:r>
            <a:endParaRPr lang="en-GB" altLang="en-US" sz="2400" i="1"/>
          </a:p>
        </p:txBody>
      </p:sp>
      <p:graphicFrame>
        <p:nvGraphicFramePr>
          <p:cNvPr id="37892" name="Object 6"/>
          <p:cNvGraphicFramePr>
            <a:graphicFrameLocks noChangeAspect="1"/>
          </p:cNvGraphicFramePr>
          <p:nvPr/>
        </p:nvGraphicFramePr>
        <p:xfrm>
          <a:off x="2108200" y="3028951"/>
          <a:ext cx="1168400" cy="511175"/>
        </p:xfrm>
        <a:graphic>
          <a:graphicData uri="http://schemas.openxmlformats.org/presentationml/2006/ole">
            <mc:AlternateContent xmlns:mc="http://schemas.openxmlformats.org/markup-compatibility/2006">
              <mc:Choice xmlns:v="urn:schemas-microsoft-com:vml" Requires="v">
                <p:oleObj spid="_x0000_s1128" name="Equation" r:id="rId3" imgW="405872" imgH="177569" progId="Equation.3">
                  <p:embed/>
                </p:oleObj>
              </mc:Choice>
              <mc:Fallback>
                <p:oleObj name="Equation" r:id="rId3" imgW="405872" imgH="1775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8200" y="3028951"/>
                        <a:ext cx="11684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3" name="Text Box 7"/>
          <p:cNvSpPr txBox="1">
            <a:spLocks noChangeArrowheads="1"/>
          </p:cNvSpPr>
          <p:nvPr/>
        </p:nvSpPr>
        <p:spPr bwMode="auto">
          <a:xfrm>
            <a:off x="2209800" y="4419600"/>
            <a:ext cx="779207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dirty="0"/>
              <a:t>The rule is:</a:t>
            </a:r>
          </a:p>
          <a:p>
            <a:pPr eaLnBrk="1" hangingPunct="1">
              <a:spcBef>
                <a:spcPct val="0"/>
              </a:spcBef>
              <a:buFontTx/>
              <a:buNone/>
            </a:pPr>
            <a:endParaRPr lang="en-GB" altLang="en-US" sz="2400" dirty="0"/>
          </a:p>
          <a:p>
            <a:pPr eaLnBrk="1" hangingPunct="1">
              <a:spcBef>
                <a:spcPct val="0"/>
              </a:spcBef>
              <a:buFontTx/>
              <a:buNone/>
            </a:pPr>
            <a:endParaRPr lang="en-GB" altLang="en-US" sz="2400" dirty="0"/>
          </a:p>
          <a:p>
            <a:pPr eaLnBrk="1" hangingPunct="1">
              <a:spcBef>
                <a:spcPct val="0"/>
              </a:spcBef>
              <a:buFontTx/>
              <a:buNone/>
            </a:pPr>
            <a:endParaRPr lang="en-GB" altLang="en-US" sz="2400" dirty="0"/>
          </a:p>
          <a:p>
            <a:pPr eaLnBrk="1" hangingPunct="1">
              <a:spcBef>
                <a:spcPct val="0"/>
              </a:spcBef>
              <a:buFontTx/>
              <a:buNone/>
            </a:pPr>
            <a:r>
              <a:rPr lang="en-GB" altLang="en-US" sz="2400" dirty="0"/>
              <a:t>Where our ant is at city </a:t>
            </a:r>
            <a:r>
              <a:rPr lang="en-GB" altLang="en-US" sz="2400" i="1" dirty="0"/>
              <a:t>r, </a:t>
            </a:r>
            <a:r>
              <a:rPr lang="en-GB" altLang="en-US" sz="2400" dirty="0"/>
              <a:t>and </a:t>
            </a:r>
            <a:r>
              <a:rPr lang="en-GB" altLang="en-US" sz="2400" i="1" dirty="0"/>
              <a:t>s </a:t>
            </a:r>
            <a:r>
              <a:rPr lang="en-GB" altLang="en-US" sz="2400" dirty="0"/>
              <a:t>is a city as yet unvisited on its</a:t>
            </a:r>
          </a:p>
          <a:p>
            <a:pPr eaLnBrk="1" hangingPunct="1">
              <a:spcBef>
                <a:spcPct val="0"/>
              </a:spcBef>
              <a:buFontTx/>
              <a:buNone/>
            </a:pPr>
            <a:r>
              <a:rPr lang="en-GB" altLang="en-US" sz="2400" dirty="0"/>
              <a:t>tour, and the summation is over all of </a:t>
            </a:r>
            <a:r>
              <a:rPr lang="en-GB" altLang="en-US" sz="2400" i="1" dirty="0"/>
              <a:t>k</a:t>
            </a:r>
            <a:r>
              <a:rPr lang="en-GB" altLang="en-US" sz="2400" dirty="0"/>
              <a:t>’s unvisited cities</a:t>
            </a:r>
          </a:p>
        </p:txBody>
      </p:sp>
      <p:graphicFrame>
        <p:nvGraphicFramePr>
          <p:cNvPr id="37894" name="Object 8"/>
          <p:cNvGraphicFramePr>
            <a:graphicFrameLocks noChangeAspect="1"/>
          </p:cNvGraphicFramePr>
          <p:nvPr/>
        </p:nvGraphicFramePr>
        <p:xfrm>
          <a:off x="2209800" y="3810000"/>
          <a:ext cx="381000" cy="387350"/>
        </p:xfrm>
        <a:graphic>
          <a:graphicData uri="http://schemas.openxmlformats.org/presentationml/2006/ole">
            <mc:AlternateContent xmlns:mc="http://schemas.openxmlformats.org/markup-compatibility/2006">
              <mc:Choice xmlns:v="urn:schemas-microsoft-com:vml" Requires="v">
                <p:oleObj spid="_x0000_s1129" name="Equation" r:id="rId5" imgW="126780" imgH="164814" progId="Equation.3">
                  <p:embed/>
                </p:oleObj>
              </mc:Choice>
              <mc:Fallback>
                <p:oleObj name="Equation" r:id="rId5" imgW="126780" imgH="1648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810000"/>
                        <a:ext cx="38100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5" name="Object 9"/>
          <p:cNvGraphicFramePr>
            <a:graphicFrameLocks noChangeAspect="1"/>
          </p:cNvGraphicFramePr>
          <p:nvPr/>
        </p:nvGraphicFramePr>
        <p:xfrm>
          <a:off x="4556126" y="4191000"/>
          <a:ext cx="4892675" cy="1570038"/>
        </p:xfrm>
        <a:graphic>
          <a:graphicData uri="http://schemas.openxmlformats.org/presentationml/2006/ole">
            <mc:AlternateContent xmlns:mc="http://schemas.openxmlformats.org/markup-compatibility/2006">
              <mc:Choice xmlns:v="urn:schemas-microsoft-com:vml" Requires="v">
                <p:oleObj spid="_x0000_s1130" name="Equation" r:id="rId7" imgW="1701800" imgH="546100" progId="Equation.3">
                  <p:embed/>
                </p:oleObj>
              </mc:Choice>
              <mc:Fallback>
                <p:oleObj name="Equation" r:id="rId7" imgW="1701800" imgH="546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6126" y="4191000"/>
                        <a:ext cx="4892675" cy="157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 name="Picture 7" descr="https://ci3.googleusercontent.com/mail-sig/AIorK4xT8k_ZVGbYhunFQaX-H0SL-roQDD29LdbWftjhlA-h5HHa4_w8AGShXAxKQ8uo1EYYVPAKvMc"/>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18947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209800" y="152400"/>
            <a:ext cx="7772400" cy="1143000"/>
          </a:xfrm>
        </p:spPr>
        <p:txBody>
          <a:bodyPr/>
          <a:lstStyle/>
          <a:p>
            <a:pPr algn="ctr" eaLnBrk="1" hangingPunct="1"/>
            <a:r>
              <a:rPr lang="en-GB" altLang="en-US" dirty="0" smtClean="0"/>
              <a:t>Global pheromone update</a:t>
            </a:r>
          </a:p>
        </p:txBody>
      </p:sp>
      <p:sp>
        <p:nvSpPr>
          <p:cNvPr id="38915" name="Text Box 3"/>
          <p:cNvSpPr txBox="1">
            <a:spLocks noChangeArrowheads="1"/>
          </p:cNvSpPr>
          <p:nvPr/>
        </p:nvSpPr>
        <p:spPr bwMode="auto">
          <a:xfrm>
            <a:off x="2041526" y="1143001"/>
            <a:ext cx="8626475"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i="1">
                <a:solidFill>
                  <a:schemeClr val="accent2"/>
                </a:solidFill>
              </a:rPr>
              <a:t>A</a:t>
            </a:r>
            <a:r>
              <a:rPr lang="en-GB" altLang="en-US" sz="2400" i="1" baseline="-25000">
                <a:solidFill>
                  <a:schemeClr val="accent2"/>
                </a:solidFill>
              </a:rPr>
              <a:t>k</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s)    is  amount of pheromone added to the (</a:t>
            </a:r>
            <a:r>
              <a:rPr lang="en-GB" altLang="en-US" sz="2400" i="1">
                <a:solidFill>
                  <a:schemeClr val="accent2"/>
                </a:solidFill>
              </a:rPr>
              <a:t>r</a:t>
            </a:r>
            <a:r>
              <a:rPr lang="en-GB" altLang="en-US" sz="2400">
                <a:solidFill>
                  <a:schemeClr val="accent2"/>
                </a:solidFill>
              </a:rPr>
              <a:t>, </a:t>
            </a:r>
            <a:r>
              <a:rPr lang="en-GB" altLang="en-US" sz="2400" i="1">
                <a:solidFill>
                  <a:schemeClr val="accent2"/>
                </a:solidFill>
              </a:rPr>
              <a:t>s</a:t>
            </a:r>
            <a:r>
              <a:rPr lang="en-GB" altLang="en-US" sz="2400">
                <a:solidFill>
                  <a:schemeClr val="accent2"/>
                </a:solidFill>
              </a:rPr>
              <a:t>) link by ant </a:t>
            </a:r>
            <a:r>
              <a:rPr lang="en-GB" altLang="en-US" sz="2400" i="1">
                <a:solidFill>
                  <a:schemeClr val="accent2"/>
                </a:solidFill>
              </a:rPr>
              <a:t>k</a:t>
            </a:r>
            <a:r>
              <a:rPr lang="en-GB" altLang="en-US" sz="2400">
                <a:solidFill>
                  <a:schemeClr val="accent2"/>
                </a:solidFill>
              </a:rPr>
              <a:t>.</a:t>
            </a:r>
          </a:p>
          <a:p>
            <a:pPr eaLnBrk="1" hangingPunct="1">
              <a:spcBef>
                <a:spcPct val="0"/>
              </a:spcBef>
              <a:buFontTx/>
              <a:buNone/>
            </a:pPr>
            <a:endParaRPr lang="en-GB" altLang="en-US" sz="2400">
              <a:solidFill>
                <a:schemeClr val="accent2"/>
              </a:solidFill>
            </a:endParaRPr>
          </a:p>
          <a:p>
            <a:pPr eaLnBrk="1" hangingPunct="1">
              <a:spcBef>
                <a:spcPct val="0"/>
              </a:spcBef>
              <a:buFontTx/>
              <a:buNone/>
            </a:pPr>
            <a:r>
              <a:rPr lang="en-GB" altLang="en-US" sz="2400" i="1">
                <a:solidFill>
                  <a:schemeClr val="accent2"/>
                </a:solidFill>
              </a:rPr>
              <a:t>m           </a:t>
            </a:r>
            <a:r>
              <a:rPr lang="en-GB" altLang="en-US" sz="2400">
                <a:solidFill>
                  <a:schemeClr val="accent2"/>
                </a:solidFill>
              </a:rPr>
              <a:t>is the number of ants</a:t>
            </a:r>
          </a:p>
          <a:p>
            <a:pPr eaLnBrk="1" hangingPunct="1">
              <a:spcBef>
                <a:spcPct val="0"/>
              </a:spcBef>
              <a:buFontTx/>
              <a:buNone/>
            </a:pPr>
            <a:endParaRPr lang="en-GB" altLang="en-US" sz="2400">
              <a:solidFill>
                <a:schemeClr val="accent2"/>
              </a:solidFill>
            </a:endParaRPr>
          </a:p>
          <a:p>
            <a:pPr eaLnBrk="1" hangingPunct="1">
              <a:spcBef>
                <a:spcPct val="0"/>
              </a:spcBef>
              <a:buFontTx/>
              <a:buNone/>
            </a:pPr>
            <a:r>
              <a:rPr lang="en-GB" altLang="en-US" sz="2400">
                <a:solidFill>
                  <a:schemeClr val="accent2"/>
                </a:solidFill>
              </a:rPr>
              <a:t>              is a parameter called the pheromone decay rate.</a:t>
            </a:r>
          </a:p>
          <a:p>
            <a:pPr eaLnBrk="1" hangingPunct="1">
              <a:spcBef>
                <a:spcPct val="0"/>
              </a:spcBef>
              <a:buFontTx/>
              <a:buNone/>
            </a:pPr>
            <a:endParaRPr lang="en-GB" altLang="en-US" sz="2400" i="1">
              <a:solidFill>
                <a:schemeClr val="accent2"/>
              </a:solidFill>
            </a:endParaRPr>
          </a:p>
          <a:p>
            <a:pPr eaLnBrk="1" hangingPunct="1">
              <a:spcBef>
                <a:spcPct val="0"/>
              </a:spcBef>
              <a:buFontTx/>
              <a:buNone/>
            </a:pPr>
            <a:r>
              <a:rPr lang="en-GB" altLang="en-US" sz="2400" i="1">
                <a:solidFill>
                  <a:schemeClr val="accent2"/>
                </a:solidFill>
              </a:rPr>
              <a:t> L</a:t>
            </a:r>
            <a:r>
              <a:rPr lang="en-GB" altLang="en-US" sz="2400" i="1" baseline="-25000">
                <a:solidFill>
                  <a:schemeClr val="accent2"/>
                </a:solidFill>
              </a:rPr>
              <a:t>k             </a:t>
            </a:r>
            <a:r>
              <a:rPr lang="en-GB" altLang="en-US" sz="2400" i="1">
                <a:solidFill>
                  <a:schemeClr val="accent2"/>
                </a:solidFill>
              </a:rPr>
              <a:t> </a:t>
            </a:r>
            <a:r>
              <a:rPr lang="en-GB" altLang="en-US" sz="2400">
                <a:solidFill>
                  <a:schemeClr val="accent2"/>
                </a:solidFill>
              </a:rPr>
              <a:t>is the length of the tour completed by ant </a:t>
            </a:r>
            <a:r>
              <a:rPr lang="en-GB" altLang="en-US" sz="2400" i="1">
                <a:solidFill>
                  <a:schemeClr val="accent2"/>
                </a:solidFill>
              </a:rPr>
              <a:t>k</a:t>
            </a:r>
            <a:endParaRPr lang="en-GB" altLang="en-US" sz="2400">
              <a:solidFill>
                <a:schemeClr val="accent2"/>
              </a:solidFill>
            </a:endParaRPr>
          </a:p>
          <a:p>
            <a:pPr eaLnBrk="1" hangingPunct="1">
              <a:spcBef>
                <a:spcPct val="0"/>
              </a:spcBef>
              <a:buFontTx/>
              <a:buNone/>
            </a:pPr>
            <a:endParaRPr lang="en-GB" altLang="en-US" sz="2400" i="1" baseline="-25000">
              <a:solidFill>
                <a:schemeClr val="accent2"/>
              </a:solidFill>
            </a:endParaRPr>
          </a:p>
          <a:p>
            <a:pPr eaLnBrk="1" hangingPunct="1">
              <a:spcBef>
                <a:spcPct val="0"/>
              </a:spcBef>
              <a:buFontTx/>
              <a:buNone/>
            </a:pPr>
            <a:r>
              <a:rPr lang="en-GB" altLang="en-US" sz="2400" i="1">
                <a:solidFill>
                  <a:schemeClr val="accent2"/>
                </a:solidFill>
              </a:rPr>
              <a:t>T</a:t>
            </a:r>
            <a:r>
              <a:rPr lang="en-GB" altLang="en-US" sz="2400">
                <a:solidFill>
                  <a:schemeClr val="accent2"/>
                </a:solidFill>
              </a:rPr>
              <a:t>(</a:t>
            </a:r>
            <a:r>
              <a:rPr lang="en-GB" altLang="en-US" sz="2400" i="1">
                <a:solidFill>
                  <a:schemeClr val="accent2"/>
                </a:solidFill>
              </a:rPr>
              <a:t>r</a:t>
            </a:r>
            <a:r>
              <a:rPr lang="en-GB" altLang="en-US" sz="2400">
                <a:solidFill>
                  <a:schemeClr val="accent2"/>
                </a:solidFill>
              </a:rPr>
              <a:t>, </a:t>
            </a:r>
            <a:r>
              <a:rPr lang="en-GB" altLang="en-US" sz="2400" i="1">
                <a:solidFill>
                  <a:schemeClr val="accent2"/>
                </a:solidFill>
              </a:rPr>
              <a:t>s</a:t>
            </a:r>
            <a:r>
              <a:rPr lang="en-GB" altLang="en-US" sz="2400">
                <a:solidFill>
                  <a:schemeClr val="accent2"/>
                </a:solidFill>
              </a:rPr>
              <a:t>)    at the next iteration becomes: </a:t>
            </a:r>
            <a:endParaRPr lang="en-GB" altLang="en-US" sz="2400" i="1">
              <a:solidFill>
                <a:schemeClr val="accent2"/>
              </a:solidFill>
            </a:endParaRPr>
          </a:p>
          <a:p>
            <a:pPr eaLnBrk="1" hangingPunct="1">
              <a:spcBef>
                <a:spcPct val="0"/>
              </a:spcBef>
              <a:buFontTx/>
              <a:buNone/>
            </a:pPr>
            <a:r>
              <a:rPr lang="en-GB" altLang="en-US" sz="2400"/>
              <a:t> </a:t>
            </a:r>
            <a:endParaRPr lang="en-GB" altLang="en-US" sz="2400" i="1"/>
          </a:p>
        </p:txBody>
      </p:sp>
      <p:sp>
        <p:nvSpPr>
          <p:cNvPr id="38916" name="Text Box 5"/>
          <p:cNvSpPr txBox="1">
            <a:spLocks noChangeArrowheads="1"/>
          </p:cNvSpPr>
          <p:nvPr/>
        </p:nvSpPr>
        <p:spPr bwMode="auto">
          <a:xfrm>
            <a:off x="2209801" y="4419601"/>
            <a:ext cx="10807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GB" altLang="en-US" sz="2400"/>
              <a:t> </a:t>
            </a:r>
          </a:p>
          <a:p>
            <a:pPr eaLnBrk="1" hangingPunct="1">
              <a:spcBef>
                <a:spcPct val="0"/>
              </a:spcBef>
              <a:buFontTx/>
              <a:buNone/>
            </a:pPr>
            <a:r>
              <a:rPr lang="en-GB" altLang="en-US" sz="2400"/>
              <a:t>Where </a:t>
            </a:r>
          </a:p>
        </p:txBody>
      </p:sp>
      <p:graphicFrame>
        <p:nvGraphicFramePr>
          <p:cNvPr id="38917" name="Object 6"/>
          <p:cNvGraphicFramePr>
            <a:graphicFrameLocks noChangeAspect="1"/>
          </p:cNvGraphicFramePr>
          <p:nvPr/>
        </p:nvGraphicFramePr>
        <p:xfrm>
          <a:off x="2057400" y="2676526"/>
          <a:ext cx="457200" cy="392113"/>
        </p:xfrm>
        <a:graphic>
          <a:graphicData uri="http://schemas.openxmlformats.org/presentationml/2006/ole">
            <mc:AlternateContent xmlns:mc="http://schemas.openxmlformats.org/markup-compatibility/2006">
              <mc:Choice xmlns:v="urn:schemas-microsoft-com:vml" Requires="v">
                <p:oleObj spid="_x0000_s2152" name="Equation" r:id="rId4" imgW="126835" imgH="139518" progId="Equation.3">
                  <p:embed/>
                </p:oleObj>
              </mc:Choice>
              <mc:Fallback>
                <p:oleObj name="Equation" r:id="rId4" imgW="126835" imgH="13951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676526"/>
                        <a:ext cx="4572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7"/>
          <p:cNvGraphicFramePr>
            <a:graphicFrameLocks noChangeAspect="1"/>
          </p:cNvGraphicFramePr>
          <p:nvPr/>
        </p:nvGraphicFramePr>
        <p:xfrm>
          <a:off x="6807201" y="3860800"/>
          <a:ext cx="3249613" cy="1314450"/>
        </p:xfrm>
        <a:graphic>
          <a:graphicData uri="http://schemas.openxmlformats.org/presentationml/2006/ole">
            <mc:AlternateContent xmlns:mc="http://schemas.openxmlformats.org/markup-compatibility/2006">
              <mc:Choice xmlns:v="urn:schemas-microsoft-com:vml" Requires="v">
                <p:oleObj spid="_x0000_s2153" name="Equation" r:id="rId6" imgW="1130300" imgH="457200" progId="Equation.3">
                  <p:embed/>
                </p:oleObj>
              </mc:Choice>
              <mc:Fallback>
                <p:oleObj name="Equation" r:id="rId6" imgW="11303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7201" y="3860800"/>
                        <a:ext cx="3249613" cy="131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8"/>
          <p:cNvGraphicFramePr>
            <a:graphicFrameLocks noChangeAspect="1"/>
          </p:cNvGraphicFramePr>
          <p:nvPr/>
        </p:nvGraphicFramePr>
        <p:xfrm>
          <a:off x="3276601" y="4800601"/>
          <a:ext cx="2081213" cy="511175"/>
        </p:xfrm>
        <a:graphic>
          <a:graphicData uri="http://schemas.openxmlformats.org/presentationml/2006/ole">
            <mc:AlternateContent xmlns:mc="http://schemas.openxmlformats.org/markup-compatibility/2006">
              <mc:Choice xmlns:v="urn:schemas-microsoft-com:vml" Requires="v">
                <p:oleObj spid="_x0000_s2154" name="Equation" r:id="rId8" imgW="723272" imgH="177646" progId="Equation.3">
                  <p:embed/>
                </p:oleObj>
              </mc:Choice>
              <mc:Fallback>
                <p:oleObj name="Equation" r:id="rId8" imgW="723272" imgH="17764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1" y="4800601"/>
                        <a:ext cx="20812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1" name="Rectangle 10"/>
          <p:cNvSpPr>
            <a:spLocks noChangeArrowheads="1"/>
          </p:cNvSpPr>
          <p:nvPr/>
        </p:nvSpPr>
        <p:spPr bwMode="auto">
          <a:xfrm>
            <a:off x="1919289" y="1196976"/>
            <a:ext cx="1152525" cy="2663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a:p>
        </p:txBody>
      </p:sp>
      <p:pic>
        <p:nvPicPr>
          <p:cNvPr id="9" name="Picture 8" descr="https://ci3.googleusercontent.com/mail-sig/AIorK4xT8k_ZVGbYhunFQaX-H0SL-roQDD29LdbWftjhlA-h5HHa4_w8AGShXAxKQ8uo1EYYVPAKvMc"/>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6545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t>SAT - </a:t>
            </a:r>
            <a:r>
              <a:rPr lang="en-US" i="1" dirty="0"/>
              <a:t>Boolean </a:t>
            </a:r>
            <a:r>
              <a:rPr lang="en-US" i="1" dirty="0" err="1"/>
              <a:t>satisfiability</a:t>
            </a:r>
            <a:endParaRPr lang="en-US" dirty="0"/>
          </a:p>
        </p:txBody>
      </p:sp>
      <p:sp>
        <p:nvSpPr>
          <p:cNvPr id="3" name="Content Placeholder 2"/>
          <p:cNvSpPr>
            <a:spLocks noGrp="1"/>
          </p:cNvSpPr>
          <p:nvPr>
            <p:ph idx="1"/>
          </p:nvPr>
        </p:nvSpPr>
        <p:spPr>
          <a:xfrm>
            <a:off x="838200" y="1098097"/>
            <a:ext cx="10515600" cy="4351338"/>
          </a:xfrm>
        </p:spPr>
        <p:txBody>
          <a:bodyPr>
            <a:normAutofit/>
          </a:bodyPr>
          <a:lstStyle/>
          <a:p>
            <a:pPr algn="just"/>
            <a:r>
              <a:rPr lang="en-US" sz="2400" dirty="0">
                <a:solidFill>
                  <a:schemeClr val="tx2">
                    <a:lumMod val="60000"/>
                    <a:lumOff val="40000"/>
                  </a:schemeClr>
                </a:solidFill>
                <a:latin typeface="Cambria" panose="02040503050406030204" pitchFamily="18" charset="0"/>
                <a:ea typeface="Cambria" panose="02040503050406030204" pitchFamily="18" charset="0"/>
              </a:rPr>
              <a:t>T</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he</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r>
              <a:rPr lang="en-US" sz="2400" i="1" dirty="0">
                <a:solidFill>
                  <a:schemeClr val="tx2">
                    <a:lumMod val="60000"/>
                    <a:lumOff val="40000"/>
                  </a:schemeClr>
                </a:solidFill>
                <a:latin typeface="Cambria" panose="02040503050406030204" pitchFamily="18" charset="0"/>
                <a:ea typeface="Cambria" panose="02040503050406030204" pitchFamily="18" charset="0"/>
              </a:rPr>
              <a:t>Boolean </a:t>
            </a:r>
            <a:r>
              <a:rPr lang="en-US" sz="2400" i="1" dirty="0" err="1">
                <a:solidFill>
                  <a:schemeClr val="tx2">
                    <a:lumMod val="60000"/>
                    <a:lumOff val="40000"/>
                  </a:schemeClr>
                </a:solidFill>
                <a:latin typeface="Cambria" panose="02040503050406030204" pitchFamily="18" charset="0"/>
                <a:ea typeface="Cambria" panose="02040503050406030204" pitchFamily="18" charset="0"/>
              </a:rPr>
              <a:t>satisfiability</a:t>
            </a:r>
            <a:r>
              <a:rPr lang="en-US" sz="2400" dirty="0">
                <a:solidFill>
                  <a:schemeClr val="tx2">
                    <a:lumMod val="60000"/>
                    <a:lumOff val="40000"/>
                  </a:schemeClr>
                </a:solidFill>
                <a:latin typeface="Cambria" panose="02040503050406030204" pitchFamily="18" charset="0"/>
                <a:ea typeface="Cambria" panose="02040503050406030204" pitchFamily="18" charset="0"/>
              </a:rPr>
              <a:t> or </a:t>
            </a:r>
            <a:r>
              <a:rPr lang="en-US" sz="2400" i="1" dirty="0">
                <a:solidFill>
                  <a:schemeClr val="tx2">
                    <a:lumMod val="60000"/>
                    <a:lumOff val="40000"/>
                  </a:schemeClr>
                </a:solidFill>
                <a:latin typeface="Cambria" panose="02040503050406030204" pitchFamily="18" charset="0"/>
                <a:ea typeface="Cambria" panose="02040503050406030204" pitchFamily="18" charset="0"/>
              </a:rPr>
              <a:t>SAT</a:t>
            </a:r>
            <a:r>
              <a:rPr lang="en-US" sz="2400" dirty="0">
                <a:solidFill>
                  <a:schemeClr val="tx2">
                    <a:lumMod val="60000"/>
                    <a:lumOff val="40000"/>
                  </a:schemeClr>
                </a:solidFill>
                <a:latin typeface="Cambria" panose="02040503050406030204" pitchFamily="18" charset="0"/>
                <a:ea typeface="Cambria" panose="02040503050406030204" pitchFamily="18" charset="0"/>
              </a:rPr>
              <a:t> problem.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We </a:t>
            </a:r>
            <a:r>
              <a:rPr lang="en-US" sz="2400" dirty="0">
                <a:solidFill>
                  <a:schemeClr val="tx2">
                    <a:lumMod val="60000"/>
                    <a:lumOff val="40000"/>
                  </a:schemeClr>
                </a:solidFill>
                <a:latin typeface="Cambria" panose="02040503050406030204" pitchFamily="18" charset="0"/>
                <a:ea typeface="Cambria" panose="02040503050406030204" pitchFamily="18" charset="0"/>
              </a:rPr>
              <a:t>are given a formula containing binary variables that are connected by logical relations such as OR and </a:t>
            </a:r>
            <a:r>
              <a:rPr lang="en-US" sz="2400" dirty="0" err="1">
                <a:solidFill>
                  <a:schemeClr val="tx2">
                    <a:lumMod val="60000"/>
                    <a:lumOff val="40000"/>
                  </a:schemeClr>
                </a:solidFill>
                <a:latin typeface="Cambria" panose="02040503050406030204" pitchFamily="18" charset="0"/>
                <a:ea typeface="Cambria" panose="02040503050406030204" pitchFamily="18" charset="0"/>
              </a:rPr>
              <a:t>AND</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We </a:t>
            </a:r>
            <a:r>
              <a:rPr lang="en-US" sz="2400" dirty="0">
                <a:solidFill>
                  <a:schemeClr val="tx2">
                    <a:lumMod val="60000"/>
                    <a:lumOff val="40000"/>
                  </a:schemeClr>
                </a:solidFill>
                <a:latin typeface="Cambria" panose="02040503050406030204" pitchFamily="18" charset="0"/>
                <a:ea typeface="Cambria" panose="02040503050406030204" pitchFamily="18" charset="0"/>
              </a:rPr>
              <a:t>aim to establish whether there is any way to set these variables so that the formula evaluates to true.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Algorithms </a:t>
            </a:r>
            <a:r>
              <a:rPr lang="en-US" sz="2400" dirty="0">
                <a:solidFill>
                  <a:schemeClr val="tx2">
                    <a:lumMod val="60000"/>
                    <a:lumOff val="40000"/>
                  </a:schemeClr>
                </a:solidFill>
                <a:latin typeface="Cambria" panose="02040503050406030204" pitchFamily="18" charset="0"/>
                <a:ea typeface="Cambria" panose="02040503050406030204" pitchFamily="18" charset="0"/>
              </a:rPr>
              <a:t>that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algn="just"/>
            <a:r>
              <a:rPr lang="en-US" sz="2400" dirty="0" smtClean="0">
                <a:solidFill>
                  <a:schemeClr val="tx2">
                    <a:lumMod val="60000"/>
                    <a:lumOff val="40000"/>
                  </a:schemeClr>
                </a:solidFill>
                <a:latin typeface="Cambria" panose="02040503050406030204" pitchFamily="18" charset="0"/>
                <a:ea typeface="Cambria" panose="02040503050406030204" pitchFamily="18" charset="0"/>
              </a:rPr>
              <a:t>are </a:t>
            </a:r>
            <a:r>
              <a:rPr lang="en-US" sz="2400" dirty="0">
                <a:solidFill>
                  <a:schemeClr val="tx2">
                    <a:lumMod val="60000"/>
                    <a:lumOff val="40000"/>
                  </a:schemeClr>
                </a:solidFill>
                <a:latin typeface="Cambria" panose="02040503050406030204" pitchFamily="18" charset="0"/>
                <a:ea typeface="Cambria" panose="02040503050406030204" pitchFamily="18" charset="0"/>
              </a:rPr>
              <a:t>applied to this problem are known as </a:t>
            </a:r>
            <a:r>
              <a:rPr lang="en-US" sz="2400" i="1" dirty="0">
                <a:solidFill>
                  <a:schemeClr val="tx2">
                    <a:lumMod val="60000"/>
                    <a:lumOff val="40000"/>
                  </a:schemeClr>
                </a:solidFill>
                <a:latin typeface="Cambria" panose="02040503050406030204" pitchFamily="18" charset="0"/>
                <a:ea typeface="Cambria" panose="02040503050406030204" pitchFamily="18" charset="0"/>
              </a:rPr>
              <a:t>SAT solvers</a:t>
            </a:r>
            <a:r>
              <a:rPr lang="en-US" sz="2400" dirty="0">
                <a:solidFill>
                  <a:schemeClr val="tx2">
                    <a:lumMod val="60000"/>
                    <a:lumOff val="40000"/>
                  </a:schemeClr>
                </a:solidFill>
                <a:latin typeface="Cambria" panose="02040503050406030204" pitchFamily="18" charset="0"/>
                <a:ea typeface="Cambria" panose="02040503050406030204" pitchFamily="18" charset="0"/>
              </a:rPr>
              <a:t>. </a:t>
            </a:r>
          </a:p>
        </p:txBody>
      </p:sp>
      <p:sp>
        <p:nvSpPr>
          <p:cNvPr id="5" name="Rectangle 2"/>
          <p:cNvSpPr>
            <a:spLocks noChangeArrowheads="1"/>
          </p:cNvSpPr>
          <p:nvPr/>
        </p:nvSpPr>
        <p:spPr bwMode="auto">
          <a:xfrm>
            <a:off x="838201" y="3889249"/>
            <a:ext cx="10657114" cy="2316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4991"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solidFill>
                  <a:schemeClr val="tx2">
                    <a:lumMod val="60000"/>
                    <a:lumOff val="40000"/>
                  </a:schemeClr>
                </a:solidFill>
                <a:latin typeface="Cambria" panose="02040503050406030204" pitchFamily="18" charset="0"/>
                <a:ea typeface="Cambria" panose="02040503050406030204" pitchFamily="18" charset="0"/>
              </a:rPr>
              <a:t>Boolean operators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solidFill>
                  <a:schemeClr val="tx2">
                    <a:lumMod val="60000"/>
                    <a:lumOff val="40000"/>
                  </a:schemeClr>
                </a:solidFill>
                <a:latin typeface="Cambria" panose="02040503050406030204" pitchFamily="18" charset="0"/>
                <a:ea typeface="Cambria" panose="02040503050406030204" pitchFamily="18" charset="0"/>
              </a:rPr>
              <a:t>Boolean operators are standard functions that take one or more binary variables as input and return a single binary output. Hence, they can be defined by truth tables in which we enumerate every combination of inputs and define the output for each (figure 1). Common logical operators include:</a:t>
            </a:r>
          </a:p>
        </p:txBody>
      </p:sp>
      <p:pic>
        <p:nvPicPr>
          <p:cNvPr id="6" name="Picture 5"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9208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143" y="957802"/>
            <a:ext cx="11945257" cy="442699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8539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85" y="483443"/>
            <a:ext cx="10856685" cy="6001643"/>
          </a:xfrm>
          <a:prstGeom prst="rect">
            <a:avLst/>
          </a:prstGeom>
        </p:spPr>
        <p:txBody>
          <a:bodyPr wrap="square">
            <a:spAutoFit/>
          </a:bodyPr>
          <a:lstStyle/>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OR operator is written as ∨ and takes two inputs 𝑥1 and 𝑥2. It returns true if one or both of the inputs are true and returns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AND operator is written as ∧ and takes two inputs 𝑥1 and 𝑥2. It returns true if both the inputs are true and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IMPLICATION operator is written as ⇒ and evaluates whether the two inputs are consistent with the statement ‘if 𝑥1 then 𝑥2’. The statement is only disobeyed when 𝑥1 is true and 𝑥2 is false and so implication returns false for this combination of inputs and true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EQUIVALENCE operator is written as ⇔ and takes two inputs 𝑥1 and 𝑥2. It returns true if the two inputs are the same and returns false otherwise</a:t>
            </a:r>
            <a:r>
              <a:rPr lang="en-US" sz="2400" dirty="0" smtClean="0">
                <a:solidFill>
                  <a:srgbClr val="222731"/>
                </a:solidFill>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400" dirty="0">
              <a:solidFill>
                <a:srgbClr val="222731"/>
              </a:solidFill>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400" dirty="0">
                <a:solidFill>
                  <a:srgbClr val="222731"/>
                </a:solidFill>
                <a:latin typeface="Cambria" panose="02040503050406030204" pitchFamily="18" charset="0"/>
                <a:ea typeface="Cambria" panose="02040503050406030204" pitchFamily="18" charset="0"/>
              </a:rPr>
              <a:t>The NOT operator is written as ¬ and takes one input. It returns true if the input 𝑥1 is false and vice-versa. We refer ¬𝑥1 as the </a:t>
            </a:r>
            <a:r>
              <a:rPr lang="en-US" sz="2400" i="1" dirty="0">
                <a:solidFill>
                  <a:srgbClr val="222731"/>
                </a:solidFill>
                <a:latin typeface="Cambria" panose="02040503050406030204" pitchFamily="18" charset="0"/>
                <a:ea typeface="Cambria" panose="02040503050406030204" pitchFamily="18" charset="0"/>
              </a:rPr>
              <a:t>complement</a:t>
            </a:r>
            <a:r>
              <a:rPr lang="en-US" sz="2400" dirty="0">
                <a:solidFill>
                  <a:srgbClr val="222731"/>
                </a:solidFill>
                <a:latin typeface="Cambria" panose="02040503050406030204" pitchFamily="18" charset="0"/>
                <a:ea typeface="Cambria" panose="02040503050406030204" pitchFamily="18" charset="0"/>
              </a:rPr>
              <a:t> of 𝑥1.</a:t>
            </a:r>
            <a:endParaRPr lang="en-US" sz="2400" b="0" i="0" dirty="0">
              <a:solidFill>
                <a:srgbClr val="22273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246954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72324" y="972458"/>
            <a:ext cx="11129607" cy="473165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0889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0326" y="833019"/>
            <a:ext cx="10862515" cy="4406637"/>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4968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b="1" dirty="0"/>
              <a:t>Traveling Salesman Problem (TSP</a:t>
            </a:r>
            <a:r>
              <a:rPr lang="en-US" b="1" dirty="0" smtClean="0"/>
              <a:t>)</a:t>
            </a:r>
            <a:endParaRPr lang="en-US" dirty="0"/>
          </a:p>
        </p:txBody>
      </p:sp>
      <p:sp>
        <p:nvSpPr>
          <p:cNvPr id="3" name="Content Placeholder 2"/>
          <p:cNvSpPr>
            <a:spLocks noGrp="1"/>
          </p:cNvSpPr>
          <p:nvPr>
            <p:ph idx="1"/>
          </p:nvPr>
        </p:nvSpPr>
        <p:spPr>
          <a:xfrm>
            <a:off x="838200" y="1310725"/>
            <a:ext cx="10515600" cy="4351338"/>
          </a:xfrm>
        </p:spPr>
        <p:txBody>
          <a:bodyPr/>
          <a:lstStyle/>
          <a:p>
            <a:pPr marL="0" indent="0">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Given a set of cities and distances between every pair of cities, the problem is to find the shortest possible route that visits every city exactly once and returns to the starting point. </a:t>
            </a:r>
            <a:endParaRPr lang="en-US" sz="2400" dirty="0" smtClean="0">
              <a:solidFill>
                <a:schemeClr val="tx2">
                  <a:lumMod val="60000"/>
                  <a:lumOff val="40000"/>
                </a:schemeClr>
              </a:solidFill>
              <a:latin typeface="Cambria" panose="02040503050406030204" pitchFamily="18" charset="0"/>
              <a:ea typeface="Cambria" panose="02040503050406030204" pitchFamily="18" charset="0"/>
            </a:endParaRPr>
          </a:p>
          <a:p>
            <a:pPr marL="0" indent="0">
              <a:buNone/>
            </a:pPr>
            <a:r>
              <a:rPr lang="en-US" sz="2400" dirty="0">
                <a:solidFill>
                  <a:schemeClr val="tx2">
                    <a:lumMod val="60000"/>
                    <a:lumOff val="40000"/>
                  </a:schemeClr>
                </a:solidFill>
                <a:latin typeface="Cambria" panose="02040503050406030204" pitchFamily="18" charset="0"/>
                <a:ea typeface="Cambria" panose="02040503050406030204" pitchFamily="18" charset="0"/>
              </a:rPr>
              <a:t>For example, consider the graph shown in the figure on the right side. A TSP tour in the graph is 1-2-4-3-1. The cost of the tour is 10+25+30+15 which is 80</a:t>
            </a:r>
            <a:r>
              <a:rPr lang="en-US" sz="2400" dirty="0" smtClean="0">
                <a:solidFill>
                  <a:schemeClr val="tx2">
                    <a:lumMod val="60000"/>
                    <a:lumOff val="40000"/>
                  </a:schemeClr>
                </a:solidFill>
                <a:latin typeface="Cambria" panose="02040503050406030204" pitchFamily="18" charset="0"/>
                <a:ea typeface="Cambria" panose="02040503050406030204" pitchFamily="18" charset="0"/>
              </a:rPr>
              <a:t>.</a:t>
            </a:r>
          </a:p>
          <a:p>
            <a:pPr marL="0" indent="0">
              <a:buNone/>
            </a:pPr>
            <a:endParaRPr lang="en-US" dirty="0">
              <a:solidFill>
                <a:schemeClr val="tx2">
                  <a:lumMod val="60000"/>
                  <a:lumOff val="40000"/>
                </a:schemeClr>
              </a:solidFill>
            </a:endParaRPr>
          </a:p>
        </p:txBody>
      </p:sp>
      <p:pic>
        <p:nvPicPr>
          <p:cNvPr id="4" name="Picture 3"/>
          <p:cNvPicPr>
            <a:picLocks noChangeAspect="1"/>
          </p:cNvPicPr>
          <p:nvPr/>
        </p:nvPicPr>
        <p:blipFill>
          <a:blip r:embed="rId2"/>
          <a:stretch>
            <a:fillRect/>
          </a:stretch>
        </p:blipFill>
        <p:spPr>
          <a:xfrm>
            <a:off x="794654" y="3486394"/>
            <a:ext cx="3962953" cy="2991267"/>
          </a:xfrm>
          <a:prstGeom prst="rect">
            <a:avLst/>
          </a:prstGeom>
        </p:spPr>
      </p:pic>
      <p:sp>
        <p:nvSpPr>
          <p:cNvPr id="5" name="Rectangle 1"/>
          <p:cNvSpPr>
            <a:spLocks noChangeArrowheads="1"/>
          </p:cNvSpPr>
          <p:nvPr/>
        </p:nvSpPr>
        <p:spPr bwMode="auto">
          <a:xfrm>
            <a:off x="5747378" y="3481267"/>
            <a:ext cx="5167365" cy="101307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Output of Given Graph: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minimum weight Hamiltonian Cycle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10 + 25 + 30 + 15 := 80 </a:t>
            </a:r>
          </a:p>
        </p:txBody>
      </p:sp>
      <p:pic>
        <p:nvPicPr>
          <p:cNvPr id="6" name="Picture 5"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6258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4314" y="925740"/>
            <a:ext cx="10515600" cy="4351338"/>
          </a:xfrm>
        </p:spPr>
        <p:txBody>
          <a:bodyPr/>
          <a:lstStyle/>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Consider city 1 as the starting and ending point. Since the route is cyclic, we can consider any point as a starting point.</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Generate all (n-1)! permutations of cities.</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Calculate the cost of every permutation and keep track of the minimum cost permutation.</a:t>
            </a:r>
          </a:p>
          <a:p>
            <a:pPr fontAlgn="base"/>
            <a:r>
              <a:rPr lang="en-US" dirty="0">
                <a:solidFill>
                  <a:schemeClr val="tx2">
                    <a:lumMod val="60000"/>
                    <a:lumOff val="40000"/>
                  </a:schemeClr>
                </a:solidFill>
                <a:latin typeface="Cambria" panose="02040503050406030204" pitchFamily="18" charset="0"/>
                <a:ea typeface="Cambria" panose="02040503050406030204" pitchFamily="18" charset="0"/>
              </a:rPr>
              <a:t>Return the permutation with minimum cost.</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92659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stretch>
            <a:fillRect/>
          </a:stretch>
        </p:blipFill>
        <p:spPr>
          <a:xfrm>
            <a:off x="1468582" y="765742"/>
            <a:ext cx="9896104" cy="593582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06083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r>
              <a:rPr lang="en-US" dirty="0">
                <a:solidFill>
                  <a:srgbClr val="C00000"/>
                </a:solidFill>
                <a:latin typeface="Cambria" panose="02040503050406030204" pitchFamily="18" charset="0"/>
                <a:ea typeface="Cambria" panose="02040503050406030204" pitchFamily="18" charset="0"/>
              </a:rPr>
              <a:t>Finding Optimal Paths: Branch &amp; Bound, A*</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Branch and Bound Algorithm</a:t>
            </a:r>
            <a:r>
              <a:rPr lang="en-US" dirty="0">
                <a:latin typeface="Cambria" panose="02040503050406030204" pitchFamily="18" charset="0"/>
                <a:ea typeface="Cambria" panose="02040503050406030204" pitchFamily="18" charset="0"/>
              </a:rPr>
              <a:t> is a method used in </a:t>
            </a:r>
            <a:r>
              <a:rPr lang="en-US" b="1" dirty="0">
                <a:latin typeface="Cambria" panose="02040503050406030204" pitchFamily="18" charset="0"/>
                <a:ea typeface="Cambria" panose="02040503050406030204" pitchFamily="18" charset="0"/>
              </a:rPr>
              <a:t>combinatorial</a:t>
            </a:r>
            <a:r>
              <a:rPr lang="en-US" dirty="0">
                <a:latin typeface="Cambria" panose="02040503050406030204" pitchFamily="18" charset="0"/>
                <a:ea typeface="Cambria" panose="02040503050406030204" pitchFamily="18" charset="0"/>
              </a:rPr>
              <a:t> optimization problems to systematically search for the best solution.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works by dividing the problem into smaller </a:t>
            </a:r>
            <a:r>
              <a:rPr lang="en-US" dirty="0" smtClean="0">
                <a:latin typeface="Cambria" panose="02040503050406030204" pitchFamily="18" charset="0"/>
                <a:ea typeface="Cambria" panose="02040503050406030204" pitchFamily="18" charset="0"/>
              </a:rPr>
              <a:t>sub problems</a:t>
            </a:r>
            <a:r>
              <a:rPr lang="en-US" dirty="0">
                <a:latin typeface="Cambria" panose="02040503050406030204" pitchFamily="18" charset="0"/>
                <a:ea typeface="Cambria" panose="02040503050406030204" pitchFamily="18" charset="0"/>
              </a:rPr>
              <a:t>, or branches, and then eliminating certain branches based on bounds on the optimal solution.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This </a:t>
            </a:r>
            <a:r>
              <a:rPr lang="en-US" dirty="0">
                <a:latin typeface="Cambria" panose="02040503050406030204" pitchFamily="18" charset="0"/>
                <a:ea typeface="Cambria" panose="02040503050406030204" pitchFamily="18" charset="0"/>
              </a:rPr>
              <a:t>process continues until the best solution is found or all branches have been explored. </a:t>
            </a:r>
            <a:endParaRPr lang="en-US" dirty="0" smtClean="0">
              <a:latin typeface="Cambria" panose="02040503050406030204" pitchFamily="18" charset="0"/>
              <a:ea typeface="Cambria" panose="02040503050406030204" pitchFamily="18" charset="0"/>
            </a:endParaRPr>
          </a:p>
          <a:p>
            <a:pPr algn="just"/>
            <a:r>
              <a:rPr lang="en-US" b="1" dirty="0" smtClean="0">
                <a:latin typeface="Cambria" panose="02040503050406030204" pitchFamily="18" charset="0"/>
                <a:ea typeface="Cambria" panose="02040503050406030204" pitchFamily="18" charset="0"/>
              </a:rPr>
              <a:t>Branch </a:t>
            </a:r>
            <a:r>
              <a:rPr lang="en-US" b="1" dirty="0">
                <a:latin typeface="Cambria" panose="02040503050406030204" pitchFamily="18" charset="0"/>
                <a:ea typeface="Cambria" panose="02040503050406030204" pitchFamily="18" charset="0"/>
              </a:rPr>
              <a:t>and Bound </a:t>
            </a:r>
            <a:r>
              <a:rPr lang="en-US" dirty="0">
                <a:latin typeface="Cambria" panose="02040503050406030204" pitchFamily="18" charset="0"/>
                <a:ea typeface="Cambria" panose="02040503050406030204" pitchFamily="18" charset="0"/>
              </a:rPr>
              <a:t>is commonly </a:t>
            </a:r>
            <a:r>
              <a:rPr lang="en-US" dirty="0" smtClean="0">
                <a:latin typeface="Cambria" panose="02040503050406030204" pitchFamily="18" charset="0"/>
                <a:ea typeface="Cambria" panose="02040503050406030204" pitchFamily="18" charset="0"/>
              </a:rPr>
              <a:t>used in </a:t>
            </a:r>
            <a:r>
              <a:rPr lang="en-US" dirty="0">
                <a:latin typeface="Cambria" panose="02040503050406030204" pitchFamily="18" charset="0"/>
                <a:ea typeface="Cambria" panose="02040503050406030204" pitchFamily="18" charset="0"/>
              </a:rPr>
              <a:t>problems like the</a:t>
            </a:r>
            <a:r>
              <a:rPr lang="en-US" b="1" dirty="0">
                <a:latin typeface="Cambria" panose="02040503050406030204" pitchFamily="18" charset="0"/>
                <a:ea typeface="Cambria" panose="02040503050406030204" pitchFamily="18" charset="0"/>
              </a:rPr>
              <a:t> traveling salesman</a:t>
            </a:r>
            <a:r>
              <a:rPr lang="en-US" dirty="0">
                <a:latin typeface="Cambria" panose="02040503050406030204" pitchFamily="18" charset="0"/>
                <a:ea typeface="Cambria" panose="02040503050406030204" pitchFamily="18" charset="0"/>
              </a:rPr>
              <a:t> and</a:t>
            </a:r>
            <a:r>
              <a:rPr lang="en-US" b="1" dirty="0">
                <a:latin typeface="Cambria" panose="02040503050406030204" pitchFamily="18" charset="0"/>
                <a:ea typeface="Cambria" panose="02040503050406030204" pitchFamily="18" charset="0"/>
              </a:rPr>
              <a:t> job scheduling</a:t>
            </a:r>
            <a:r>
              <a:rPr lang="en-US" dirty="0">
                <a:latin typeface="Cambria" panose="02040503050406030204" pitchFamily="18" charset="0"/>
                <a:ea typeface="Cambria" panose="02040503050406030204" pitchFamily="18" charset="0"/>
              </a:rPr>
              <a:t>.</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866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7" y="911225"/>
            <a:ext cx="10515600" cy="4351338"/>
          </a:xfrm>
        </p:spPr>
        <p:txBody>
          <a:bodyPr>
            <a:normAutofit fontScale="92500" lnSpcReduction="10000"/>
          </a:bodyPr>
          <a:lstStyle/>
          <a:p>
            <a:pPr marL="0" indent="0" algn="just">
              <a:buNone/>
            </a:pPr>
            <a:r>
              <a:rPr lang="en-US" dirty="0">
                <a:latin typeface="Cambria" panose="02040503050406030204" pitchFamily="18" charset="0"/>
                <a:ea typeface="Cambria" panose="02040503050406030204" pitchFamily="18" charset="0"/>
              </a:rPr>
              <a:t>Branch and bound is an effective solution to some </a:t>
            </a:r>
            <a:r>
              <a:rPr lang="en-US" dirty="0" smtClean="0">
                <a:latin typeface="Cambria" panose="02040503050406030204" pitchFamily="18" charset="0"/>
                <a:ea typeface="Cambria" panose="02040503050406030204" pitchFamily="18" charset="0"/>
              </a:rPr>
              <a:t>problems</a:t>
            </a:r>
          </a:p>
          <a:p>
            <a:pPr algn="just" fontAlgn="base"/>
            <a:r>
              <a:rPr lang="en-US" dirty="0">
                <a:latin typeface="Cambria" panose="02040503050406030204" pitchFamily="18" charset="0"/>
                <a:ea typeface="Cambria" panose="02040503050406030204" pitchFamily="18" charset="0"/>
              </a:rPr>
              <a:t>It is appropriate to use a branch and bound approach if the given problem is </a:t>
            </a:r>
            <a:r>
              <a:rPr lang="en-US" b="1" dirty="0">
                <a:latin typeface="Cambria" panose="02040503050406030204" pitchFamily="18" charset="0"/>
                <a:ea typeface="Cambria" panose="02040503050406030204" pitchFamily="18" charset="0"/>
              </a:rPr>
              <a:t>discrete optimization</a:t>
            </a:r>
            <a:r>
              <a:rPr lang="en-US" dirty="0">
                <a:latin typeface="Cambria" panose="02040503050406030204" pitchFamily="18" charset="0"/>
                <a:ea typeface="Cambria" panose="02040503050406030204" pitchFamily="18" charset="0"/>
              </a:rPr>
              <a:t>. Discrete optimization refers to problems in which the variables belong to the discrete set. Examples of such problems include 0-1 Integer Programming and Network Flow problems</a:t>
            </a:r>
            <a:r>
              <a:rPr lang="en-US" dirty="0" smtClean="0">
                <a:latin typeface="Cambria" panose="02040503050406030204" pitchFamily="18" charset="0"/>
                <a:ea typeface="Cambria" panose="02040503050406030204" pitchFamily="18" charset="0"/>
              </a:rPr>
              <a:t>.</a:t>
            </a:r>
          </a:p>
          <a:p>
            <a:pPr algn="just" fontAlgn="base"/>
            <a:endParaRPr lang="en-US" dirty="0">
              <a:latin typeface="Cambria" panose="02040503050406030204" pitchFamily="18" charset="0"/>
              <a:ea typeface="Cambria" panose="02040503050406030204" pitchFamily="18" charset="0"/>
            </a:endParaRPr>
          </a:p>
          <a:p>
            <a:pPr algn="just" fontAlgn="base"/>
            <a:r>
              <a:rPr lang="en-US" dirty="0">
                <a:latin typeface="Cambria" panose="02040503050406030204" pitchFamily="18" charset="0"/>
                <a:ea typeface="Cambria" panose="02040503050406030204" pitchFamily="18" charset="0"/>
              </a:rPr>
              <a:t>When it comes to </a:t>
            </a:r>
            <a:r>
              <a:rPr lang="en-US" b="1" dirty="0">
                <a:latin typeface="Cambria" panose="02040503050406030204" pitchFamily="18" charset="0"/>
                <a:ea typeface="Cambria" panose="02040503050406030204" pitchFamily="18" charset="0"/>
              </a:rPr>
              <a:t>combinatory optimization </a:t>
            </a:r>
            <a:r>
              <a:rPr lang="en-US" dirty="0">
                <a:latin typeface="Cambria" panose="02040503050406030204" pitchFamily="18" charset="0"/>
                <a:ea typeface="Cambria" panose="02040503050406030204" pitchFamily="18" charset="0"/>
              </a:rPr>
              <a:t>problems, branch and bound work well. An optimization problem is optimized by combinatory optimization by finding its maximum or minimum based on its objective function. The combinatory optimization problems include Boolean </a:t>
            </a:r>
            <a:r>
              <a:rPr lang="en-US" dirty="0" err="1">
                <a:latin typeface="Cambria" panose="02040503050406030204" pitchFamily="18" charset="0"/>
                <a:ea typeface="Cambria" panose="02040503050406030204" pitchFamily="18" charset="0"/>
              </a:rPr>
              <a:t>Satisfiability</a:t>
            </a:r>
            <a:r>
              <a:rPr lang="en-US" dirty="0">
                <a:latin typeface="Cambria" panose="02040503050406030204" pitchFamily="18" charset="0"/>
                <a:ea typeface="Cambria" panose="02040503050406030204" pitchFamily="18" charset="0"/>
              </a:rPr>
              <a:t> and Integer Linear Programming.</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141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3477"/>
            <a:ext cx="10515600" cy="1325563"/>
          </a:xfrm>
        </p:spPr>
        <p:txBody>
          <a:bodyPr/>
          <a:lstStyle/>
          <a:p>
            <a:pPr algn="ctr"/>
            <a:r>
              <a:rPr lang="en-US" dirty="0">
                <a:latin typeface="Cambria" panose="02040503050406030204" pitchFamily="18" charset="0"/>
                <a:ea typeface="Cambria" panose="02040503050406030204" pitchFamily="18" charset="0"/>
              </a:rPr>
              <a:t>Basic Concepts of Branch and </a:t>
            </a:r>
            <a:r>
              <a:rPr lang="en-US" dirty="0" smtClean="0">
                <a:latin typeface="Cambria" panose="02040503050406030204" pitchFamily="18" charset="0"/>
                <a:ea typeface="Cambria" panose="02040503050406030204" pitchFamily="18" charset="0"/>
              </a:rPr>
              <a:t>Bound</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1782" y="1160606"/>
            <a:ext cx="10952018" cy="5600411"/>
          </a:xfrm>
        </p:spPr>
        <p:txBody>
          <a:bodyPr>
            <a:normAutofit/>
          </a:bodyPr>
          <a:lstStyle/>
          <a:p>
            <a:pPr marL="0" indent="0" algn="just" fontAlgn="base">
              <a:buNone/>
            </a:pPr>
            <a:r>
              <a:rPr lang="en-US" sz="2000" b="1" dirty="0" smtClean="0">
                <a:latin typeface="Cambria" panose="02040503050406030204" pitchFamily="18" charset="0"/>
                <a:ea typeface="Cambria" panose="02040503050406030204" pitchFamily="18" charset="0"/>
              </a:rPr>
              <a:t>Generation </a:t>
            </a:r>
            <a:r>
              <a:rPr lang="en-US" sz="2000" b="1" dirty="0">
                <a:latin typeface="Cambria" panose="02040503050406030204" pitchFamily="18" charset="0"/>
                <a:ea typeface="Cambria" panose="02040503050406030204" pitchFamily="18" charset="0"/>
              </a:rPr>
              <a:t>of a state space tree:</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As in the case of backtracking, B&amp;B generates a state space tree to efficiently search the solution space of a given problem instance.</a:t>
            </a:r>
          </a:p>
          <a:p>
            <a:pPr algn="just" fontAlgn="base">
              <a:lnSpc>
                <a:spcPct val="120000"/>
              </a:lnSpc>
            </a:pPr>
            <a:r>
              <a:rPr lang="en-US" sz="2000" dirty="0">
                <a:latin typeface="Cambria" panose="02040503050406030204" pitchFamily="18" charset="0"/>
                <a:ea typeface="Cambria" panose="02040503050406030204" pitchFamily="18" charset="0"/>
              </a:rPr>
              <a:t>In B&amp;B, all children of an E-node in a state space tree are produced before any live node gets converted in an E-node. Thus, the E-node remains an E-node until </a:t>
            </a:r>
            <a:r>
              <a:rPr lang="en-US" sz="2000" dirty="0" err="1">
                <a:latin typeface="Cambria" panose="02040503050406030204" pitchFamily="18" charset="0"/>
                <a:ea typeface="Cambria" panose="02040503050406030204" pitchFamily="18" charset="0"/>
              </a:rPr>
              <a:t>i</a:t>
            </a:r>
            <a:r>
              <a:rPr lang="en-US" sz="2000" dirty="0">
                <a:latin typeface="Cambria" panose="02040503050406030204" pitchFamily="18" charset="0"/>
                <a:ea typeface="Cambria" panose="02040503050406030204" pitchFamily="18" charset="0"/>
              </a:rPr>
              <a:t> becomes a dead node</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pPr marL="0" indent="0" algn="just" fontAlgn="base">
              <a:buNone/>
            </a:pPr>
            <a:r>
              <a:rPr lang="en-US" sz="2000" b="1" dirty="0">
                <a:latin typeface="Cambria" panose="02040503050406030204" pitchFamily="18" charset="0"/>
                <a:ea typeface="Cambria" panose="02040503050406030204" pitchFamily="18" charset="0"/>
              </a:rPr>
              <a:t>Evaluation of a candidate </a:t>
            </a:r>
            <a:r>
              <a:rPr lang="en-US" sz="2400" b="1" dirty="0">
                <a:latin typeface="Cambria" panose="02040503050406030204" pitchFamily="18" charset="0"/>
                <a:ea typeface="Cambria" panose="02040503050406030204" pitchFamily="18" charset="0"/>
              </a:rPr>
              <a:t>solution</a:t>
            </a:r>
            <a:r>
              <a:rPr lang="en-US" sz="2000" b="1" dirty="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Unlike backtracking, B&amp;B needs additional factors evaluate a candidate solution:</a:t>
            </a:r>
          </a:p>
          <a:p>
            <a:pPr algn="just" fontAlgn="base">
              <a:lnSpc>
                <a:spcPct val="120000"/>
              </a:lnSpc>
            </a:pPr>
            <a:r>
              <a:rPr lang="en-US" sz="2000" dirty="0">
                <a:latin typeface="Cambria" panose="02040503050406030204" pitchFamily="18" charset="0"/>
                <a:ea typeface="Cambria" panose="02040503050406030204" pitchFamily="18" charset="0"/>
              </a:rPr>
              <a:t>A way to assign a bound on the best values of the given criterion functions to each node in a state space tree: It is produced by the addition of further components to the partial solution given by that node.</a:t>
            </a:r>
          </a:p>
          <a:p>
            <a:pPr algn="just" fontAlgn="base">
              <a:lnSpc>
                <a:spcPct val="120000"/>
              </a:lnSpc>
            </a:pPr>
            <a:r>
              <a:rPr lang="en-US" sz="2000" dirty="0">
                <a:latin typeface="Cambria" panose="02040503050406030204" pitchFamily="18" charset="0"/>
                <a:ea typeface="Cambria" panose="02040503050406030204" pitchFamily="18" charset="0"/>
              </a:rPr>
              <a:t>The best values of a given criterion function obtained so far: It describes the upper bound for the maximization problem and the lower bound for the minimization problem.</a:t>
            </a:r>
          </a:p>
          <a:p>
            <a:pPr algn="just"/>
            <a:endParaRPr lang="en-US" sz="14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2262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6" y="1205345"/>
            <a:ext cx="11069782" cy="5444837"/>
          </a:xfrm>
        </p:spPr>
        <p:txBody>
          <a:bodyPr>
            <a:noAutofit/>
          </a:bodyPr>
          <a:lstStyle/>
          <a:p>
            <a:pPr algn="just" fontAlgn="base">
              <a:lnSpc>
                <a:spcPct val="120000"/>
              </a:lnSpc>
            </a:pPr>
            <a:r>
              <a:rPr lang="en-US" sz="2000" dirty="0">
                <a:latin typeface="Cambria" panose="02040503050406030204" pitchFamily="18" charset="0"/>
                <a:ea typeface="Cambria" panose="02040503050406030204" pitchFamily="18" charset="0"/>
              </a:rPr>
              <a:t>A feasible solution is defined by the problem states that satisfy all the given constraints.</a:t>
            </a:r>
          </a:p>
          <a:p>
            <a:pPr algn="just" fontAlgn="base">
              <a:lnSpc>
                <a:spcPct val="120000"/>
              </a:lnSpc>
            </a:pPr>
            <a:r>
              <a:rPr lang="en-US" sz="2000" dirty="0">
                <a:latin typeface="Cambria" panose="02040503050406030204" pitchFamily="18" charset="0"/>
                <a:ea typeface="Cambria" panose="02040503050406030204" pitchFamily="18" charset="0"/>
              </a:rPr>
              <a:t>An </a:t>
            </a:r>
            <a:r>
              <a:rPr lang="en-US" sz="2000" b="1" dirty="0">
                <a:latin typeface="Cambria" panose="02040503050406030204" pitchFamily="18" charset="0"/>
                <a:ea typeface="Cambria" panose="02040503050406030204" pitchFamily="18" charset="0"/>
              </a:rPr>
              <a:t>optimal solution</a:t>
            </a:r>
            <a:r>
              <a:rPr lang="en-US" sz="2000" dirty="0">
                <a:latin typeface="Cambria" panose="02040503050406030204" pitchFamily="18" charset="0"/>
                <a:ea typeface="Cambria" panose="02040503050406030204" pitchFamily="18" charset="0"/>
              </a:rPr>
              <a:t> is a feasible solution, which produces the best value of a given objective function.</a:t>
            </a:r>
          </a:p>
          <a:p>
            <a:pPr marL="0" indent="0" algn="just" fontAlgn="base">
              <a:lnSpc>
                <a:spcPct val="120000"/>
              </a:lnSpc>
              <a:buNone/>
            </a:pPr>
            <a:r>
              <a:rPr lang="en-US" sz="2000" b="1" dirty="0" smtClean="0">
                <a:latin typeface="Cambria" panose="02040503050406030204" pitchFamily="18" charset="0"/>
                <a:ea typeface="Cambria" panose="02040503050406030204" pitchFamily="18" charset="0"/>
              </a:rPr>
              <a:t>Bounding </a:t>
            </a:r>
            <a:r>
              <a:rPr lang="en-US" sz="2000" b="1" dirty="0">
                <a:latin typeface="Cambria" panose="02040503050406030204" pitchFamily="18" charset="0"/>
                <a:ea typeface="Cambria" panose="02040503050406030204" pitchFamily="18" charset="0"/>
              </a:rPr>
              <a:t>function :</a:t>
            </a:r>
            <a:endParaRPr lang="en-US" sz="2000" dirty="0">
              <a:latin typeface="Cambria" panose="02040503050406030204" pitchFamily="18" charset="0"/>
              <a:ea typeface="Cambria" panose="02040503050406030204" pitchFamily="18" charset="0"/>
            </a:endParaRPr>
          </a:p>
          <a:p>
            <a:pPr algn="just" fontAlgn="base">
              <a:lnSpc>
                <a:spcPct val="120000"/>
              </a:lnSpc>
            </a:pPr>
            <a:r>
              <a:rPr lang="en-US" sz="2000" dirty="0">
                <a:latin typeface="Cambria" panose="02040503050406030204" pitchFamily="18" charset="0"/>
                <a:ea typeface="Cambria" panose="02040503050406030204" pitchFamily="18" charset="0"/>
              </a:rPr>
              <a:t>It optimizes the search for a solution vector in the solution space of a given problem instance.</a:t>
            </a:r>
          </a:p>
          <a:p>
            <a:pPr algn="just" fontAlgn="base">
              <a:lnSpc>
                <a:spcPct val="120000"/>
              </a:lnSpc>
            </a:pPr>
            <a:r>
              <a:rPr lang="en-US" sz="2000" dirty="0">
                <a:latin typeface="Cambria" panose="02040503050406030204" pitchFamily="18" charset="0"/>
                <a:ea typeface="Cambria" panose="02040503050406030204" pitchFamily="18" charset="0"/>
              </a:rPr>
              <a:t>It is a heuristic function that evaluates the lower and upper bounds on the possible solutions at each node. The bound values are used to search the partial solutions leading to an optimal solution. If a node does not produce a solution better than the best solution obtained thus far, then it is abandoned without further exploration.</a:t>
            </a:r>
          </a:p>
          <a:p>
            <a:pPr algn="just" fontAlgn="base">
              <a:lnSpc>
                <a:spcPct val="120000"/>
              </a:lnSpc>
            </a:pPr>
            <a:r>
              <a:rPr lang="en-US" sz="2000" dirty="0">
                <a:latin typeface="Cambria" panose="02040503050406030204" pitchFamily="18" charset="0"/>
                <a:ea typeface="Cambria" panose="02040503050406030204" pitchFamily="18" charset="0"/>
              </a:rPr>
              <a:t>The algorithm then branches to another path to get a better solution. The desired solution to the problem is the value of the best solution produced so far.</a:t>
            </a:r>
          </a:p>
          <a:p>
            <a:pPr>
              <a:lnSpc>
                <a:spcPct val="120000"/>
              </a:lnSpc>
            </a:pPr>
            <a:endParaRPr lang="en-US" sz="2400"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7540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872" y="957262"/>
            <a:ext cx="10515600" cy="1325563"/>
          </a:xfrm>
        </p:spPr>
        <p:txBody>
          <a:bodyPr/>
          <a:lstStyle/>
          <a:p>
            <a:r>
              <a:rPr lang="en-US" dirty="0">
                <a:latin typeface="Cambria" panose="02040503050406030204" pitchFamily="18" charset="0"/>
                <a:ea typeface="Cambria" panose="02040503050406030204" pitchFamily="18" charset="0"/>
              </a:rPr>
              <a:t>The reasons to dismiss a search path at the current node :</a:t>
            </a:r>
          </a:p>
        </p:txBody>
      </p:sp>
      <p:sp>
        <p:nvSpPr>
          <p:cNvPr id="3" name="Content Placeholder 2"/>
          <p:cNvSpPr>
            <a:spLocks noGrp="1"/>
          </p:cNvSpPr>
          <p:nvPr>
            <p:ph idx="1"/>
          </p:nvPr>
        </p:nvSpPr>
        <p:spPr>
          <a:xfrm>
            <a:off x="360218" y="2282825"/>
            <a:ext cx="11471563" cy="4575175"/>
          </a:xfrm>
        </p:spPr>
        <p:txBody>
          <a:bodyPr>
            <a:normAutofit/>
          </a:bodyPr>
          <a:lstStyle/>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bound value of the node is lower than the upper bound in the case of the maximization problem and higher than the lower bound in the case of the minimization problem. (i.e. the bound value of the </a:t>
            </a:r>
            <a:r>
              <a:rPr lang="en-US" sz="2400" dirty="0" err="1" smtClean="0">
                <a:latin typeface="Cambria" panose="02040503050406030204" pitchFamily="18" charset="0"/>
                <a:ea typeface="Cambria" panose="02040503050406030204" pitchFamily="18" charset="0"/>
              </a:rPr>
              <a:t>subnode</a:t>
            </a:r>
            <a:r>
              <a:rPr lang="en-US" sz="2400" dirty="0" smtClean="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is not better than the value of the best solution obtained until that node).</a:t>
            </a:r>
          </a:p>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node represents infeasible solutions, </a:t>
            </a:r>
            <a:r>
              <a:rPr lang="en-US" sz="2400" dirty="0" smtClean="0">
                <a:latin typeface="Cambria" panose="02040503050406030204" pitchFamily="18" charset="0"/>
                <a:ea typeface="Cambria" panose="02040503050406030204" pitchFamily="18" charset="0"/>
              </a:rPr>
              <a:t>violation </a:t>
            </a:r>
            <a:r>
              <a:rPr lang="en-US" sz="2400" dirty="0">
                <a:latin typeface="Cambria" panose="02040503050406030204" pitchFamily="18" charset="0"/>
                <a:ea typeface="Cambria" panose="02040503050406030204" pitchFamily="18" charset="0"/>
              </a:rPr>
              <a:t>of the constraints of the problem.</a:t>
            </a:r>
          </a:p>
          <a:p>
            <a:pPr algn="just" fontAlgn="base">
              <a:lnSpc>
                <a:spcPct val="100000"/>
              </a:lnSpc>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node represents a subset of a feasible solution containing a single point. In this case, if the latest solution is better than the best solution obtained so far the best solution is modified to the value of a feasible solution at that node.</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987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5017" y="1094509"/>
            <a:ext cx="10945091" cy="5237018"/>
          </a:xfrm>
        </p:spPr>
        <p:txBody>
          <a:bodyPr>
            <a:normAutofit fontScale="77500" lnSpcReduction="20000"/>
          </a:bodyPr>
          <a:lstStyle/>
          <a:p>
            <a:pPr marL="0" indent="0" algn="just" fontAlgn="base">
              <a:lnSpc>
                <a:spcPct val="110000"/>
              </a:lnSpc>
              <a:buNone/>
            </a:pPr>
            <a:r>
              <a:rPr lang="en-US" b="1" dirty="0">
                <a:latin typeface="Cambria" panose="02040503050406030204" pitchFamily="18" charset="0"/>
                <a:ea typeface="Cambria" panose="02040503050406030204" pitchFamily="18" charset="0"/>
              </a:rPr>
              <a:t>Types of Branch and Bound Solutions:</a:t>
            </a:r>
          </a:p>
          <a:p>
            <a:pPr marL="0" indent="0" algn="just" fontAlgn="base">
              <a:lnSpc>
                <a:spcPct val="110000"/>
              </a:lnSpc>
              <a:buNone/>
            </a:pPr>
            <a:r>
              <a:rPr lang="en-US" dirty="0">
                <a:latin typeface="Cambria" panose="02040503050406030204" pitchFamily="18" charset="0"/>
                <a:ea typeface="Cambria" panose="02040503050406030204" pitchFamily="18" charset="0"/>
              </a:rPr>
              <a:t>The solution of the Branch and the bound problem can be represented in two ways</a:t>
            </a:r>
            <a:r>
              <a:rPr lang="en-US" dirty="0" smtClean="0">
                <a:latin typeface="Cambria" panose="02040503050406030204" pitchFamily="18" charset="0"/>
                <a:ea typeface="Cambria" panose="02040503050406030204" pitchFamily="18" charset="0"/>
              </a:rPr>
              <a:t>:</a:t>
            </a:r>
          </a:p>
          <a:p>
            <a:pPr marL="0" indent="0" algn="just" fontAlgn="base">
              <a:lnSpc>
                <a:spcPct val="110000"/>
              </a:lnSpc>
              <a:buNone/>
            </a:pPr>
            <a:endParaRPr lang="en-US" dirty="0">
              <a:latin typeface="Cambria" panose="02040503050406030204" pitchFamily="18" charset="0"/>
              <a:ea typeface="Cambria" panose="02040503050406030204" pitchFamily="18" charset="0"/>
            </a:endParaRPr>
          </a:p>
          <a:p>
            <a:pPr algn="just" fontAlgn="base">
              <a:lnSpc>
                <a:spcPct val="110000"/>
              </a:lnSpc>
            </a:pPr>
            <a:r>
              <a:rPr lang="en-US" b="1" dirty="0">
                <a:latin typeface="Cambria" panose="02040503050406030204" pitchFamily="18" charset="0"/>
                <a:ea typeface="Cambria" panose="02040503050406030204" pitchFamily="18" charset="0"/>
              </a:rPr>
              <a:t>Variable size solution: </a:t>
            </a:r>
            <a:r>
              <a:rPr lang="en-US" dirty="0">
                <a:latin typeface="Cambria" panose="02040503050406030204" pitchFamily="18" charset="0"/>
                <a:ea typeface="Cambria" panose="02040503050406030204" pitchFamily="18" charset="0"/>
              </a:rPr>
              <a:t>Using this solution, we can find the subset of the given set that gives the optimized solution to the given problem. For example, if we have to select a combination of elements from {A, B, C, D} that optimizes the given problem, and it is found that A and B together give the best solution, then the solution will be {A, B</a:t>
            </a:r>
            <a:r>
              <a:rPr lang="en-US" dirty="0" smtClean="0">
                <a:latin typeface="Cambria" panose="02040503050406030204" pitchFamily="18" charset="0"/>
                <a:ea typeface="Cambria" panose="02040503050406030204" pitchFamily="18" charset="0"/>
              </a:rPr>
              <a:t>}.</a:t>
            </a:r>
          </a:p>
          <a:p>
            <a:pPr algn="just" fontAlgn="base">
              <a:lnSpc>
                <a:spcPct val="110000"/>
              </a:lnSpc>
            </a:pPr>
            <a:endParaRPr lang="en-US" dirty="0">
              <a:latin typeface="Cambria" panose="02040503050406030204" pitchFamily="18" charset="0"/>
              <a:ea typeface="Cambria" panose="02040503050406030204" pitchFamily="18" charset="0"/>
            </a:endParaRPr>
          </a:p>
          <a:p>
            <a:pPr algn="just" fontAlgn="base">
              <a:lnSpc>
                <a:spcPct val="110000"/>
              </a:lnSpc>
            </a:pPr>
            <a:r>
              <a:rPr lang="en-US" b="1" dirty="0">
                <a:latin typeface="Cambria" panose="02040503050406030204" pitchFamily="18" charset="0"/>
                <a:ea typeface="Cambria" panose="02040503050406030204" pitchFamily="18" charset="0"/>
              </a:rPr>
              <a:t>Fixed-size solution: </a:t>
            </a:r>
            <a:r>
              <a:rPr lang="en-US" dirty="0">
                <a:latin typeface="Cambria" panose="02040503050406030204" pitchFamily="18" charset="0"/>
                <a:ea typeface="Cambria" panose="02040503050406030204" pitchFamily="18" charset="0"/>
              </a:rPr>
              <a:t>There are 0s and 1s in this solution, with the digit at the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 indicating whether the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element should be included, for the above example, the solution will be given by {1, 1, 0, 0}, here 1 represent that we have select the element which at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 and 0 represent we don’t select the element at </a:t>
            </a:r>
            <a:r>
              <a:rPr lang="en-US" dirty="0" err="1">
                <a:latin typeface="Cambria" panose="02040503050406030204" pitchFamily="18" charset="0"/>
                <a:ea typeface="Cambria" panose="02040503050406030204" pitchFamily="18" charset="0"/>
              </a:rPr>
              <a:t>ith</a:t>
            </a:r>
            <a:r>
              <a:rPr lang="en-US" dirty="0">
                <a:latin typeface="Cambria" panose="02040503050406030204" pitchFamily="18" charset="0"/>
                <a:ea typeface="Cambria" panose="02040503050406030204" pitchFamily="18" charset="0"/>
              </a:rPr>
              <a:t> position.</a:t>
            </a:r>
          </a:p>
          <a:p>
            <a:pPr>
              <a:lnSpc>
                <a:spcPct val="110000"/>
              </a:lnSpc>
            </a:pPr>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864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637" y="861652"/>
            <a:ext cx="10515600" cy="1325563"/>
          </a:xfrm>
        </p:spPr>
        <p:txBody>
          <a:bodyPr>
            <a:normAutofit fontScale="90000"/>
          </a:bodyPr>
          <a:lstStyle/>
          <a:p>
            <a:r>
              <a:rPr lang="en-US" sz="4000" b="1" dirty="0">
                <a:latin typeface="Cambria" panose="02040503050406030204" pitchFamily="18" charset="0"/>
                <a:ea typeface="Cambria" panose="02040503050406030204" pitchFamily="18" charset="0"/>
              </a:rPr>
              <a:t>Classification of Branch and Bound Problems:</a:t>
            </a:r>
            <a:r>
              <a:rPr lang="en-US" b="1" dirty="0">
                <a:latin typeface="Cambria" panose="02040503050406030204" pitchFamily="18" charset="0"/>
                <a:ea typeface="Cambria" panose="02040503050406030204" pitchFamily="18" charset="0"/>
              </a:rPr>
              <a:t/>
            </a:r>
            <a:br>
              <a:rPr lang="en-US" b="1"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marL="0" indent="0" fontAlgn="base">
              <a:buNone/>
            </a:pPr>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Branch and Bound method can be classified into three types based on the order in which the state space tree is searched. </a:t>
            </a:r>
            <a:endParaRPr lang="en-US" dirty="0" smtClean="0">
              <a:latin typeface="Cambria" panose="02040503050406030204" pitchFamily="18" charset="0"/>
              <a:ea typeface="Cambria" panose="02040503050406030204" pitchFamily="18" charset="0"/>
            </a:endParaRPr>
          </a:p>
          <a:p>
            <a:pPr marL="0" indent="0" fontAlgn="base">
              <a:buNone/>
            </a:pPr>
            <a:endParaRPr lang="en-US" dirty="0">
              <a:latin typeface="Cambria" panose="02040503050406030204" pitchFamily="18" charset="0"/>
              <a:ea typeface="Cambria" panose="02040503050406030204" pitchFamily="18" charset="0"/>
            </a:endParaRPr>
          </a:p>
          <a:p>
            <a:pPr fontAlgn="base"/>
            <a:r>
              <a:rPr lang="en-US" dirty="0">
                <a:latin typeface="Cambria" panose="02040503050406030204" pitchFamily="18" charset="0"/>
                <a:ea typeface="Cambria" panose="02040503050406030204" pitchFamily="18" charset="0"/>
              </a:rPr>
              <a:t>FIFO Branch and Bound</a:t>
            </a:r>
          </a:p>
          <a:p>
            <a:pPr fontAlgn="base"/>
            <a:r>
              <a:rPr lang="en-US" dirty="0">
                <a:latin typeface="Cambria" panose="02040503050406030204" pitchFamily="18" charset="0"/>
                <a:ea typeface="Cambria" panose="02040503050406030204" pitchFamily="18" charset="0"/>
              </a:rPr>
              <a:t>LIFO Branch and Bound</a:t>
            </a:r>
          </a:p>
          <a:p>
            <a:pPr fontAlgn="base"/>
            <a:r>
              <a:rPr lang="en-US" dirty="0">
                <a:latin typeface="Cambria" panose="02040503050406030204" pitchFamily="18" charset="0"/>
                <a:ea typeface="Cambria" panose="02040503050406030204" pitchFamily="18" charset="0"/>
              </a:rPr>
              <a:t>Least Cost-Branch and Bound</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0402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8982" y="928255"/>
            <a:ext cx="10314709" cy="3780126"/>
          </a:xfrm>
        </p:spPr>
        <p:txBody>
          <a:bodyPr>
            <a:normAutofit lnSpcReduction="10000"/>
          </a:bodyPr>
          <a:lstStyle/>
          <a:p>
            <a:pPr marL="0" indent="0" fontAlgn="base">
              <a:buNone/>
            </a:pPr>
            <a:r>
              <a:rPr lang="en-US" b="1" dirty="0">
                <a:solidFill>
                  <a:srgbClr val="273239"/>
                </a:solidFill>
                <a:latin typeface="Nunito"/>
              </a:rPr>
              <a:t>1. FIFO Branch and </a:t>
            </a:r>
            <a:r>
              <a:rPr lang="en-US" b="1" dirty="0" smtClean="0">
                <a:solidFill>
                  <a:srgbClr val="273239"/>
                </a:solidFill>
                <a:latin typeface="Nunito"/>
              </a:rPr>
              <a:t>Bound (Queue)</a:t>
            </a:r>
            <a:endParaRPr lang="en-US" b="1" dirty="0">
              <a:solidFill>
                <a:srgbClr val="273239"/>
              </a:solidFill>
              <a:latin typeface="Nunito"/>
            </a:endParaRPr>
          </a:p>
          <a:p>
            <a:pPr marL="0" indent="0" algn="just" fontAlgn="base">
              <a:buNone/>
            </a:pPr>
            <a:r>
              <a:rPr lang="en-US" sz="2400" dirty="0">
                <a:solidFill>
                  <a:srgbClr val="273239"/>
                </a:solidFill>
                <a:latin typeface="Cambria" panose="02040503050406030204" pitchFamily="18" charset="0"/>
                <a:ea typeface="Cambria" panose="02040503050406030204" pitchFamily="18" charset="0"/>
              </a:rPr>
              <a:t>First-In-First-Out is an approach to the branch and bound problem that uses the queue approach to create a state-space tree. In this case, the breadth-first search is performed, that is, the elements at a certain level are all searched, and then the elements at the next level are searched, starting with the first child of the first node at the previous </a:t>
            </a:r>
            <a:r>
              <a:rPr lang="en-US" sz="2400" dirty="0" smtClean="0">
                <a:solidFill>
                  <a:srgbClr val="273239"/>
                </a:solidFill>
                <a:latin typeface="Cambria" panose="02040503050406030204" pitchFamily="18" charset="0"/>
                <a:ea typeface="Cambria" panose="02040503050406030204" pitchFamily="18" charset="0"/>
              </a:rPr>
              <a:t>level.</a:t>
            </a:r>
          </a:p>
          <a:p>
            <a:pPr marL="0" indent="0" algn="just" fontAlgn="base">
              <a:buNone/>
            </a:pPr>
            <a:r>
              <a:rPr lang="en-US" dirty="0" smtClean="0">
                <a:latin typeface="Cambria" panose="02040503050406030204" pitchFamily="18" charset="0"/>
                <a:ea typeface="Cambria" panose="02040503050406030204" pitchFamily="18" charset="0"/>
              </a:rPr>
              <a:t>For </a:t>
            </a:r>
            <a:r>
              <a:rPr lang="en-US" dirty="0">
                <a:latin typeface="Cambria" panose="02040503050406030204" pitchFamily="18" charset="0"/>
                <a:ea typeface="Cambria" panose="02040503050406030204" pitchFamily="18" charset="0"/>
              </a:rPr>
              <a:t>a given set {A, B, C, D}, the state space tree will be constructed as follows :</a:t>
            </a:r>
          </a:p>
          <a:p>
            <a:pPr marL="0" indent="0">
              <a:buNone/>
            </a:pPr>
            <a:r>
              <a:rPr lang="en-US" dirty="0"/>
              <a:t/>
            </a:r>
            <a:br>
              <a:rPr lang="en-US" dirty="0"/>
            </a:br>
            <a:endParaRPr lang="en-US" dirty="0"/>
          </a:p>
        </p:txBody>
      </p:sp>
      <p:pic>
        <p:nvPicPr>
          <p:cNvPr id="307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54" y="3681573"/>
            <a:ext cx="3325091" cy="24810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3325091" y="3637973"/>
            <a:ext cx="4156297" cy="2782199"/>
          </a:xfrm>
          <a:prstGeom prst="rect">
            <a:avLst/>
          </a:prstGeom>
        </p:spPr>
      </p:pic>
      <p:pic>
        <p:nvPicPr>
          <p:cNvPr id="6" name="Picture 5"/>
          <p:cNvPicPr>
            <a:picLocks noChangeAspect="1"/>
          </p:cNvPicPr>
          <p:nvPr/>
        </p:nvPicPr>
        <p:blipFill>
          <a:blip r:embed="rId4"/>
          <a:stretch>
            <a:fillRect/>
          </a:stretch>
        </p:blipFill>
        <p:spPr>
          <a:xfrm>
            <a:off x="7481388" y="3423982"/>
            <a:ext cx="4431147" cy="2996190"/>
          </a:xfrm>
          <a:prstGeom prst="rect">
            <a:avLst/>
          </a:prstGeom>
        </p:spPr>
      </p:pic>
      <p:sp>
        <p:nvSpPr>
          <p:cNvPr id="7" name="TextBox 6"/>
          <p:cNvSpPr txBox="1"/>
          <p:nvPr/>
        </p:nvSpPr>
        <p:spPr>
          <a:xfrm>
            <a:off x="429491" y="6097006"/>
            <a:ext cx="2147455" cy="646331"/>
          </a:xfrm>
          <a:prstGeom prst="rect">
            <a:avLst/>
          </a:prstGeom>
          <a:noFill/>
        </p:spPr>
        <p:txBody>
          <a:bodyPr wrap="square" rtlCol="0">
            <a:spAutoFit/>
          </a:bodyPr>
          <a:lstStyle/>
          <a:p>
            <a:r>
              <a:rPr lang="en-US" i="1" dirty="0"/>
              <a:t>State Space tree for set {A, B, C, D}</a:t>
            </a:r>
            <a:endParaRPr lang="en-US" dirty="0"/>
          </a:p>
        </p:txBody>
      </p:sp>
      <p:sp>
        <p:nvSpPr>
          <p:cNvPr id="8" name="TextBox 7"/>
          <p:cNvSpPr txBox="1"/>
          <p:nvPr/>
        </p:nvSpPr>
        <p:spPr>
          <a:xfrm>
            <a:off x="4405745" y="6284202"/>
            <a:ext cx="3020291" cy="369332"/>
          </a:xfrm>
          <a:prstGeom prst="rect">
            <a:avLst/>
          </a:prstGeom>
          <a:noFill/>
        </p:spPr>
        <p:txBody>
          <a:bodyPr wrap="square" rtlCol="0">
            <a:spAutoFit/>
          </a:bodyPr>
          <a:lstStyle/>
          <a:p>
            <a:r>
              <a:rPr lang="en-US" i="1" dirty="0"/>
              <a:t>Selecting element A</a:t>
            </a:r>
            <a:endParaRPr lang="en-US" dirty="0"/>
          </a:p>
        </p:txBody>
      </p:sp>
      <p:sp>
        <p:nvSpPr>
          <p:cNvPr id="9" name="TextBox 8"/>
          <p:cNvSpPr txBox="1"/>
          <p:nvPr/>
        </p:nvSpPr>
        <p:spPr>
          <a:xfrm>
            <a:off x="8194895" y="6211669"/>
            <a:ext cx="3415146" cy="646331"/>
          </a:xfrm>
          <a:prstGeom prst="rect">
            <a:avLst/>
          </a:prstGeom>
          <a:noFill/>
        </p:spPr>
        <p:txBody>
          <a:bodyPr wrap="square" rtlCol="0">
            <a:spAutoFit/>
          </a:bodyPr>
          <a:lstStyle/>
          <a:p>
            <a:r>
              <a:rPr lang="en-US" i="1" dirty="0"/>
              <a:t>Considered element B and not considered element A</a:t>
            </a:r>
            <a:endParaRPr lang="en-US" dirty="0"/>
          </a:p>
        </p:txBody>
      </p:sp>
      <p:pic>
        <p:nvPicPr>
          <p:cNvPr id="10" name="Picture 9"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592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65644" y="192096"/>
            <a:ext cx="4202513" cy="2843356"/>
          </a:xfrm>
          <a:prstGeom prst="rect">
            <a:avLst/>
          </a:prstGeom>
        </p:spPr>
      </p:pic>
      <p:pic>
        <p:nvPicPr>
          <p:cNvPr id="5" name="Picture 4"/>
          <p:cNvPicPr>
            <a:picLocks noChangeAspect="1"/>
          </p:cNvPicPr>
          <p:nvPr/>
        </p:nvPicPr>
        <p:blipFill>
          <a:blip r:embed="rId3"/>
          <a:stretch>
            <a:fillRect/>
          </a:stretch>
        </p:blipFill>
        <p:spPr>
          <a:xfrm>
            <a:off x="5290706" y="192096"/>
            <a:ext cx="4504458" cy="3284087"/>
          </a:xfrm>
          <a:prstGeom prst="rect">
            <a:avLst/>
          </a:prstGeom>
        </p:spPr>
      </p:pic>
      <p:pic>
        <p:nvPicPr>
          <p:cNvPr id="6" name="Picture 5"/>
          <p:cNvPicPr>
            <a:picLocks noChangeAspect="1"/>
          </p:cNvPicPr>
          <p:nvPr/>
        </p:nvPicPr>
        <p:blipFill>
          <a:blip r:embed="rId4"/>
          <a:stretch>
            <a:fillRect/>
          </a:stretch>
        </p:blipFill>
        <p:spPr>
          <a:xfrm>
            <a:off x="365644" y="3348069"/>
            <a:ext cx="4814226" cy="3509931"/>
          </a:xfrm>
          <a:prstGeom prst="rect">
            <a:avLst/>
          </a:prstGeom>
        </p:spPr>
      </p:pic>
      <p:pic>
        <p:nvPicPr>
          <p:cNvPr id="7" name="Picture 6"/>
          <p:cNvPicPr>
            <a:picLocks noChangeAspect="1"/>
          </p:cNvPicPr>
          <p:nvPr/>
        </p:nvPicPr>
        <p:blipFill>
          <a:blip r:embed="rId5"/>
          <a:stretch>
            <a:fillRect/>
          </a:stretch>
        </p:blipFill>
        <p:spPr>
          <a:xfrm>
            <a:off x="6648450" y="2713250"/>
            <a:ext cx="5543550" cy="4047768"/>
          </a:xfrm>
          <a:prstGeom prst="rect">
            <a:avLst/>
          </a:prstGeom>
        </p:spPr>
      </p:pic>
      <p:sp>
        <p:nvSpPr>
          <p:cNvPr id="8" name="TextBox 7"/>
          <p:cNvSpPr txBox="1"/>
          <p:nvPr/>
        </p:nvSpPr>
        <p:spPr>
          <a:xfrm>
            <a:off x="948364" y="3024903"/>
            <a:ext cx="3061854" cy="646331"/>
          </a:xfrm>
          <a:prstGeom prst="rect">
            <a:avLst/>
          </a:prstGeom>
          <a:noFill/>
        </p:spPr>
        <p:txBody>
          <a:bodyPr wrap="square" rtlCol="0">
            <a:spAutoFit/>
          </a:bodyPr>
          <a:lstStyle/>
          <a:p>
            <a:r>
              <a:rPr lang="en-US" i="1" dirty="0"/>
              <a:t>Considered elements C and not considered elements A and B</a:t>
            </a:r>
            <a:endParaRPr lang="en-US" dirty="0"/>
          </a:p>
        </p:txBody>
      </p:sp>
      <p:sp>
        <p:nvSpPr>
          <p:cNvPr id="9" name="TextBox 8"/>
          <p:cNvSpPr txBox="1"/>
          <p:nvPr/>
        </p:nvSpPr>
        <p:spPr>
          <a:xfrm>
            <a:off x="7258916" y="2840237"/>
            <a:ext cx="2536248" cy="369332"/>
          </a:xfrm>
          <a:prstGeom prst="rect">
            <a:avLst/>
          </a:prstGeom>
          <a:noFill/>
        </p:spPr>
        <p:txBody>
          <a:bodyPr wrap="square" rtlCol="0">
            <a:spAutoFit/>
          </a:bodyPr>
          <a:lstStyle/>
          <a:p>
            <a:r>
              <a:rPr lang="en-US" i="1" dirty="0"/>
              <a:t>Expand node 6</a:t>
            </a:r>
            <a:endParaRPr lang="en-US" dirty="0"/>
          </a:p>
        </p:txBody>
      </p:sp>
      <p:sp>
        <p:nvSpPr>
          <p:cNvPr id="10" name="TextBox 9"/>
          <p:cNvSpPr txBox="1"/>
          <p:nvPr/>
        </p:nvSpPr>
        <p:spPr>
          <a:xfrm>
            <a:off x="2643622" y="6134709"/>
            <a:ext cx="2536248" cy="369332"/>
          </a:xfrm>
          <a:prstGeom prst="rect">
            <a:avLst/>
          </a:prstGeom>
          <a:noFill/>
        </p:spPr>
        <p:txBody>
          <a:bodyPr wrap="square" rtlCol="0">
            <a:spAutoFit/>
          </a:bodyPr>
          <a:lstStyle/>
          <a:p>
            <a:r>
              <a:rPr lang="en-US" i="1" dirty="0"/>
              <a:t>Expand node </a:t>
            </a:r>
            <a:r>
              <a:rPr lang="en-US" i="1" dirty="0" smtClean="0"/>
              <a:t>7</a:t>
            </a:r>
            <a:endParaRPr lang="en-US" dirty="0"/>
          </a:p>
        </p:txBody>
      </p:sp>
      <p:sp>
        <p:nvSpPr>
          <p:cNvPr id="11" name="TextBox 10"/>
          <p:cNvSpPr txBox="1"/>
          <p:nvPr/>
        </p:nvSpPr>
        <p:spPr>
          <a:xfrm>
            <a:off x="10071389" y="6208594"/>
            <a:ext cx="2536248" cy="369332"/>
          </a:xfrm>
          <a:prstGeom prst="rect">
            <a:avLst/>
          </a:prstGeom>
          <a:noFill/>
        </p:spPr>
        <p:txBody>
          <a:bodyPr wrap="square" rtlCol="0">
            <a:spAutoFit/>
          </a:bodyPr>
          <a:lstStyle/>
          <a:p>
            <a:r>
              <a:rPr lang="en-US" i="1" dirty="0"/>
              <a:t>Expand node </a:t>
            </a:r>
            <a:r>
              <a:rPr lang="en-US" i="1" dirty="0" smtClean="0"/>
              <a:t>9</a:t>
            </a:r>
            <a:endParaRPr lang="en-US" dirty="0"/>
          </a:p>
        </p:txBody>
      </p:sp>
      <p:pic>
        <p:nvPicPr>
          <p:cNvPr id="12" name="Picture 11" descr="https://ci3.googleusercontent.com/mail-sig/AIorK4xT8k_ZVGbYhunFQaX-H0SL-roQDD29LdbWftjhlA-h5HHa4_w8AGShXAxKQ8uo1EYYVPAKvM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75831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836" y="861652"/>
            <a:ext cx="10377054" cy="4351338"/>
          </a:xfrm>
        </p:spPr>
        <p:txBody>
          <a:bodyPr/>
          <a:lstStyle/>
          <a:p>
            <a:pPr marL="0" indent="0" fontAlgn="base">
              <a:buNone/>
            </a:pPr>
            <a:r>
              <a:rPr lang="en-US" sz="2000" b="1" dirty="0">
                <a:latin typeface="Cambria" panose="02040503050406030204" pitchFamily="18" charset="0"/>
                <a:ea typeface="Cambria" panose="02040503050406030204" pitchFamily="18" charset="0"/>
              </a:rPr>
              <a:t>2. LIFO Branch and </a:t>
            </a:r>
            <a:r>
              <a:rPr lang="en-US" sz="2000" b="1" dirty="0" smtClean="0">
                <a:latin typeface="Cambria" panose="02040503050406030204" pitchFamily="18" charset="0"/>
                <a:ea typeface="Cambria" panose="02040503050406030204" pitchFamily="18" charset="0"/>
              </a:rPr>
              <a:t>Bound (Stack)</a:t>
            </a:r>
            <a:endParaRPr lang="en-US" sz="2000" b="1" dirty="0">
              <a:latin typeface="Cambria" panose="02040503050406030204" pitchFamily="18" charset="0"/>
              <a:ea typeface="Cambria" panose="02040503050406030204" pitchFamily="18" charset="0"/>
            </a:endParaRPr>
          </a:p>
          <a:p>
            <a:pPr fontAlgn="base">
              <a:lnSpc>
                <a:spcPct val="100000"/>
              </a:lnSpc>
            </a:pPr>
            <a:r>
              <a:rPr lang="en-US" sz="2000" dirty="0">
                <a:latin typeface="Cambria" panose="02040503050406030204" pitchFamily="18" charset="0"/>
                <a:ea typeface="Cambria" panose="02040503050406030204" pitchFamily="18" charset="0"/>
              </a:rPr>
              <a:t>The Last-In-First-Out approach for this problem uses stack in creating the state space tree. When nodes are added to a state space tree, they are added to a stack. After all nodes of a level have been added, we pop the topmost element from the stack and explore it.</a:t>
            </a:r>
          </a:p>
          <a:p>
            <a:pPr marL="0" indent="0" fontAlgn="base">
              <a:buNone/>
            </a:pPr>
            <a:r>
              <a:rPr lang="en-US" sz="2000" dirty="0">
                <a:latin typeface="Cambria" panose="02040503050406030204" pitchFamily="18" charset="0"/>
                <a:ea typeface="Cambria" panose="02040503050406030204" pitchFamily="18" charset="0"/>
              </a:rPr>
              <a:t>For a given set {A, B, C, D}, the state space </a:t>
            </a:r>
            <a:r>
              <a:rPr lang="en-US" sz="2400" dirty="0">
                <a:latin typeface="Cambria" panose="02040503050406030204" pitchFamily="18" charset="0"/>
                <a:ea typeface="Cambria" panose="02040503050406030204" pitchFamily="18" charset="0"/>
              </a:rPr>
              <a:t>tree will be constructed as follows :</a:t>
            </a:r>
          </a:p>
          <a:p>
            <a:endParaRPr lang="en-US" dirty="0"/>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22" y="3175516"/>
            <a:ext cx="5137369" cy="21672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5944034" y="2681865"/>
            <a:ext cx="5652222" cy="3489201"/>
          </a:xfrm>
          <a:prstGeom prst="rect">
            <a:avLst/>
          </a:prstGeom>
        </p:spPr>
      </p:pic>
      <p:sp>
        <p:nvSpPr>
          <p:cNvPr id="5" name="TextBox 4"/>
          <p:cNvSpPr txBox="1"/>
          <p:nvPr/>
        </p:nvSpPr>
        <p:spPr>
          <a:xfrm>
            <a:off x="762000" y="5763491"/>
            <a:ext cx="4017818" cy="369332"/>
          </a:xfrm>
          <a:prstGeom prst="rect">
            <a:avLst/>
          </a:prstGeom>
          <a:noFill/>
        </p:spPr>
        <p:txBody>
          <a:bodyPr wrap="square" rtlCol="0">
            <a:spAutoFit/>
          </a:bodyPr>
          <a:lstStyle/>
          <a:p>
            <a:r>
              <a:rPr lang="en-US" i="1" dirty="0"/>
              <a:t>State space tree for element {A, B, C, D}</a:t>
            </a:r>
            <a:endParaRPr lang="en-US" dirty="0"/>
          </a:p>
        </p:txBody>
      </p:sp>
      <p:sp>
        <p:nvSpPr>
          <p:cNvPr id="6" name="TextBox 5"/>
          <p:cNvSpPr txBox="1"/>
          <p:nvPr/>
        </p:nvSpPr>
        <p:spPr>
          <a:xfrm>
            <a:off x="7772399" y="6149150"/>
            <a:ext cx="3228110" cy="369332"/>
          </a:xfrm>
          <a:prstGeom prst="rect">
            <a:avLst/>
          </a:prstGeom>
          <a:noFill/>
        </p:spPr>
        <p:txBody>
          <a:bodyPr wrap="square" rtlCol="0">
            <a:spAutoFit/>
          </a:bodyPr>
          <a:lstStyle/>
          <a:p>
            <a:r>
              <a:rPr lang="en-US" i="1" dirty="0"/>
              <a:t>Expand node 4</a:t>
            </a:r>
            <a:endParaRPr lang="en-US" dirty="0"/>
          </a:p>
        </p:txBody>
      </p:sp>
      <p:pic>
        <p:nvPicPr>
          <p:cNvPr id="7" name="Picture 6" descr="https://ci3.googleusercontent.com/mail-sig/AIorK4xT8k_ZVGbYhunFQaX-H0SL-roQDD29LdbWftjhlA-h5HHa4_w8AGShXAxKQ8uo1EYYVPAKvM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3089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90093" y="370899"/>
            <a:ext cx="4417481" cy="2732520"/>
          </a:xfrm>
          <a:prstGeom prst="rect">
            <a:avLst/>
          </a:prstGeom>
        </p:spPr>
      </p:pic>
      <p:pic>
        <p:nvPicPr>
          <p:cNvPr id="5122" name="Picture 2" descr="Expand nod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4125" y="0"/>
            <a:ext cx="5302966" cy="44058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690548" y="3338945"/>
            <a:ext cx="5713577" cy="3519055"/>
          </a:xfrm>
          <a:prstGeom prst="rect">
            <a:avLst/>
          </a:prstGeom>
        </p:spPr>
      </p:pic>
      <p:sp>
        <p:nvSpPr>
          <p:cNvPr id="6" name="TextBox 5"/>
          <p:cNvSpPr txBox="1"/>
          <p:nvPr/>
        </p:nvSpPr>
        <p:spPr>
          <a:xfrm>
            <a:off x="690548" y="3103419"/>
            <a:ext cx="2094216" cy="369332"/>
          </a:xfrm>
          <a:prstGeom prst="rect">
            <a:avLst/>
          </a:prstGeom>
          <a:noFill/>
        </p:spPr>
        <p:txBody>
          <a:bodyPr wrap="square" rtlCol="0">
            <a:spAutoFit/>
          </a:bodyPr>
          <a:lstStyle/>
          <a:p>
            <a:r>
              <a:rPr lang="en-US" i="1" dirty="0"/>
              <a:t>Expand node 3</a:t>
            </a:r>
            <a:endParaRPr lang="en-US" dirty="0"/>
          </a:p>
        </p:txBody>
      </p:sp>
      <p:sp>
        <p:nvSpPr>
          <p:cNvPr id="8" name="TextBox 7"/>
          <p:cNvSpPr txBox="1"/>
          <p:nvPr/>
        </p:nvSpPr>
        <p:spPr>
          <a:xfrm>
            <a:off x="8310548" y="3602182"/>
            <a:ext cx="2094216" cy="369332"/>
          </a:xfrm>
          <a:prstGeom prst="rect">
            <a:avLst/>
          </a:prstGeom>
          <a:noFill/>
        </p:spPr>
        <p:txBody>
          <a:bodyPr wrap="square" rtlCol="0">
            <a:spAutoFit/>
          </a:bodyPr>
          <a:lstStyle/>
          <a:p>
            <a:r>
              <a:rPr lang="en-US" i="1" dirty="0"/>
              <a:t>Expand node </a:t>
            </a:r>
            <a:r>
              <a:rPr lang="en-US" i="1" dirty="0" smtClean="0"/>
              <a:t>7</a:t>
            </a:r>
            <a:endParaRPr lang="en-US" dirty="0"/>
          </a:p>
        </p:txBody>
      </p:sp>
      <p:sp>
        <p:nvSpPr>
          <p:cNvPr id="9" name="TextBox 8"/>
          <p:cNvSpPr txBox="1"/>
          <p:nvPr/>
        </p:nvSpPr>
        <p:spPr>
          <a:xfrm>
            <a:off x="3539320" y="6091444"/>
            <a:ext cx="2094216" cy="369332"/>
          </a:xfrm>
          <a:prstGeom prst="rect">
            <a:avLst/>
          </a:prstGeom>
          <a:noFill/>
        </p:spPr>
        <p:txBody>
          <a:bodyPr wrap="square" rtlCol="0">
            <a:spAutoFit/>
          </a:bodyPr>
          <a:lstStyle/>
          <a:p>
            <a:r>
              <a:rPr lang="en-US" i="1" dirty="0"/>
              <a:t>Expand node </a:t>
            </a:r>
            <a:r>
              <a:rPr lang="en-US" i="1" dirty="0" smtClean="0"/>
              <a:t>2</a:t>
            </a:r>
            <a:endParaRPr lang="en-US" dirty="0"/>
          </a:p>
        </p:txBody>
      </p:sp>
      <p:pic>
        <p:nvPicPr>
          <p:cNvPr id="10" name="Picture 9" descr="https://ci3.googleusercontent.com/mail-sig/AIorK4xT8k_ZVGbYhunFQaX-H0SL-roQDD29LdbWftjhlA-h5HHa4_w8AGShXAxKQ8uo1EYYVPAKvM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20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018" y="760989"/>
            <a:ext cx="11644746" cy="4351338"/>
          </a:xfrm>
        </p:spPr>
        <p:txBody>
          <a:bodyPr>
            <a:normAutofit/>
          </a:bodyPr>
          <a:lstStyle/>
          <a:p>
            <a:pPr marL="0" indent="0" algn="just" fontAlgn="base">
              <a:buNone/>
            </a:pPr>
            <a:r>
              <a:rPr lang="en-US" sz="2000" b="1" dirty="0">
                <a:latin typeface="Cambria" panose="02040503050406030204" pitchFamily="18" charset="0"/>
                <a:ea typeface="Cambria" panose="02040503050406030204" pitchFamily="18" charset="0"/>
              </a:rPr>
              <a:t>3. Least Cost-Branch and Bound</a:t>
            </a:r>
          </a:p>
          <a:p>
            <a:pPr algn="just" fontAlgn="base"/>
            <a:r>
              <a:rPr lang="en-US" sz="2000" dirty="0">
                <a:latin typeface="Cambria" panose="02040503050406030204" pitchFamily="18" charset="0"/>
                <a:ea typeface="Cambria" panose="02040503050406030204" pitchFamily="18" charset="0"/>
              </a:rPr>
              <a:t>To explore the state space tree, this method uses the cost function. The previous two methods also calculate the cost function at each node but the cost is not been used for further exploration.</a:t>
            </a:r>
          </a:p>
          <a:p>
            <a:pPr algn="just" fontAlgn="base"/>
            <a:r>
              <a:rPr lang="en-US" sz="2000" dirty="0">
                <a:latin typeface="Cambria" panose="02040503050406030204" pitchFamily="18" charset="0"/>
                <a:ea typeface="Cambria" panose="02040503050406030204" pitchFamily="18" charset="0"/>
              </a:rPr>
              <a:t>In this technique, nodes are explored based on their costs, the cost of the node can be defined using the problem and with the help of the given problem, we can define the cost function. Once the cost function is defined, we can define the cost of the node.</a:t>
            </a:r>
          </a:p>
          <a:p>
            <a:pPr marL="0" indent="0" fontAlgn="base">
              <a:buNone/>
            </a:pPr>
            <a:r>
              <a:rPr lang="en-US" sz="2000" dirty="0">
                <a:latin typeface="Cambria" panose="02040503050406030204" pitchFamily="18" charset="0"/>
                <a:ea typeface="Cambria" panose="02040503050406030204" pitchFamily="18" charset="0"/>
              </a:rPr>
              <a:t>Let’s first consider node 1 having cost infinity shown below:</a:t>
            </a:r>
          </a:p>
          <a:p>
            <a:pPr marL="0" indent="0" fontAlgn="base">
              <a:buNone/>
            </a:pPr>
            <a:r>
              <a:rPr lang="en-US" sz="2000" dirty="0">
                <a:latin typeface="Cambria" panose="02040503050406030204" pitchFamily="18" charset="0"/>
                <a:ea typeface="Cambria" panose="02040503050406030204" pitchFamily="18" charset="0"/>
              </a:rPr>
              <a:t>In the following diagram, node 1 is expanded into four nodes named 2, 3, 4, and 5.</a:t>
            </a:r>
          </a:p>
          <a:p>
            <a:pPr algn="just"/>
            <a:endParaRPr lang="en-US" sz="2400" dirty="0">
              <a:latin typeface="Cambria" panose="02040503050406030204" pitchFamily="18" charset="0"/>
              <a:ea typeface="Cambria" panose="02040503050406030204" pitchFamily="18" charset="0"/>
            </a:endParaRPr>
          </a:p>
        </p:txBody>
      </p:sp>
      <p:pic>
        <p:nvPicPr>
          <p:cNvPr id="6146" name="Picture 2" descr="Node 1 is expanded into four nodes named 2, 3, 4, and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139" y="3865978"/>
            <a:ext cx="4790498" cy="28257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855527" y="5112327"/>
            <a:ext cx="3574473" cy="646331"/>
          </a:xfrm>
          <a:prstGeom prst="rect">
            <a:avLst/>
          </a:prstGeom>
          <a:noFill/>
        </p:spPr>
        <p:txBody>
          <a:bodyPr wrap="square" rtlCol="0">
            <a:spAutoFit/>
          </a:bodyPr>
          <a:lstStyle/>
          <a:p>
            <a:r>
              <a:rPr lang="en-US" i="1" dirty="0"/>
              <a:t>Node 1 is expanded into four nodes named 2, 3, 4, and 5</a:t>
            </a:r>
            <a:endParaRPr lang="en-US" dirty="0"/>
          </a:p>
        </p:txBody>
      </p:sp>
      <p:pic>
        <p:nvPicPr>
          <p:cNvPr id="5" name="Picture 4"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122814"/>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7448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Exploring node 4 which is element 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272" y="653834"/>
            <a:ext cx="4636728" cy="41814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20435" y="900545"/>
            <a:ext cx="6834837" cy="5632311"/>
          </a:xfrm>
          <a:prstGeom prst="rect">
            <a:avLst/>
          </a:prstGeom>
          <a:noFill/>
        </p:spPr>
        <p:txBody>
          <a:bodyPr wrap="square" rtlCol="0">
            <a:spAutoFit/>
          </a:bodyPr>
          <a:lstStyle/>
          <a:p>
            <a:pPr fontAlgn="base"/>
            <a:r>
              <a:rPr lang="en-US" sz="2000" dirty="0">
                <a:latin typeface="Cambria" panose="02040503050406030204" pitchFamily="18" charset="0"/>
                <a:ea typeface="Cambria" panose="02040503050406030204" pitchFamily="18" charset="0"/>
              </a:rPr>
              <a:t>Assume that cost of the nodes 2, 3, 4, and 5 are 12, </a:t>
            </a:r>
            <a:r>
              <a:rPr lang="en-US" sz="2000" dirty="0" smtClean="0">
                <a:latin typeface="Cambria" panose="02040503050406030204" pitchFamily="18" charset="0"/>
                <a:ea typeface="Cambria" panose="02040503050406030204" pitchFamily="18" charset="0"/>
              </a:rPr>
              <a:t>16, 10 and 115 respectively</a:t>
            </a:r>
            <a:r>
              <a:rPr lang="en-US" sz="2000" dirty="0">
                <a:latin typeface="Cambria" panose="02040503050406030204" pitchFamily="18" charset="0"/>
                <a:ea typeface="Cambria" panose="02040503050406030204" pitchFamily="18" charset="0"/>
              </a:rPr>
              <a:t>.</a:t>
            </a:r>
            <a:br>
              <a:rPr lang="en-US" sz="2000" dirty="0">
                <a:latin typeface="Cambria" panose="02040503050406030204" pitchFamily="18" charset="0"/>
                <a:ea typeface="Cambria" panose="02040503050406030204" pitchFamily="18" charset="0"/>
              </a:rPr>
            </a:br>
            <a:endParaRPr lang="en-US" sz="2000" dirty="0" smtClean="0">
              <a:latin typeface="Cambria" panose="02040503050406030204" pitchFamily="18" charset="0"/>
              <a:ea typeface="Cambria" panose="02040503050406030204" pitchFamily="18" charset="0"/>
            </a:endParaRPr>
          </a:p>
          <a:p>
            <a:pPr algn="just" fontAlgn="base"/>
            <a:r>
              <a:rPr lang="en-US" sz="2000" dirty="0" smtClean="0">
                <a:latin typeface="Cambria" panose="02040503050406030204" pitchFamily="18" charset="0"/>
                <a:ea typeface="Cambria" panose="02040503050406030204" pitchFamily="18" charset="0"/>
              </a:rPr>
              <a:t>In </a:t>
            </a:r>
            <a:r>
              <a:rPr lang="en-US" sz="2000" dirty="0">
                <a:latin typeface="Cambria" panose="02040503050406030204" pitchFamily="18" charset="0"/>
                <a:ea typeface="Cambria" panose="02040503050406030204" pitchFamily="18" charset="0"/>
              </a:rPr>
              <a:t>this method, we will explore the node which is having the least cost. In the above figure, we can observe that the node with a minimum cost is node 4. So, we will explore node 4 having a cost of 10</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pPr algn="just" fontAlgn="base"/>
            <a:r>
              <a:rPr lang="en-US" sz="2000" dirty="0">
                <a:latin typeface="Cambria" panose="02040503050406030204" pitchFamily="18" charset="0"/>
                <a:ea typeface="Cambria" panose="02040503050406030204" pitchFamily="18" charset="0"/>
              </a:rPr>
              <a:t>During exploring node 4 which is element C, we can notice that there is only one possible element that remains unexplored which is D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we already decided not to select elements A, and B). So, it will get expanded to one single element D, let’s say this node number is 6</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Now, Node 6 has no element left to explore. So, there is no further scope for expansion. </a:t>
            </a:r>
            <a:endParaRPr lang="en-US" sz="2000" dirty="0" smtClean="0">
              <a:latin typeface="Cambria" panose="02040503050406030204" pitchFamily="18" charset="0"/>
              <a:ea typeface="Cambria" panose="02040503050406030204" pitchFamily="18" charset="0"/>
            </a:endParaRPr>
          </a:p>
          <a:p>
            <a:r>
              <a:rPr lang="en-US" sz="2000" b="1" dirty="0" smtClean="0">
                <a:latin typeface="Cambria" panose="02040503050406030204" pitchFamily="18" charset="0"/>
                <a:ea typeface="Cambria" panose="02040503050406030204" pitchFamily="18" charset="0"/>
              </a:rPr>
              <a:t>Hence </a:t>
            </a:r>
            <a:r>
              <a:rPr lang="en-US" sz="2000" b="1" dirty="0">
                <a:latin typeface="Cambria" panose="02040503050406030204" pitchFamily="18" charset="0"/>
                <a:ea typeface="Cambria" panose="02040503050406030204" pitchFamily="18" charset="0"/>
              </a:rPr>
              <a:t>the element {C, D} is the optimal way to choose for the least cost.</a:t>
            </a:r>
            <a:endParaRPr lang="en-US" sz="2400" b="1" dirty="0">
              <a:latin typeface="Cambria" panose="02040503050406030204" pitchFamily="18" charset="0"/>
              <a:ea typeface="Cambria" panose="02040503050406030204" pitchFamily="18" charset="0"/>
            </a:endParaRPr>
          </a:p>
        </p:txBody>
      </p:sp>
      <p:sp>
        <p:nvSpPr>
          <p:cNvPr id="5" name="TextBox 4"/>
          <p:cNvSpPr txBox="1"/>
          <p:nvPr/>
        </p:nvSpPr>
        <p:spPr>
          <a:xfrm>
            <a:off x="8465127" y="4987636"/>
            <a:ext cx="3616037" cy="369332"/>
          </a:xfrm>
          <a:prstGeom prst="rect">
            <a:avLst/>
          </a:prstGeom>
          <a:noFill/>
        </p:spPr>
        <p:txBody>
          <a:bodyPr wrap="square" rtlCol="0">
            <a:spAutoFit/>
          </a:bodyPr>
          <a:lstStyle/>
          <a:p>
            <a:r>
              <a:rPr lang="en-US" i="1" dirty="0"/>
              <a:t>Exploring node 4 which is element C</a:t>
            </a:r>
            <a:endParaRPr lang="en-US" dirty="0"/>
          </a:p>
        </p:txBody>
      </p:sp>
      <p:pic>
        <p:nvPicPr>
          <p:cNvPr id="6" name="Picture 5"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467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272" y="938934"/>
            <a:ext cx="10924310" cy="5919066"/>
          </a:xfrm>
        </p:spPr>
        <p:txBody>
          <a:bodyPr/>
          <a:lstStyle/>
          <a:p>
            <a:pPr marL="0" indent="0" algn="just" fontAlgn="base">
              <a:buNone/>
            </a:pPr>
            <a:r>
              <a:rPr lang="en-US" sz="2400" b="1" dirty="0">
                <a:latin typeface="Cambria" panose="02040503050406030204" pitchFamily="18" charset="0"/>
                <a:ea typeface="Cambria" panose="02040503050406030204" pitchFamily="18" charset="0"/>
              </a:rPr>
              <a:t>Advantages of Branch and Bound Algorithm:</a:t>
            </a:r>
          </a:p>
          <a:p>
            <a:pPr algn="just" fontAlgn="base"/>
            <a:r>
              <a:rPr lang="en-US" sz="2400" dirty="0" smtClean="0">
                <a:latin typeface="Cambria" panose="02040503050406030204" pitchFamily="18" charset="0"/>
                <a:ea typeface="Cambria" panose="02040503050406030204" pitchFamily="18" charset="0"/>
              </a:rPr>
              <a:t>Don’t </a:t>
            </a:r>
            <a:r>
              <a:rPr lang="en-US" sz="2400" dirty="0">
                <a:latin typeface="Cambria" panose="02040503050406030204" pitchFamily="18" charset="0"/>
                <a:ea typeface="Cambria" panose="02040503050406030204" pitchFamily="18" charset="0"/>
              </a:rPr>
              <a:t>explore all the nodes in a branch and bound algorithm. Due to this, the branch and the bound algorithm have a lower time complexity than other algorithms.</a:t>
            </a:r>
          </a:p>
          <a:p>
            <a:pPr algn="just" fontAlgn="base"/>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problem is small and the branching can be completed in a reasonable amount of time, the algorithm finds an optimal solution.</a:t>
            </a:r>
          </a:p>
          <a:p>
            <a:pPr algn="just" fontAlgn="base"/>
            <a:r>
              <a:rPr lang="en-US" sz="2400" dirty="0">
                <a:latin typeface="Cambria" panose="02040503050406030204" pitchFamily="18" charset="0"/>
                <a:ea typeface="Cambria" panose="02040503050406030204" pitchFamily="18" charset="0"/>
              </a:rPr>
              <a:t>By using the branch and bound algorithm, the optimal solution is reached in a minimal amount of time. When exploring a tree, it does not repeat nodes.</a:t>
            </a:r>
          </a:p>
          <a:p>
            <a:pPr marL="0" indent="0" fontAlgn="base">
              <a:buNone/>
            </a:pPr>
            <a:endParaRPr lang="en-US" sz="2400" b="1" dirty="0" smtClean="0">
              <a:latin typeface="Cambria" panose="02040503050406030204" pitchFamily="18" charset="0"/>
              <a:ea typeface="Cambria" panose="02040503050406030204" pitchFamily="18" charset="0"/>
            </a:endParaRPr>
          </a:p>
          <a:p>
            <a:pPr marL="0" indent="0" fontAlgn="base">
              <a:buNone/>
            </a:pPr>
            <a:r>
              <a:rPr lang="en-US" sz="2400" b="1" dirty="0" smtClean="0">
                <a:latin typeface="Cambria" panose="02040503050406030204" pitchFamily="18" charset="0"/>
                <a:ea typeface="Cambria" panose="02040503050406030204" pitchFamily="18" charset="0"/>
              </a:rPr>
              <a:t>Disadvantages </a:t>
            </a:r>
            <a:r>
              <a:rPr lang="en-US" sz="2400" b="1" dirty="0">
                <a:latin typeface="Cambria" panose="02040503050406030204" pitchFamily="18" charset="0"/>
                <a:ea typeface="Cambria" panose="02040503050406030204" pitchFamily="18" charset="0"/>
              </a:rPr>
              <a:t>of Branch and Bound Algorithm:</a:t>
            </a:r>
          </a:p>
          <a:p>
            <a:pPr fontAlgn="base"/>
            <a:r>
              <a:rPr lang="en-US" sz="2400" dirty="0">
                <a:latin typeface="Cambria" panose="02040503050406030204" pitchFamily="18" charset="0"/>
                <a:ea typeface="Cambria" panose="02040503050406030204" pitchFamily="18" charset="0"/>
              </a:rPr>
              <a:t>It takes a long time to run the branch and bound algorithm. </a:t>
            </a:r>
          </a:p>
          <a:p>
            <a:pPr fontAlgn="base"/>
            <a:r>
              <a:rPr lang="en-US" sz="2400" dirty="0">
                <a:latin typeface="Cambria" panose="02040503050406030204" pitchFamily="18" charset="0"/>
                <a:ea typeface="Cambria" panose="02040503050406030204" pitchFamily="18" charset="0"/>
              </a:rPr>
              <a:t>In the worst-case scenario, the number of nodes in the tree may be too large based on the size of the problem.</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3274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mbria" panose="02040503050406030204" pitchFamily="18" charset="0"/>
                <a:ea typeface="Cambria" panose="02040503050406030204" pitchFamily="18" charset="0"/>
              </a:rPr>
              <a:t>A* algorithm</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a:bodyPr>
          <a:lstStyle/>
          <a:p>
            <a:pPr algn="just"/>
            <a:r>
              <a:rPr lang="en-US" dirty="0">
                <a:latin typeface="Cambria" panose="02040503050406030204" pitchFamily="18" charset="0"/>
                <a:ea typeface="Cambria" panose="02040503050406030204" pitchFamily="18" charset="0"/>
              </a:rPr>
              <a:t>A* (pronounced "A-star") is a powerful graph traversal and </a:t>
            </a:r>
            <a:r>
              <a:rPr lang="en-US" dirty="0" smtClean="0">
                <a:latin typeface="Cambria" panose="02040503050406030204" pitchFamily="18" charset="0"/>
                <a:ea typeface="Cambria" panose="02040503050406030204" pitchFamily="18" charset="0"/>
              </a:rPr>
              <a:t>path finding </a:t>
            </a:r>
            <a:r>
              <a:rPr lang="en-US" dirty="0">
                <a:latin typeface="Cambria" panose="02040503050406030204" pitchFamily="18" charset="0"/>
                <a:ea typeface="Cambria" panose="02040503050406030204" pitchFamily="18" charset="0"/>
              </a:rPr>
              <a:t>algorithm widely used in artificial intelligence and computer science.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is mainly used to find the shortest path between two nodes in a graph, given the estimated cost of getting from the current node to the destination node.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main advantage of the algorithm is its ability to provide an optimal path by exploring the graph in a more informed way compared to traditional search algorithms such as </a:t>
            </a:r>
            <a:r>
              <a:rPr lang="en-US" dirty="0" err="1">
                <a:latin typeface="Cambria" panose="02040503050406030204" pitchFamily="18" charset="0"/>
                <a:ea typeface="Cambria" panose="02040503050406030204" pitchFamily="18" charset="0"/>
              </a:rPr>
              <a:t>Dijkstra's</a:t>
            </a:r>
            <a:r>
              <a:rPr lang="en-US" dirty="0">
                <a:latin typeface="Cambria" panose="02040503050406030204" pitchFamily="18" charset="0"/>
                <a:ea typeface="Cambria" panose="02040503050406030204" pitchFamily="18" charset="0"/>
              </a:rPr>
              <a:t> algorithm.</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2474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5" y="1246908"/>
            <a:ext cx="10958946" cy="6165273"/>
          </a:xfrm>
        </p:spPr>
        <p:txBody>
          <a:bodyPr>
            <a:normAutofit/>
          </a:bodyPr>
          <a:lstStyle/>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The main idea of A* is to evaluate each node based on two parameters</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a:t>
            </a:r>
          </a:p>
          <a:p>
            <a:pPr marL="0" indent="0">
              <a:buNone/>
            </a:pP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ea typeface="Cambria" panose="02040503050406030204" pitchFamily="18" charset="0"/>
                <a:cs typeface="Times New Roman" panose="02020603050405020304" pitchFamily="18" charset="0"/>
              </a:rPr>
              <a:t>g(n</a:t>
            </a:r>
            <a:r>
              <a:rPr lang="en-US" sz="2400" b="1" dirty="0">
                <a:latin typeface="Times New Roman" panose="02020603050405020304" pitchFamily="18" charset="0"/>
                <a:ea typeface="Cambria" panose="02040503050406030204" pitchFamily="18" charset="0"/>
                <a:cs typeface="Times New Roman" panose="02020603050405020304" pitchFamily="18" charset="0"/>
              </a:rPr>
              <a:t>):</a:t>
            </a:r>
            <a:r>
              <a:rPr lang="en-US" sz="2400" dirty="0">
                <a:latin typeface="Times New Roman" panose="02020603050405020304" pitchFamily="18" charset="0"/>
                <a:ea typeface="Cambria" panose="02040503050406030204" pitchFamily="18" charset="0"/>
                <a:cs typeface="Times New Roman" panose="02020603050405020304" pitchFamily="18" charset="0"/>
              </a:rPr>
              <a:t> the actual cost to get from the initial node to node n. It represents the sum of the costs of node n outgoing edges</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b="1" dirty="0">
                <a:latin typeface="Times New Roman" panose="02020603050405020304" pitchFamily="18" charset="0"/>
                <a:ea typeface="Cambria" panose="02040503050406030204" pitchFamily="18" charset="0"/>
                <a:cs typeface="Times New Roman" panose="02020603050405020304" pitchFamily="18" charset="0"/>
              </a:rPr>
              <a:t>h(n):</a:t>
            </a:r>
            <a:r>
              <a:rPr lang="en-US" sz="2400" dirty="0">
                <a:latin typeface="Times New Roman" panose="02020603050405020304" pitchFamily="18" charset="0"/>
                <a:ea typeface="Cambria" panose="02040503050406030204" pitchFamily="18" charset="0"/>
                <a:cs typeface="Times New Roman" panose="02020603050405020304" pitchFamily="18" charset="0"/>
              </a:rPr>
              <a:t> Heuristic cost (also known as "estimation cost") from node n to destination node n. </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This </a:t>
            </a:r>
            <a:r>
              <a:rPr lang="en-US" sz="2400" dirty="0">
                <a:latin typeface="Times New Roman" panose="02020603050405020304" pitchFamily="18" charset="0"/>
                <a:ea typeface="Cambria" panose="02040503050406030204" pitchFamily="18" charset="0"/>
                <a:cs typeface="Times New Roman" panose="02020603050405020304" pitchFamily="18" charset="0"/>
              </a:rPr>
              <a:t>problem-specific heuristic function must be acceptable, meaning it never overestimates the actual cost of achieving the goal. </a:t>
            </a:r>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algn="just"/>
            <a:endParaRPr lang="en-US" sz="2400" dirty="0" smtClean="0">
              <a:latin typeface="Times New Roman" panose="02020603050405020304" pitchFamily="18" charset="0"/>
              <a:ea typeface="Cambria" panose="020405030504060302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The </a:t>
            </a:r>
            <a:r>
              <a:rPr lang="en-US" sz="2400" dirty="0">
                <a:latin typeface="Times New Roman" panose="02020603050405020304" pitchFamily="18" charset="0"/>
                <a:ea typeface="Cambria" panose="02040503050406030204" pitchFamily="18" charset="0"/>
                <a:cs typeface="Times New Roman" panose="02020603050405020304" pitchFamily="18" charset="0"/>
              </a:rPr>
              <a:t>evaluation function of node n is </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defined as</a:t>
            </a:r>
          </a:p>
          <a:p>
            <a:pPr marL="0" indent="0" algn="just">
              <a:buNone/>
            </a:pPr>
            <a:r>
              <a:rPr lang="en-US" sz="2400" dirty="0" smtClean="0">
                <a:latin typeface="Times New Roman" panose="02020603050405020304" pitchFamily="18" charset="0"/>
                <a:ea typeface="Cambria" panose="02040503050406030204" pitchFamily="18" charset="0"/>
                <a:cs typeface="Times New Roman" panose="02020603050405020304" pitchFamily="18" charset="0"/>
              </a:rPr>
              <a:t>               f(n</a:t>
            </a:r>
            <a:r>
              <a:rPr lang="en-US" sz="2400" dirty="0">
                <a:latin typeface="Times New Roman" panose="02020603050405020304" pitchFamily="18" charset="0"/>
                <a:ea typeface="Cambria" panose="02040503050406030204" pitchFamily="18" charset="0"/>
                <a:cs typeface="Times New Roman" panose="02020603050405020304" pitchFamily="18" charset="0"/>
              </a:rPr>
              <a:t>) = g(n</a:t>
            </a:r>
            <a:r>
              <a:rPr lang="en-US" sz="2400" dirty="0" smtClean="0">
                <a:latin typeface="Times New Roman" panose="02020603050405020304" pitchFamily="18" charset="0"/>
                <a:ea typeface="Cambria" panose="02040503050406030204" pitchFamily="18" charset="0"/>
                <a:cs typeface="Times New Roman" panose="02020603050405020304" pitchFamily="18" charset="0"/>
              </a:rPr>
              <a:t>)+h(n</a:t>
            </a:r>
            <a:r>
              <a:rPr lang="en-US" sz="2400" dirty="0">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32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250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618" y="1271443"/>
            <a:ext cx="11416146" cy="6265430"/>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Algorithm A* selects the nodes to be explored based on the lowest value of f(n), preferring the nodes with the lowest estimated total cost to reach the goal. </a:t>
            </a:r>
            <a:endParaRPr lang="en-US" sz="2400" dirty="0" smtClean="0">
              <a:latin typeface="Cambria" panose="02040503050406030204" pitchFamily="18" charset="0"/>
              <a:ea typeface="Cambria" panose="02040503050406030204" pitchFamily="18" charset="0"/>
            </a:endParaRPr>
          </a:p>
          <a:p>
            <a:pPr marL="0" indent="0" algn="just">
              <a:buNone/>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A* algorithm works</a:t>
            </a:r>
            <a:r>
              <a:rPr lang="en-US" sz="2400" dirty="0" smtClean="0">
                <a:latin typeface="Cambria" panose="02040503050406030204" pitchFamily="18" charset="0"/>
                <a:ea typeface="Cambria" panose="02040503050406030204" pitchFamily="18" charset="0"/>
              </a:rPr>
              <a:t>:</a:t>
            </a:r>
          </a:p>
          <a:p>
            <a:r>
              <a:rPr lang="en-US" dirty="0" smtClean="0">
                <a:latin typeface="Cambria" panose="02040503050406030204" pitchFamily="18" charset="0"/>
                <a:ea typeface="Cambria" panose="02040503050406030204" pitchFamily="18" charset="0"/>
              </a:rPr>
              <a:t>Create </a:t>
            </a:r>
            <a:r>
              <a:rPr lang="en-US" dirty="0">
                <a:latin typeface="Cambria" panose="02040503050406030204" pitchFamily="18" charset="0"/>
                <a:ea typeface="Cambria" panose="02040503050406030204" pitchFamily="18" charset="0"/>
              </a:rPr>
              <a:t>an open list of </a:t>
            </a:r>
            <a:r>
              <a:rPr lang="en-US" dirty="0" smtClean="0">
                <a:latin typeface="Cambria" panose="02040503050406030204" pitchFamily="18" charset="0"/>
                <a:ea typeface="Cambria" panose="02040503050406030204" pitchFamily="18" charset="0"/>
              </a:rPr>
              <a:t>found but </a:t>
            </a:r>
            <a:r>
              <a:rPr lang="en-US" dirty="0">
                <a:latin typeface="Cambria" panose="02040503050406030204" pitchFamily="18" charset="0"/>
                <a:ea typeface="Cambria" panose="02040503050406030204" pitchFamily="18" charset="0"/>
              </a:rPr>
              <a:t>not explored nodes.</a:t>
            </a:r>
          </a:p>
          <a:p>
            <a:r>
              <a:rPr lang="en-US" dirty="0">
                <a:latin typeface="Cambria" panose="02040503050406030204" pitchFamily="18" charset="0"/>
                <a:ea typeface="Cambria" panose="02040503050406030204" pitchFamily="18" charset="0"/>
              </a:rPr>
              <a:t>Create a closed list to hold already explored nodes.</a:t>
            </a:r>
          </a:p>
          <a:p>
            <a:r>
              <a:rPr lang="en-US" dirty="0">
                <a:latin typeface="Cambria" panose="02040503050406030204" pitchFamily="18" charset="0"/>
                <a:ea typeface="Cambria" panose="02040503050406030204" pitchFamily="18" charset="0"/>
              </a:rPr>
              <a:t>Add a </a:t>
            </a:r>
            <a:r>
              <a:rPr lang="en-US" dirty="0" smtClean="0">
                <a:latin typeface="Cambria" panose="02040503050406030204" pitchFamily="18" charset="0"/>
                <a:ea typeface="Cambria" panose="02040503050406030204" pitchFamily="18" charset="0"/>
              </a:rPr>
              <a:t>starting node </a:t>
            </a:r>
            <a:r>
              <a:rPr lang="en-US" dirty="0">
                <a:latin typeface="Cambria" panose="02040503050406030204" pitchFamily="18" charset="0"/>
                <a:ea typeface="Cambria" panose="02040503050406030204" pitchFamily="18" charset="0"/>
              </a:rPr>
              <a:t>to the open list with an initial value of g</a:t>
            </a:r>
          </a:p>
          <a:p>
            <a:r>
              <a:rPr lang="en-US" dirty="0">
                <a:latin typeface="Cambria" panose="02040503050406030204" pitchFamily="18" charset="0"/>
                <a:ea typeface="Cambria" panose="02040503050406030204" pitchFamily="18" charset="0"/>
              </a:rPr>
              <a:t>Repeat the following steps until the open list is empty or you </a:t>
            </a:r>
            <a:r>
              <a:rPr lang="en-US" dirty="0" smtClean="0">
                <a:latin typeface="Cambria" panose="02040503050406030204" pitchFamily="18" charset="0"/>
                <a:ea typeface="Cambria" panose="02040503050406030204" pitchFamily="18" charset="0"/>
              </a:rPr>
              <a:t>reach the </a:t>
            </a:r>
            <a:r>
              <a:rPr lang="en-US" dirty="0">
                <a:latin typeface="Cambria" panose="02040503050406030204" pitchFamily="18" charset="0"/>
                <a:ea typeface="Cambria" panose="02040503050406030204" pitchFamily="18" charset="0"/>
              </a:rPr>
              <a:t>target node:</a:t>
            </a:r>
          </a:p>
          <a:p>
            <a:pPr lvl="1"/>
            <a:r>
              <a:rPr lang="en-US" dirty="0">
                <a:latin typeface="Cambria" panose="02040503050406030204" pitchFamily="18" charset="0"/>
                <a:ea typeface="Cambria" panose="02040503050406030204" pitchFamily="18" charset="0"/>
              </a:rPr>
              <a:t>Find the node with the smallest f-value (i.e., the node with the minor g(n) h(n)) in the open list.</a:t>
            </a:r>
          </a:p>
          <a:p>
            <a:pPr lvl="1"/>
            <a:r>
              <a:rPr lang="en-US" dirty="0">
                <a:latin typeface="Cambria" panose="02040503050406030204" pitchFamily="18" charset="0"/>
                <a:ea typeface="Cambria" panose="02040503050406030204" pitchFamily="18" charset="0"/>
              </a:rPr>
              <a:t>Move the selected node from the open list to the closed list.</a:t>
            </a:r>
          </a:p>
          <a:p>
            <a:pPr lvl="1"/>
            <a:r>
              <a:rPr lang="en-US" dirty="0" smtClean="0">
                <a:latin typeface="Cambria" panose="02040503050406030204" pitchFamily="18" charset="0"/>
                <a:ea typeface="Cambria" panose="02040503050406030204" pitchFamily="18" charset="0"/>
              </a:rPr>
              <a:t>Create all </a:t>
            </a:r>
            <a:r>
              <a:rPr lang="en-US" dirty="0">
                <a:latin typeface="Cambria" panose="02040503050406030204" pitchFamily="18" charset="0"/>
                <a:ea typeface="Cambria" panose="02040503050406030204" pitchFamily="18" charset="0"/>
              </a:rPr>
              <a:t>valid </a:t>
            </a:r>
            <a:r>
              <a:rPr lang="en-US" dirty="0" smtClean="0">
                <a:latin typeface="Cambria" panose="02040503050406030204" pitchFamily="18" charset="0"/>
                <a:ea typeface="Cambria" panose="02040503050406030204" pitchFamily="18" charset="0"/>
              </a:rPr>
              <a:t>descendants of </a:t>
            </a:r>
            <a:r>
              <a:rPr lang="en-US" dirty="0">
                <a:latin typeface="Cambria" panose="02040503050406030204" pitchFamily="18" charset="0"/>
                <a:ea typeface="Cambria" panose="02040503050406030204" pitchFamily="18" charset="0"/>
              </a:rPr>
              <a:t>the selected node.</a:t>
            </a:r>
          </a:p>
          <a:p>
            <a:pPr marL="0" indent="0" algn="just">
              <a:buNone/>
            </a:pPr>
            <a:endParaRPr lang="en-US" sz="24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2319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890" y="1216025"/>
            <a:ext cx="11083637" cy="5641975"/>
          </a:xfrm>
        </p:spPr>
        <p:txBody>
          <a:bodyPr>
            <a:normAutofit/>
          </a:bodyPr>
          <a:lstStyle/>
          <a:p>
            <a:pPr marL="228600" lvl="1">
              <a:spcBef>
                <a:spcPts val="1000"/>
              </a:spcBef>
            </a:pPr>
            <a:r>
              <a:rPr lang="en-US" dirty="0">
                <a:latin typeface="Cambria" panose="02040503050406030204" pitchFamily="18" charset="0"/>
                <a:ea typeface="Cambria" panose="02040503050406030204" pitchFamily="18" charset="0"/>
              </a:rPr>
              <a:t>For each successor, calculate its g-value as the sum of the current node's g value and the cost of moving from the current node to the successor node. Update the g-value of the tracker when a better path is found</a:t>
            </a:r>
            <a:r>
              <a:rPr lang="en-US" dirty="0" smtClean="0">
                <a:latin typeface="Cambria" panose="02040503050406030204" pitchFamily="18" charset="0"/>
                <a:ea typeface="Cambria" panose="02040503050406030204" pitchFamily="18" charset="0"/>
              </a:rPr>
              <a:t>.</a:t>
            </a:r>
          </a:p>
          <a:p>
            <a:pPr algn="just"/>
            <a:r>
              <a:rPr lang="en-US" sz="2400" dirty="0">
                <a:latin typeface="Cambria" panose="02040503050406030204" pitchFamily="18" charset="0"/>
                <a:ea typeface="Cambria" panose="02040503050406030204" pitchFamily="18" charset="0"/>
              </a:rPr>
              <a:t>If the </a:t>
            </a:r>
            <a:r>
              <a:rPr lang="en-US" sz="2400" dirty="0" smtClean="0">
                <a:latin typeface="Cambria" panose="02040503050406030204" pitchFamily="18" charset="0"/>
                <a:ea typeface="Cambria" panose="02040503050406030204" pitchFamily="18" charset="0"/>
              </a:rPr>
              <a:t>follower is </a:t>
            </a:r>
            <a:r>
              <a:rPr lang="en-US" sz="2400" dirty="0">
                <a:latin typeface="Cambria" panose="02040503050406030204" pitchFamily="18" charset="0"/>
                <a:ea typeface="Cambria" panose="02040503050406030204" pitchFamily="18" charset="0"/>
              </a:rPr>
              <a:t>not in the open list, add it with the calculated g-value and calculate its h-value. If it is already in the open list, update its g value if the new path is better.</a:t>
            </a:r>
          </a:p>
          <a:p>
            <a:pPr algn="just"/>
            <a:r>
              <a:rPr lang="en-US" sz="2400" dirty="0">
                <a:latin typeface="Cambria" panose="02040503050406030204" pitchFamily="18" charset="0"/>
                <a:ea typeface="Cambria" panose="02040503050406030204" pitchFamily="18" charset="0"/>
              </a:rPr>
              <a:t>Repeat the cycle. Algorithm A* terminates when the target node is reached or when the open list empties, indicating no paths from the start node to the target node.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A* search algorithm is widely used in various fields such as robotics, video games, network routing, and design problems because it is efficient and can find optimal paths in graphs or networks.</a:t>
            </a:r>
          </a:p>
          <a:p>
            <a:pPr marL="228600" lvl="1">
              <a:spcBef>
                <a:spcPts val="1000"/>
              </a:spcBef>
            </a:pPr>
            <a:endParaRPr lang="en-US" dirty="0">
              <a:latin typeface="Cambria" panose="02040503050406030204" pitchFamily="18" charset="0"/>
              <a:ea typeface="Cambria" panose="02040503050406030204" pitchFamily="18" charset="0"/>
            </a:endParaRP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667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05345" y="113909"/>
            <a:ext cx="8769928" cy="6623049"/>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501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29173" y="110836"/>
            <a:ext cx="9642821" cy="6747164"/>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231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9928" y="179800"/>
            <a:ext cx="9277794" cy="6444456"/>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5327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73381" y="155984"/>
            <a:ext cx="9411349" cy="642492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1127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28275" y="207818"/>
            <a:ext cx="9537943" cy="6650182"/>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23493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1984" y="193964"/>
            <a:ext cx="9767099" cy="645621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6201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7527" y="165946"/>
            <a:ext cx="9919855" cy="662275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7145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51710" y="232351"/>
            <a:ext cx="9388932" cy="6431685"/>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7681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05308" y="0"/>
            <a:ext cx="9057892" cy="6719543"/>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1354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17007" y="481733"/>
            <a:ext cx="7753466" cy="5932098"/>
          </a:xfrm>
          <a:prstGeom prst="rect">
            <a:avLst/>
          </a:prstGeom>
        </p:spPr>
      </p:pic>
      <p:pic>
        <p:nvPicPr>
          <p:cNvPr id="3" name="Picture 2" descr="https://ci3.googleusercontent.com/mail-sig/AIorK4xT8k_ZVGbYhunFQaX-H0SL-roQDD29LdbWftjhlA-h5HHa4_w8AGShXAxKQ8uo1EYYVPAKvM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1426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t>Advantages</a:t>
            </a:r>
            <a:endParaRPr lang="en-US" dirty="0"/>
          </a:p>
        </p:txBody>
      </p:sp>
      <p:sp>
        <p:nvSpPr>
          <p:cNvPr id="3" name="Content Placeholder 2"/>
          <p:cNvSpPr>
            <a:spLocks noGrp="1"/>
          </p:cNvSpPr>
          <p:nvPr>
            <p:ph idx="1"/>
          </p:nvPr>
        </p:nvSpPr>
        <p:spPr>
          <a:xfrm>
            <a:off x="637309" y="1163782"/>
            <a:ext cx="10986655" cy="5403273"/>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Optimal solution:</a:t>
            </a:r>
            <a:r>
              <a:rPr lang="en-US" dirty="0">
                <a:latin typeface="Cambria" panose="02040503050406030204" pitchFamily="18" charset="0"/>
                <a:ea typeface="Cambria" panose="02040503050406030204" pitchFamily="18" charset="0"/>
              </a:rPr>
              <a:t> A* ensures finding the optimal (shortest) path from the start node to the destination node in the weighted graph given an acceptable heuristic function. This optimality is a decisive advantage in many applications where finding the shortest path is essential.</a:t>
            </a:r>
          </a:p>
          <a:p>
            <a:pPr algn="just">
              <a:lnSpc>
                <a:spcPct val="120000"/>
              </a:lnSpc>
            </a:pPr>
            <a:r>
              <a:rPr lang="en-US" b="1" dirty="0">
                <a:latin typeface="Cambria" panose="02040503050406030204" pitchFamily="18" charset="0"/>
                <a:ea typeface="Cambria" panose="02040503050406030204" pitchFamily="18" charset="0"/>
              </a:rPr>
              <a:t>Completeness:</a:t>
            </a:r>
            <a:r>
              <a:rPr lang="en-US" dirty="0">
                <a:latin typeface="Cambria" panose="02040503050406030204" pitchFamily="18" charset="0"/>
                <a:ea typeface="Cambria" panose="02040503050406030204" pitchFamily="18" charset="0"/>
              </a:rPr>
              <a:t> If a solution exists, A* will find it, provided the graph does not have an infinite cost This completeness property ensures that A* can take advantage of a solution if it exists.</a:t>
            </a:r>
          </a:p>
          <a:p>
            <a:pPr algn="just">
              <a:lnSpc>
                <a:spcPct val="120000"/>
              </a:lnSpc>
            </a:pPr>
            <a:r>
              <a:rPr lang="en-US" b="1" dirty="0">
                <a:latin typeface="Cambria" panose="02040503050406030204" pitchFamily="18" charset="0"/>
                <a:ea typeface="Cambria" panose="02040503050406030204" pitchFamily="18" charset="0"/>
              </a:rPr>
              <a:t>Efficiency:</a:t>
            </a:r>
            <a:r>
              <a:rPr lang="en-US" dirty="0">
                <a:latin typeface="Cambria" panose="02040503050406030204" pitchFamily="18" charset="0"/>
                <a:ea typeface="Cambria" panose="02040503050406030204" pitchFamily="18" charset="0"/>
              </a:rPr>
              <a:t> A* is efficient </a:t>
            </a:r>
            <a:r>
              <a:rPr lang="en-US" dirty="0" smtClean="0">
                <a:latin typeface="Cambria" panose="02040503050406030204" pitchFamily="18" charset="0"/>
                <a:ea typeface="Cambria" panose="02040503050406030204" pitchFamily="18" charset="0"/>
              </a:rPr>
              <a:t>if an </a:t>
            </a:r>
            <a:r>
              <a:rPr lang="en-US" dirty="0">
                <a:latin typeface="Cambria" panose="02040503050406030204" pitchFamily="18" charset="0"/>
                <a:ea typeface="Cambria" panose="02040503050406030204" pitchFamily="18" charset="0"/>
              </a:rPr>
              <a:t>efficient and acceptable heuristic function is used. Heuristics guide the search to a goal by focusing on promising paths and avoiding unnecessary exploration, making A* more efficient than non-aware search algorithms such as breadth-first search or depth-first search.</a:t>
            </a:r>
          </a:p>
          <a:p>
            <a:pPr algn="just">
              <a:lnSpc>
                <a:spcPct val="120000"/>
              </a:lnSpc>
            </a:pPr>
            <a:r>
              <a:rPr lang="en-US" b="1" dirty="0">
                <a:latin typeface="Cambria" panose="02040503050406030204" pitchFamily="18" charset="0"/>
                <a:ea typeface="Cambria" panose="02040503050406030204" pitchFamily="18" charset="0"/>
              </a:rPr>
              <a:t>Versatility:</a:t>
            </a:r>
            <a:r>
              <a:rPr lang="en-US" dirty="0">
                <a:latin typeface="Cambria" panose="02040503050406030204" pitchFamily="18" charset="0"/>
                <a:ea typeface="Cambria" panose="02040503050406030204" pitchFamily="18" charset="0"/>
              </a:rPr>
              <a:t> A* is widely applicable to </a:t>
            </a:r>
            <a:r>
              <a:rPr lang="en-US" dirty="0" smtClean="0">
                <a:latin typeface="Cambria" panose="02040503050406030204" pitchFamily="18" charset="0"/>
                <a:ea typeface="Cambria" panose="02040503050406030204" pitchFamily="18" charset="0"/>
              </a:rPr>
              <a:t>various problem </a:t>
            </a:r>
            <a:r>
              <a:rPr lang="en-US" dirty="0">
                <a:latin typeface="Cambria" panose="02040503050406030204" pitchFamily="18" charset="0"/>
                <a:ea typeface="Cambria" panose="02040503050406030204" pitchFamily="18" charset="0"/>
              </a:rPr>
              <a:t>areas, including </a:t>
            </a:r>
            <a:r>
              <a:rPr lang="en-US" dirty="0" smtClean="0">
                <a:latin typeface="Cambria" panose="02040503050406030204" pitchFamily="18" charset="0"/>
                <a:ea typeface="Cambria" panose="02040503050406030204" pitchFamily="18" charset="0"/>
              </a:rPr>
              <a:t>way finding</a:t>
            </a:r>
            <a:r>
              <a:rPr lang="en-US" dirty="0">
                <a:latin typeface="Cambria" panose="02040503050406030204" pitchFamily="18" charset="0"/>
                <a:ea typeface="Cambria" panose="02040503050406030204" pitchFamily="18" charset="0"/>
              </a:rPr>
              <a:t>, route planning, robotics, game development, and more. A* can be used to find optimal solutions efficiently as long as a meaningful heuristic can be defined.</a:t>
            </a:r>
          </a:p>
          <a:p>
            <a:pPr algn="just"/>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5250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579" y="861652"/>
            <a:ext cx="11644748" cy="5503429"/>
          </a:xfrm>
        </p:spPr>
        <p:txBody>
          <a:bodyPr>
            <a:noAutofit/>
          </a:bodyPr>
          <a:lstStyle/>
          <a:p>
            <a:pPr algn="just">
              <a:lnSpc>
                <a:spcPct val="120000"/>
              </a:lnSpc>
            </a:pPr>
            <a:r>
              <a:rPr lang="en-US" sz="2000" b="1" dirty="0">
                <a:latin typeface="Cambria" panose="02040503050406030204" pitchFamily="18" charset="0"/>
                <a:ea typeface="Cambria" panose="02040503050406030204" pitchFamily="18" charset="0"/>
              </a:rPr>
              <a:t>Optimized search:</a:t>
            </a:r>
            <a:r>
              <a:rPr lang="en-US" sz="2000" dirty="0">
                <a:latin typeface="Cambria" panose="02040503050406030204" pitchFamily="18" charset="0"/>
                <a:ea typeface="Cambria" panose="02040503050406030204" pitchFamily="18" charset="0"/>
              </a:rPr>
              <a:t> A* maintains a priority order to select the nodes with the minor f(n) value (g(n) and h(n)) for expansion. This allows it to explore promising paths first, which reduces the search space and leads to faster convergence.</a:t>
            </a:r>
          </a:p>
          <a:p>
            <a:pPr algn="just">
              <a:lnSpc>
                <a:spcPct val="120000"/>
              </a:lnSpc>
            </a:pPr>
            <a:r>
              <a:rPr lang="en-US" sz="2000" b="1" dirty="0">
                <a:latin typeface="Cambria" panose="02040503050406030204" pitchFamily="18" charset="0"/>
                <a:ea typeface="Cambria" panose="02040503050406030204" pitchFamily="18" charset="0"/>
              </a:rPr>
              <a:t>Memory efficiency:</a:t>
            </a:r>
            <a:r>
              <a:rPr lang="en-US" sz="2000" dirty="0">
                <a:latin typeface="Cambria" panose="02040503050406030204" pitchFamily="18" charset="0"/>
                <a:ea typeface="Cambria" panose="02040503050406030204" pitchFamily="18" charset="0"/>
              </a:rPr>
              <a:t> Unlike some other search algorithms, such as breadth-first search, A* stores only a limited number of nodes in the priority queue, which makes it memory efficient, especially for large graphs.</a:t>
            </a:r>
          </a:p>
          <a:p>
            <a:pPr algn="just">
              <a:lnSpc>
                <a:spcPct val="120000"/>
              </a:lnSpc>
            </a:pPr>
            <a:r>
              <a:rPr lang="en-US" sz="2000" b="1" dirty="0">
                <a:latin typeface="Cambria" panose="02040503050406030204" pitchFamily="18" charset="0"/>
                <a:ea typeface="Cambria" panose="02040503050406030204" pitchFamily="18" charset="0"/>
              </a:rPr>
              <a:t>Tunable Heuristics:</a:t>
            </a:r>
            <a:r>
              <a:rPr lang="en-US" sz="2000" dirty="0">
                <a:latin typeface="Cambria" panose="02040503050406030204" pitchFamily="18" charset="0"/>
                <a:ea typeface="Cambria" panose="02040503050406030204" pitchFamily="18" charset="0"/>
              </a:rPr>
              <a:t> A*'s </a:t>
            </a:r>
            <a:r>
              <a:rPr lang="en-US" sz="2000" dirty="0" smtClean="0">
                <a:latin typeface="Cambria" panose="02040503050406030204" pitchFamily="18" charset="0"/>
                <a:ea typeface="Cambria" panose="02040503050406030204" pitchFamily="18" charset="0"/>
              </a:rPr>
              <a:t>performance can </a:t>
            </a:r>
            <a:r>
              <a:rPr lang="en-US" sz="2000" dirty="0">
                <a:latin typeface="Cambria" panose="02040503050406030204" pitchFamily="18" charset="0"/>
                <a:ea typeface="Cambria" panose="02040503050406030204" pitchFamily="18" charset="0"/>
              </a:rPr>
              <a:t>be fine-tuned by selecting different heuristic functions. More educated heuristics can lead to faster convergence and less expanded nodes.</a:t>
            </a:r>
          </a:p>
          <a:p>
            <a:pPr algn="just">
              <a:lnSpc>
                <a:spcPct val="120000"/>
              </a:lnSpc>
            </a:pPr>
            <a:r>
              <a:rPr lang="en-US" sz="2000" b="1" dirty="0">
                <a:latin typeface="Cambria" panose="02040503050406030204" pitchFamily="18" charset="0"/>
                <a:ea typeface="Cambria" panose="02040503050406030204" pitchFamily="18" charset="0"/>
              </a:rPr>
              <a:t>Extensively researched:</a:t>
            </a:r>
            <a:r>
              <a:rPr lang="en-US" sz="2000" dirty="0">
                <a:latin typeface="Cambria" panose="02040503050406030204" pitchFamily="18" charset="0"/>
                <a:ea typeface="Cambria" panose="02040503050406030204" pitchFamily="18" charset="0"/>
              </a:rPr>
              <a:t> A* is a well-established algorithm with decades of research and practical applications. Many optimizations and variations have been developed, making it a reliable and well-understood troubleshooting tool.</a:t>
            </a:r>
          </a:p>
          <a:p>
            <a:pPr algn="just">
              <a:lnSpc>
                <a:spcPct val="120000"/>
              </a:lnSpc>
            </a:pPr>
            <a:r>
              <a:rPr lang="en-US" sz="2000" b="1" dirty="0">
                <a:latin typeface="Cambria" panose="02040503050406030204" pitchFamily="18" charset="0"/>
                <a:ea typeface="Cambria" panose="02040503050406030204" pitchFamily="18" charset="0"/>
              </a:rPr>
              <a:t>Web search:</a:t>
            </a:r>
            <a:r>
              <a:rPr lang="en-US" sz="2000" dirty="0">
                <a:latin typeface="Cambria" panose="02040503050406030204" pitchFamily="18" charset="0"/>
                <a:ea typeface="Cambria" panose="02040503050406030204" pitchFamily="18" charset="0"/>
              </a:rPr>
              <a:t> A* can be used for web-based path search, where the algorithm constantly updates the path according to changes in the environment or the appearance of new It enables real-time decision-making in dynamic scenarios.</a:t>
            </a:r>
          </a:p>
          <a:p>
            <a:pPr algn="just">
              <a:lnSpc>
                <a:spcPct val="120000"/>
              </a:lnSpc>
            </a:pPr>
            <a:endParaRPr lang="en-US" sz="2200"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9684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889"/>
            <a:ext cx="10515600" cy="1325563"/>
          </a:xfrm>
        </p:spPr>
        <p:txBody>
          <a:bodyPr/>
          <a:lstStyle/>
          <a:p>
            <a:pPr algn="ctr"/>
            <a:r>
              <a:rPr lang="en-US" dirty="0">
                <a:latin typeface="Cambria" panose="02040503050406030204" pitchFamily="18" charset="0"/>
                <a:ea typeface="Cambria" panose="02040503050406030204" pitchFamily="18" charset="0"/>
              </a:rPr>
              <a:t>Disadvantages</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29491" y="1091333"/>
            <a:ext cx="11374581" cy="5434158"/>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Heuristic accuracy:</a:t>
            </a:r>
            <a:r>
              <a:rPr lang="en-US" dirty="0">
                <a:latin typeface="Cambria" panose="02040503050406030204" pitchFamily="18" charset="0"/>
                <a:ea typeface="Cambria" panose="02040503050406030204" pitchFamily="18" charset="0"/>
              </a:rPr>
              <a:t> The performance of the A* algorithm depends heavily on the accuracy of the heuristic function used to estimate the cost from the current node to the If the heuristic is unacceptable (never overestimates the actual cost) or inconsistent (satisfies the triangle inequality), A* may not find an optimal path or may explore more nodes than necessary, affecting its efficiency and accuracy.</a:t>
            </a:r>
          </a:p>
          <a:p>
            <a:pPr algn="just">
              <a:lnSpc>
                <a:spcPct val="120000"/>
              </a:lnSpc>
            </a:pPr>
            <a:r>
              <a:rPr lang="en-US" b="1" dirty="0">
                <a:latin typeface="Cambria" panose="02040503050406030204" pitchFamily="18" charset="0"/>
                <a:ea typeface="Cambria" panose="02040503050406030204" pitchFamily="18" charset="0"/>
              </a:rPr>
              <a:t>Memory usage:</a:t>
            </a:r>
            <a:r>
              <a:rPr lang="en-US" dirty="0">
                <a:latin typeface="Cambria" panose="02040503050406030204" pitchFamily="18" charset="0"/>
                <a:ea typeface="Cambria" panose="02040503050406030204" pitchFamily="18" charset="0"/>
              </a:rPr>
              <a:t> A* requires that all visited nodes be kept in memory to keep track of explored paths. Memory usage can sometimes become a significant issue, especially when dealing with an ample search space or limited memory resources.</a:t>
            </a:r>
          </a:p>
          <a:p>
            <a:pPr algn="just">
              <a:lnSpc>
                <a:spcPct val="120000"/>
              </a:lnSpc>
            </a:pPr>
            <a:r>
              <a:rPr lang="en-US" b="1" dirty="0">
                <a:latin typeface="Cambria" panose="02040503050406030204" pitchFamily="18" charset="0"/>
                <a:ea typeface="Cambria" panose="02040503050406030204" pitchFamily="18" charset="0"/>
              </a:rPr>
              <a:t>Time complexity:</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Although A</a:t>
            </a:r>
            <a:r>
              <a:rPr lang="en-US" dirty="0">
                <a:latin typeface="Cambria" panose="02040503050406030204" pitchFamily="18" charset="0"/>
                <a:ea typeface="Cambria" panose="02040503050406030204" pitchFamily="18" charset="0"/>
              </a:rPr>
              <a:t>* is generally efficient, its time complexity can be a concern for vast search spaces or graphs. In the worst case, A* can take exponentially longer to find the optimal path if the heuristic is inappropriate for the problem.</a:t>
            </a:r>
          </a:p>
          <a:p>
            <a:pPr algn="just">
              <a:lnSpc>
                <a:spcPct val="120000"/>
              </a:lnSpc>
            </a:pPr>
            <a:r>
              <a:rPr lang="en-US" b="1" dirty="0">
                <a:latin typeface="Cambria" panose="02040503050406030204" pitchFamily="18" charset="0"/>
                <a:ea typeface="Cambria" panose="02040503050406030204" pitchFamily="18" charset="0"/>
              </a:rPr>
              <a:t>Bottleneck at the destination:</a:t>
            </a:r>
            <a:r>
              <a:rPr lang="en-US" dirty="0">
                <a:latin typeface="Cambria" panose="02040503050406030204" pitchFamily="18" charset="0"/>
                <a:ea typeface="Cambria" panose="02040503050406030204" pitchFamily="18" charset="0"/>
              </a:rPr>
              <a:t> In specific scenarios, the A* algorithm needs to explore nodes far from the destination before finally reaching the destination region. This the problem occurs when the heuristic needs to direct the search to the goal early effectively.</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0922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2671" y="861652"/>
            <a:ext cx="10855037" cy="5544992"/>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Cost Binding:</a:t>
            </a:r>
            <a:r>
              <a:rPr lang="en-US" dirty="0">
                <a:latin typeface="Cambria" panose="02040503050406030204" pitchFamily="18" charset="0"/>
                <a:ea typeface="Cambria" panose="02040503050406030204" pitchFamily="18" charset="0"/>
              </a:rPr>
              <a:t> A* faces difficulties when multiple nodes have the same f-value (the sum of the actual cost and the heuristic cost). The strategy used can affect the optimality and efficiency of the discovered path. If not handled correctly, it can lead to unnecessary nodes being explored and slow down the algorithm.</a:t>
            </a:r>
          </a:p>
          <a:p>
            <a:pPr algn="just">
              <a:lnSpc>
                <a:spcPct val="120000"/>
              </a:lnSpc>
            </a:pPr>
            <a:r>
              <a:rPr lang="en-US" b="1" dirty="0">
                <a:latin typeface="Cambria" panose="02040503050406030204" pitchFamily="18" charset="0"/>
                <a:ea typeface="Cambria" panose="02040503050406030204" pitchFamily="18" charset="0"/>
              </a:rPr>
              <a:t>Complexity in dynamic environments:</a:t>
            </a:r>
            <a:r>
              <a:rPr lang="en-US" dirty="0">
                <a:latin typeface="Cambria" panose="02040503050406030204" pitchFamily="18" charset="0"/>
                <a:ea typeface="Cambria" panose="02040503050406030204" pitchFamily="18" charset="0"/>
              </a:rPr>
              <a:t> In dynamic environments where the cost of edges or nodes may change during the search, A* may not be suitable because it does not adapt well to such changes. Reformulation from scratch can be computationally expensive, and D* (Dynamic A*) algorithms were designed to solve this</a:t>
            </a:r>
          </a:p>
          <a:p>
            <a:pPr algn="just">
              <a:lnSpc>
                <a:spcPct val="120000"/>
              </a:lnSpc>
            </a:pPr>
            <a:r>
              <a:rPr lang="en-US" b="1" dirty="0">
                <a:latin typeface="Cambria" panose="02040503050406030204" pitchFamily="18" charset="0"/>
                <a:ea typeface="Cambria" panose="02040503050406030204" pitchFamily="18" charset="0"/>
              </a:rPr>
              <a:t>Perfection in infinite space :</a:t>
            </a:r>
            <a:r>
              <a:rPr lang="en-US" dirty="0">
                <a:latin typeface="Cambria" panose="02040503050406030204" pitchFamily="18" charset="0"/>
                <a:ea typeface="Cambria" panose="02040503050406030204" pitchFamily="18" charset="0"/>
              </a:rPr>
              <a:t> A* may not find a solution in infinite state space. In such cases, it can run indefinitely, exploring an ever-increasing number of nodes without finding a solution. Despite these shortcomings, A* is still a robust and widely used algorithm because it can effectively find optimal paths in many practical situations if the heuristic function is well-designed and the search space is manageable. Various variations and variants of A* have been proposed to alleviate some of its limitations.</a:t>
            </a:r>
          </a:p>
          <a:p>
            <a:pPr algn="just">
              <a:lnSpc>
                <a:spcPct val="120000"/>
              </a:lnSpc>
            </a:pPr>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6295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146" y="223477"/>
            <a:ext cx="10515600" cy="1325563"/>
          </a:xfrm>
        </p:spPr>
        <p:txBody>
          <a:bodyPr>
            <a:normAutofit/>
          </a:bodyPr>
          <a:lstStyle/>
          <a:p>
            <a:pPr algn="ctr"/>
            <a:r>
              <a:rPr lang="en-US" sz="4000" dirty="0">
                <a:latin typeface="Cambria" panose="02040503050406030204" pitchFamily="18" charset="0"/>
                <a:ea typeface="Cambria" panose="02040503050406030204" pitchFamily="18" charset="0"/>
              </a:rPr>
              <a:t>Applications of the A* Search Algorithm</a:t>
            </a:r>
            <a:br>
              <a:rPr lang="en-US" sz="4000" dirty="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40327" y="1022495"/>
            <a:ext cx="10813473" cy="5170486"/>
          </a:xfrm>
        </p:spPr>
        <p:txBody>
          <a:bodyPr>
            <a:normAutofit fontScale="77500" lnSpcReduction="20000"/>
          </a:bodyPr>
          <a:lstStyle/>
          <a:p>
            <a:pPr algn="just">
              <a:lnSpc>
                <a:spcPct val="120000"/>
              </a:lnSpc>
            </a:pPr>
            <a:r>
              <a:rPr lang="en-US" b="1" dirty="0" smtClean="0">
                <a:latin typeface="Cambria" panose="02040503050406030204" pitchFamily="18" charset="0"/>
                <a:ea typeface="Cambria" panose="02040503050406030204" pitchFamily="18" charset="0"/>
              </a:rPr>
              <a:t>Path finding </a:t>
            </a:r>
            <a:r>
              <a:rPr lang="en-US" b="1" dirty="0">
                <a:latin typeface="Cambria" panose="02040503050406030204" pitchFamily="18" charset="0"/>
                <a:ea typeface="Cambria" panose="02040503050406030204" pitchFamily="18" charset="0"/>
              </a:rPr>
              <a:t>in Games:</a:t>
            </a:r>
            <a:r>
              <a:rPr lang="en-US" dirty="0">
                <a:latin typeface="Cambria" panose="02040503050406030204" pitchFamily="18" charset="0"/>
                <a:ea typeface="Cambria" panose="02040503050406030204" pitchFamily="18" charset="0"/>
              </a:rPr>
              <a:t> A* is </a:t>
            </a:r>
            <a:r>
              <a:rPr lang="en-US" dirty="0" smtClean="0">
                <a:latin typeface="Cambria" panose="02040503050406030204" pitchFamily="18" charset="0"/>
                <a:ea typeface="Cambria" panose="02040503050406030204" pitchFamily="18" charset="0"/>
              </a:rPr>
              <a:t>often used </a:t>
            </a:r>
            <a:r>
              <a:rPr lang="en-US" dirty="0">
                <a:latin typeface="Cambria" panose="02040503050406030204" pitchFamily="18" charset="0"/>
                <a:ea typeface="Cambria" panose="02040503050406030204" pitchFamily="18" charset="0"/>
              </a:rPr>
              <a:t>in video games for character movement, enemy AI navigation, and finding the shortest path from one location to another on the game map. Its ability to find the optimal path based on cost and heuristics makes it ideal for real-time applications such as games.</a:t>
            </a:r>
          </a:p>
          <a:p>
            <a:pPr algn="just">
              <a:lnSpc>
                <a:spcPct val="120000"/>
              </a:lnSpc>
            </a:pPr>
            <a:r>
              <a:rPr lang="en-US" b="1" dirty="0">
                <a:latin typeface="Cambria" panose="02040503050406030204" pitchFamily="18" charset="0"/>
                <a:ea typeface="Cambria" panose="02040503050406030204" pitchFamily="18" charset="0"/>
              </a:rPr>
              <a:t>Robotics and Autonomous Vehicles:</a:t>
            </a:r>
            <a:r>
              <a:rPr lang="en-US" dirty="0">
                <a:latin typeface="Cambria" panose="02040503050406030204" pitchFamily="18" charset="0"/>
                <a:ea typeface="Cambria" panose="02040503050406030204" pitchFamily="18" charset="0"/>
              </a:rPr>
              <a:t> A* is used in robotics and autonomous vehicle navigation to plan </a:t>
            </a:r>
            <a:r>
              <a:rPr lang="en-US" dirty="0" smtClean="0">
                <a:latin typeface="Cambria" panose="02040503050406030204" pitchFamily="18" charset="0"/>
                <a:ea typeface="Cambria" panose="02040503050406030204" pitchFamily="18" charset="0"/>
              </a:rPr>
              <a:t>an optimal </a:t>
            </a:r>
            <a:r>
              <a:rPr lang="en-US" dirty="0">
                <a:latin typeface="Cambria" panose="02040503050406030204" pitchFamily="18" charset="0"/>
                <a:ea typeface="Cambria" panose="02040503050406030204" pitchFamily="18" charset="0"/>
              </a:rPr>
              <a:t>route for robots to reach a destination, avoiding obstacles and considering terrain costs. This is crucial for efficient and safe movement in natural environments.</a:t>
            </a:r>
          </a:p>
          <a:p>
            <a:pPr algn="just">
              <a:lnSpc>
                <a:spcPct val="120000"/>
              </a:lnSpc>
            </a:pPr>
            <a:r>
              <a:rPr lang="en-US" b="1" dirty="0">
                <a:latin typeface="Cambria" panose="02040503050406030204" pitchFamily="18" charset="0"/>
                <a:ea typeface="Cambria" panose="02040503050406030204" pitchFamily="18" charset="0"/>
              </a:rPr>
              <a:t>Maze solving:</a:t>
            </a:r>
            <a:r>
              <a:rPr lang="en-US" dirty="0">
                <a:latin typeface="Cambria" panose="02040503050406030204" pitchFamily="18" charset="0"/>
                <a:ea typeface="Cambria" panose="02040503050406030204" pitchFamily="18" charset="0"/>
              </a:rPr>
              <a:t> A* can efficiently find the shortest path through a maze, making it valuable in many maze-solving applications, such as solving puzzles or navigating complex structures.</a:t>
            </a:r>
          </a:p>
          <a:p>
            <a:pPr algn="just">
              <a:lnSpc>
                <a:spcPct val="120000"/>
              </a:lnSpc>
            </a:pPr>
            <a:r>
              <a:rPr lang="en-US" b="1" dirty="0">
                <a:latin typeface="Cambria" panose="02040503050406030204" pitchFamily="18" charset="0"/>
                <a:ea typeface="Cambria" panose="02040503050406030204" pitchFamily="18" charset="0"/>
              </a:rPr>
              <a:t>Route </a:t>
            </a:r>
            <a:r>
              <a:rPr lang="en-US" b="1" dirty="0" smtClean="0">
                <a:latin typeface="Cambria" panose="02040503050406030204" pitchFamily="18" charset="0"/>
                <a:ea typeface="Cambria" panose="02040503050406030204" pitchFamily="18" charset="0"/>
              </a:rPr>
              <a:t>planning and </a:t>
            </a:r>
            <a:r>
              <a:rPr lang="en-US" b="1" dirty="0">
                <a:latin typeface="Cambria" panose="02040503050406030204" pitchFamily="18" charset="0"/>
                <a:ea typeface="Cambria" panose="02040503050406030204" pitchFamily="18" charset="0"/>
              </a:rPr>
              <a:t>navigation:</a:t>
            </a:r>
            <a:r>
              <a:rPr lang="en-US" dirty="0">
                <a:latin typeface="Cambria" panose="02040503050406030204" pitchFamily="18" charset="0"/>
                <a:ea typeface="Cambria" panose="02040503050406030204" pitchFamily="18" charset="0"/>
              </a:rPr>
              <a:t> In GPS systems and mapping applications, A* can be used to find the optimal route between two points on a map, considering factors such as distance, traffic conditions, and road network topology.</a:t>
            </a:r>
          </a:p>
          <a:p>
            <a:pPr algn="just">
              <a:lnSpc>
                <a:spcPct val="120000"/>
              </a:lnSpc>
            </a:pPr>
            <a:endParaRPr lang="en-US" dirty="0">
              <a:latin typeface="Cambria" panose="02040503050406030204" pitchFamily="18" charset="0"/>
              <a:ea typeface="Cambria" panose="02040503050406030204" pitchFamily="18" charset="0"/>
            </a:endParaRP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5998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5" y="1063624"/>
            <a:ext cx="10771909" cy="6016047"/>
          </a:xfrm>
        </p:spPr>
        <p:txBody>
          <a:bodyPr>
            <a:normAutofit fontScale="77500" lnSpcReduction="20000"/>
          </a:bodyPr>
          <a:lstStyle/>
          <a:p>
            <a:pPr algn="just">
              <a:lnSpc>
                <a:spcPct val="120000"/>
              </a:lnSpc>
            </a:pPr>
            <a:r>
              <a:rPr lang="en-US" b="1" dirty="0">
                <a:latin typeface="Cambria" panose="02040503050406030204" pitchFamily="18" charset="0"/>
                <a:ea typeface="Cambria" panose="02040503050406030204" pitchFamily="18" charset="0"/>
              </a:rPr>
              <a:t>Puzzle-solving:</a:t>
            </a:r>
            <a:r>
              <a:rPr lang="en-US" dirty="0">
                <a:latin typeface="Cambria" panose="02040503050406030204" pitchFamily="18" charset="0"/>
                <a:ea typeface="Cambria" panose="02040503050406030204" pitchFamily="18" charset="0"/>
              </a:rPr>
              <a:t> A* can solve various diagram puzzles, such as sliding puzzles, Sudoku, and the 8-puzzle problem. Resource Allocation: In scenarios where resources must be optimally allocated, A* can help find the most efficient allocation path, minimizing cost and maximizing efficiency.</a:t>
            </a:r>
          </a:p>
          <a:p>
            <a:pPr algn="just">
              <a:lnSpc>
                <a:spcPct val="120000"/>
              </a:lnSpc>
            </a:pPr>
            <a:r>
              <a:rPr lang="en-US" b="1" dirty="0">
                <a:latin typeface="Cambria" panose="02040503050406030204" pitchFamily="18" charset="0"/>
                <a:ea typeface="Cambria" panose="02040503050406030204" pitchFamily="18" charset="0"/>
              </a:rPr>
              <a:t>Network Routing:</a:t>
            </a:r>
            <a:r>
              <a:rPr lang="en-US" dirty="0">
                <a:latin typeface="Cambria" panose="02040503050406030204" pitchFamily="18" charset="0"/>
                <a:ea typeface="Cambria" panose="02040503050406030204" pitchFamily="18" charset="0"/>
              </a:rPr>
              <a:t> A* can be </a:t>
            </a:r>
            <a:r>
              <a:rPr lang="en-US" dirty="0" smtClean="0">
                <a:latin typeface="Cambria" panose="02040503050406030204" pitchFamily="18" charset="0"/>
                <a:ea typeface="Cambria" panose="02040503050406030204" pitchFamily="18" charset="0"/>
              </a:rPr>
              <a:t>used in </a:t>
            </a:r>
            <a:r>
              <a:rPr lang="en-US" dirty="0">
                <a:latin typeface="Cambria" panose="02040503050406030204" pitchFamily="18" charset="0"/>
                <a:ea typeface="Cambria" panose="02040503050406030204" pitchFamily="18" charset="0"/>
              </a:rPr>
              <a:t>computer networks to find the most efficient route for data packets from a source to a destination node.</a:t>
            </a:r>
          </a:p>
          <a:p>
            <a:pPr algn="just">
              <a:lnSpc>
                <a:spcPct val="120000"/>
              </a:lnSpc>
            </a:pPr>
            <a:r>
              <a:rPr lang="en-US" b="1" dirty="0">
                <a:latin typeface="Cambria" panose="02040503050406030204" pitchFamily="18" charset="0"/>
                <a:ea typeface="Cambria" panose="02040503050406030204" pitchFamily="18" charset="0"/>
              </a:rPr>
              <a:t>Natural Language Processing (NLP):</a:t>
            </a:r>
            <a:r>
              <a:rPr lang="en-US" dirty="0">
                <a:latin typeface="Cambria" panose="02040503050406030204" pitchFamily="18" charset="0"/>
                <a:ea typeface="Cambria" panose="02040503050406030204" pitchFamily="18" charset="0"/>
              </a:rPr>
              <a:t> In some NLP tasks, A* can generate coherent and </a:t>
            </a:r>
            <a:r>
              <a:rPr lang="en-US" dirty="0" smtClean="0">
                <a:latin typeface="Cambria" panose="02040503050406030204" pitchFamily="18" charset="0"/>
                <a:ea typeface="Cambria" panose="02040503050406030204" pitchFamily="18" charset="0"/>
              </a:rPr>
              <a:t>contextual responses </a:t>
            </a:r>
            <a:r>
              <a:rPr lang="en-US" dirty="0">
                <a:latin typeface="Cambria" panose="02040503050406030204" pitchFamily="18" charset="0"/>
                <a:ea typeface="Cambria" panose="02040503050406030204" pitchFamily="18" charset="0"/>
              </a:rPr>
              <a:t>by searching for possible word sequences based on their likelihood and relevance.</a:t>
            </a:r>
          </a:p>
          <a:p>
            <a:pPr algn="just">
              <a:lnSpc>
                <a:spcPct val="120000"/>
              </a:lnSpc>
            </a:pPr>
            <a:r>
              <a:rPr lang="en-US" b="1" dirty="0">
                <a:latin typeface="Cambria" panose="02040503050406030204" pitchFamily="18" charset="0"/>
                <a:ea typeface="Cambria" panose="02040503050406030204" pitchFamily="18" charset="0"/>
              </a:rPr>
              <a:t>Path </a:t>
            </a:r>
            <a:r>
              <a:rPr lang="en-US" b="1" dirty="0" smtClean="0">
                <a:latin typeface="Cambria" panose="02040503050406030204" pitchFamily="18" charset="0"/>
                <a:ea typeface="Cambria" panose="02040503050406030204" pitchFamily="18" charset="0"/>
              </a:rPr>
              <a:t>planning in </a:t>
            </a:r>
            <a:r>
              <a:rPr lang="en-US" b="1" dirty="0">
                <a:latin typeface="Cambria" panose="02040503050406030204" pitchFamily="18" charset="0"/>
                <a:ea typeface="Cambria" panose="02040503050406030204" pitchFamily="18" charset="0"/>
              </a:rPr>
              <a:t>robotics:</a:t>
            </a:r>
            <a:r>
              <a:rPr lang="en-US" dirty="0">
                <a:latin typeface="Cambria" panose="02040503050406030204" pitchFamily="18" charset="0"/>
                <a:ea typeface="Cambria" panose="02040503050406030204" pitchFamily="18" charset="0"/>
              </a:rPr>
              <a:t> A* can be used to plan the path of a robot from one point to another, considering various constraints, such as avoiding obstacles or minimizing energy consumption.</a:t>
            </a:r>
          </a:p>
          <a:p>
            <a:pPr algn="just">
              <a:lnSpc>
                <a:spcPct val="120000"/>
              </a:lnSpc>
            </a:pPr>
            <a:r>
              <a:rPr lang="en-US" b="1" dirty="0">
                <a:latin typeface="Cambria" panose="02040503050406030204" pitchFamily="18" charset="0"/>
                <a:ea typeface="Cambria" panose="02040503050406030204" pitchFamily="18" charset="0"/>
              </a:rPr>
              <a:t>Game AI:</a:t>
            </a:r>
            <a:r>
              <a:rPr lang="en-US" dirty="0">
                <a:latin typeface="Cambria" panose="02040503050406030204" pitchFamily="18" charset="0"/>
                <a:ea typeface="Cambria" panose="02040503050406030204" pitchFamily="18" charset="0"/>
              </a:rPr>
              <a:t> A* is also used to </a:t>
            </a:r>
            <a:r>
              <a:rPr lang="en-US" dirty="0" smtClean="0">
                <a:latin typeface="Cambria" panose="02040503050406030204" pitchFamily="18" charset="0"/>
                <a:ea typeface="Cambria" panose="02040503050406030204" pitchFamily="18" charset="0"/>
              </a:rPr>
              <a:t>make intelligent </a:t>
            </a:r>
            <a:r>
              <a:rPr lang="en-US" dirty="0">
                <a:latin typeface="Cambria" panose="02040503050406030204" pitchFamily="18" charset="0"/>
                <a:ea typeface="Cambria" panose="02040503050406030204" pitchFamily="18" charset="0"/>
              </a:rPr>
              <a:t>decisions for non-player characters (NPCs), such as determining the best way to reach an objective or coordinate movements in a team-based game.</a:t>
            </a:r>
          </a:p>
          <a:p>
            <a:pPr>
              <a:lnSpc>
                <a:spcPct val="120000"/>
              </a:lnSpc>
            </a:pPr>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6051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Admissible A*</a:t>
            </a:r>
          </a:p>
        </p:txBody>
      </p:sp>
      <p:sp>
        <p:nvSpPr>
          <p:cNvPr id="3" name="Content Placeholder 2"/>
          <p:cNvSpPr>
            <a:spLocks noGrp="1"/>
          </p:cNvSpPr>
          <p:nvPr>
            <p:ph idx="1"/>
          </p:nvPr>
        </p:nvSpPr>
        <p:spPr/>
        <p:txBody>
          <a:bodyPr/>
          <a:lstStyle/>
          <a:p>
            <a:pPr marL="0" indent="0" algn="just">
              <a:buNone/>
            </a:pPr>
            <a:r>
              <a:rPr lang="en-US" dirty="0">
                <a:latin typeface="Cambria" panose="02040503050406030204" pitchFamily="18" charset="0"/>
                <a:ea typeface="Cambria" panose="02040503050406030204" pitchFamily="18" charset="0"/>
              </a:rPr>
              <a:t>The heuristic function h(n) is called admissible if h(n) is never larger than h*(n), namely h(n) is always less or equal to true cheapest cost from n to the goal.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 is admissible if it uses an admissible heuristic, and h(goal) = 0.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If the heuristic function, h always underestimates the true cost (h(n) is smaller than h*(n)), then A* is guaranteed to find an optimal solution</a:t>
            </a:r>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4940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Informed Heuristic Functions</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Informed search, as opposed to uninformed search, utilizes additional information to guide the search process efficiently.</a:t>
            </a:r>
          </a:p>
          <a:p>
            <a:pPr algn="just"/>
            <a:r>
              <a:rPr lang="en-US" dirty="0">
                <a:latin typeface="Cambria" panose="02040503050406030204" pitchFamily="18" charset="0"/>
                <a:ea typeface="Cambria" panose="02040503050406030204" pitchFamily="18" charset="0"/>
              </a:rPr>
              <a:t>The information comes from heuristic functions, which provide estimates of the cost or value of states in the search space.</a:t>
            </a:r>
          </a:p>
          <a:p>
            <a:pPr algn="just"/>
            <a:r>
              <a:rPr lang="en-US" dirty="0">
                <a:latin typeface="Cambria" panose="02040503050406030204" pitchFamily="18" charset="0"/>
                <a:ea typeface="Cambria" panose="02040503050406030204" pitchFamily="18" charset="0"/>
              </a:rPr>
              <a:t>Informed search algorithms aim to reach the goal state while minimizing the computational effort and exploring more promising paths early in the search.</a:t>
            </a:r>
          </a:p>
          <a:p>
            <a:endParaRPr lang="en-US" dirty="0"/>
          </a:p>
        </p:txBody>
      </p:sp>
      <p:pic>
        <p:nvPicPr>
          <p:cNvPr id="4" name="Picture 3" descr="https://ci3.googleusercontent.com/mail-sig/AIorK4xT8k_ZVGbYhunFQaX-H0SL-roQDD29LdbWftjhlA-h5HHa4_w8AGShXAxKQ8uo1EYYVPAKvM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06" y="223477"/>
            <a:ext cx="18097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47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41857</TotalTime>
  <Words>4131</Words>
  <Application>Microsoft Office PowerPoint</Application>
  <PresentationFormat>Widescreen</PresentationFormat>
  <Paragraphs>439</Paragraphs>
  <Slides>89</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89</vt:i4>
      </vt:variant>
    </vt:vector>
  </HeadingPairs>
  <TitlesOfParts>
    <vt:vector size="99" baseType="lpstr">
      <vt:lpstr>Arial</vt:lpstr>
      <vt:lpstr>Calibri</vt:lpstr>
      <vt:lpstr>Calibri Light</vt:lpstr>
      <vt:lpstr>Cambria</vt:lpstr>
      <vt:lpstr>Nunito</vt:lpstr>
      <vt:lpstr>Tahoma</vt:lpstr>
      <vt:lpstr>Times New Roman</vt:lpstr>
      <vt:lpstr>Wingdings</vt:lpstr>
      <vt:lpstr>Office Theme</vt:lpstr>
      <vt:lpstr>Equation</vt:lpstr>
      <vt:lpstr>SEARCH STRATEGIES AND ALGORITHMS</vt:lpstr>
      <vt:lpstr>Escaping Local Optima</vt:lpstr>
      <vt:lpstr>State-space Diagram for Hill Climbing </vt:lpstr>
      <vt:lpstr>Random Walk Algorithm</vt:lpstr>
      <vt:lpstr>PowerPoint Presentation</vt:lpstr>
      <vt:lpstr>Algorithm</vt:lpstr>
      <vt:lpstr> About Simulated Annealing Algorithm </vt:lpstr>
      <vt:lpstr>Simulated Annealing</vt:lpstr>
      <vt:lpstr>PowerPoint Presentation</vt:lpstr>
      <vt:lpstr>PowerPoint Presentation</vt:lpstr>
      <vt:lpstr>Simulated Annealing</vt:lpstr>
      <vt:lpstr>PowerPoint Presentation</vt:lpstr>
      <vt:lpstr>Genetic Algorithms </vt:lpstr>
      <vt:lpstr>PowerPoint Presentation</vt:lpstr>
      <vt:lpstr>Population based methods</vt:lpstr>
      <vt:lpstr>Example: Eight Queen’s problem</vt:lpstr>
      <vt:lpstr>PowerPoint Presentation</vt:lpstr>
      <vt:lpstr>PowerPoint Presentation</vt:lpstr>
      <vt:lpstr>Eight Queen’s Problem</vt:lpstr>
      <vt:lpstr>Emergent Systems</vt:lpstr>
      <vt:lpstr>PowerPoint Presentation</vt:lpstr>
      <vt:lpstr>PowerPoint Presentation</vt:lpstr>
      <vt:lpstr>PowerPoint Presentation</vt:lpstr>
      <vt:lpstr>PowerPoint Presentation</vt:lpstr>
      <vt:lpstr>PowerPoint Presentation</vt:lpstr>
      <vt:lpstr>Application to TSP</vt:lpstr>
      <vt:lpstr>PowerPoint Presentation</vt:lpstr>
      <vt:lpstr>Overview of Concepts of Ant Colony Optimization</vt:lpstr>
      <vt:lpstr>A living bridge</vt:lpstr>
      <vt:lpstr>Co-operative carrying</vt:lpstr>
      <vt:lpstr>Emergent property of many individuals operating simple rules</vt:lpstr>
      <vt:lpstr>Ant Colony Optimisation Algorithms: Basic Ideas</vt:lpstr>
      <vt:lpstr>Pheromone Trails</vt:lpstr>
      <vt:lpstr>E.g. A 4-city TSP</vt:lpstr>
      <vt:lpstr>E.g. A 4-city TSP</vt:lpstr>
      <vt:lpstr>E.g. A 4-city TSP</vt:lpstr>
      <vt:lpstr>E.g. A 4-city TSP</vt:lpstr>
      <vt:lpstr>E.g. A 4-city TSP</vt:lpstr>
      <vt:lpstr>E.g. A 4-city TSP</vt:lpstr>
      <vt:lpstr>E.g. A 4-city TSP</vt:lpstr>
      <vt:lpstr>E.g. A 4-city TSP</vt:lpstr>
      <vt:lpstr>E.g. A 4-city TSP</vt:lpstr>
      <vt:lpstr>The ACO algorithm for the TSP </vt:lpstr>
      <vt:lpstr>The transition rule</vt:lpstr>
      <vt:lpstr>Global pheromone update</vt:lpstr>
      <vt:lpstr>SAT - Boolean satisfiability</vt:lpstr>
      <vt:lpstr>PowerPoint Presentation</vt:lpstr>
      <vt:lpstr>PowerPoint Presentation</vt:lpstr>
      <vt:lpstr>PowerPoint Presentation</vt:lpstr>
      <vt:lpstr>PowerPoint Presentation</vt:lpstr>
      <vt:lpstr>Traveling Salesman Problem (TSP)</vt:lpstr>
      <vt:lpstr>PowerPoint Presentation</vt:lpstr>
      <vt:lpstr>PowerPoint Presentation</vt:lpstr>
      <vt:lpstr>Finding Optimal Paths: Branch &amp; Bound, A*</vt:lpstr>
      <vt:lpstr>PowerPoint Presentation</vt:lpstr>
      <vt:lpstr>Basic Concepts of Branch and Bound</vt:lpstr>
      <vt:lpstr>PowerPoint Presentation</vt:lpstr>
      <vt:lpstr>The reasons to dismiss a search path at the current node :</vt:lpstr>
      <vt:lpstr>PowerPoint Presentation</vt:lpstr>
      <vt:lpstr>Classification of Branch and Bound Problems: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vt:lpstr>
      <vt:lpstr>PowerPoint Presentation</vt:lpstr>
      <vt:lpstr>Disadvantages </vt:lpstr>
      <vt:lpstr>PowerPoint Presentation</vt:lpstr>
      <vt:lpstr>Applications of the A* Search Algorithm </vt:lpstr>
      <vt:lpstr>PowerPoint Presentation</vt:lpstr>
      <vt:lpstr>Admissible A*</vt:lpstr>
      <vt:lpstr>Informed Heuristic Functions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STRATEGIES AND ALGORITHMS</dc:title>
  <dc:creator>Sowmiya</dc:creator>
  <cp:lastModifiedBy>Sowmiya</cp:lastModifiedBy>
  <cp:revision>64</cp:revision>
  <dcterms:created xsi:type="dcterms:W3CDTF">2024-05-08T04:57:23Z</dcterms:created>
  <dcterms:modified xsi:type="dcterms:W3CDTF">2025-02-04T04:33:46Z</dcterms:modified>
</cp:coreProperties>
</file>