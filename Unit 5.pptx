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313" r:id="rId11"/>
    <p:sldId id="265" r:id="rId12"/>
    <p:sldId id="266" r:id="rId13"/>
    <p:sldId id="267" r:id="rId14"/>
    <p:sldId id="268" r:id="rId15"/>
    <p:sldId id="269" r:id="rId16"/>
    <p:sldId id="270" r:id="rId17"/>
    <p:sldId id="295" r:id="rId18"/>
    <p:sldId id="296" r:id="rId19"/>
    <p:sldId id="297" r:id="rId20"/>
    <p:sldId id="271" r:id="rId21"/>
    <p:sldId id="272" r:id="rId22"/>
    <p:sldId id="273" r:id="rId23"/>
    <p:sldId id="298" r:id="rId24"/>
    <p:sldId id="299" r:id="rId25"/>
    <p:sldId id="300" r:id="rId26"/>
    <p:sldId id="301" r:id="rId27"/>
    <p:sldId id="302" r:id="rId28"/>
    <p:sldId id="303" r:id="rId29"/>
    <p:sldId id="304" r:id="rId30"/>
    <p:sldId id="305" r:id="rId31"/>
    <p:sldId id="306" r:id="rId32"/>
    <p:sldId id="307" r:id="rId33"/>
    <p:sldId id="308" r:id="rId34"/>
    <p:sldId id="284" r:id="rId35"/>
    <p:sldId id="281" r:id="rId36"/>
    <p:sldId id="282" r:id="rId37"/>
    <p:sldId id="292" r:id="rId38"/>
    <p:sldId id="293" r:id="rId39"/>
    <p:sldId id="294" r:id="rId40"/>
    <p:sldId id="309" r:id="rId41"/>
    <p:sldId id="310" r:id="rId42"/>
    <p:sldId id="311" r:id="rId43"/>
    <p:sldId id="31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3CA1509-2845-471D-AB4A-5E0439791225}" type="datetimeFigureOut">
              <a:rPr lang="en-US" smtClean="0"/>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3878387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CA1509-2845-471D-AB4A-5E0439791225}" type="datetimeFigureOut">
              <a:rPr lang="en-US" smtClean="0"/>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732011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3CA1509-2845-471D-AB4A-5E0439791225}" type="datetimeFigureOut">
              <a:rPr lang="en-US" smtClean="0"/>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3786276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3CA1509-2845-471D-AB4A-5E0439791225}" type="datetimeFigureOut">
              <a:rPr lang="en-US" smtClean="0"/>
              <a:t>5/23/2025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724027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3CA1509-2845-471D-AB4A-5E0439791225}" type="datetimeFigureOut">
              <a:rPr lang="en-US" smtClean="0"/>
              <a:t>5/23/2025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1465343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3CA1509-2845-471D-AB4A-5E0439791225}" type="datetimeFigureOut">
              <a:rPr lang="en-US" smtClean="0"/>
              <a:t>5/23/2025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2123240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CA1509-2845-471D-AB4A-5E0439791225}" type="datetimeFigureOut">
              <a:rPr lang="en-US" smtClean="0"/>
              <a:t>5/23/2025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4272463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CA1509-2845-471D-AB4A-5E0439791225}" type="datetimeFigureOut">
              <a:rPr lang="en-US" smtClean="0"/>
              <a:t>5/23/2025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45777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CA1509-2845-471D-AB4A-5E0439791225}" type="datetimeFigureOut">
              <a:rPr lang="en-US" smtClean="0"/>
              <a:t>5/23/2025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1566438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CA1509-2845-471D-AB4A-5E0439791225}" type="datetimeFigureOut">
              <a:rPr lang="en-US" smtClean="0"/>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3814864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3CA1509-2845-471D-AB4A-5E0439791225}" type="datetimeFigureOut">
              <a:rPr lang="en-US" smtClean="0"/>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AA91D2-2D3C-4BF6-AC7A-A76C7E96FFAD}" type="slidenum">
              <a:rPr lang="en-US" smtClean="0"/>
              <a:t>‹#›</a:t>
            </a:fld>
            <a:endParaRPr lang="en-US"/>
          </a:p>
        </p:txBody>
      </p:sp>
    </p:spTree>
    <p:extLst>
      <p:ext uri="{BB962C8B-B14F-4D97-AF65-F5344CB8AC3E}">
        <p14:creationId xmlns:p14="http://schemas.microsoft.com/office/powerpoint/2010/main" val="209286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CA1509-2845-471D-AB4A-5E0439791225}" type="datetimeFigureOut">
              <a:rPr lang="en-US" smtClean="0"/>
              <a:t>5/23/2025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AA91D2-2D3C-4BF6-AC7A-A76C7E96FFAD}" type="slidenum">
              <a:rPr lang="en-US" smtClean="0"/>
              <a:t>‹#›</a:t>
            </a:fld>
            <a:endParaRPr lang="en-US"/>
          </a:p>
        </p:txBody>
      </p:sp>
    </p:spTree>
    <p:extLst>
      <p:ext uri="{BB962C8B-B14F-4D97-AF65-F5344CB8AC3E}">
        <p14:creationId xmlns:p14="http://schemas.microsoft.com/office/powerpoint/2010/main" val="2884341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hiprocket.in/blog/international-air-cargo-carrier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Artificial_intelligence" TargetMode="External"/><Relationship Id="rId2" Type="http://schemas.openxmlformats.org/officeDocument/2006/relationships/hyperlink" Target="https://en.wikipedia.org/wiki/Automated_planning_and_schedul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Search_problem" TargetMode="External"/><Relationship Id="rId2" Type="http://schemas.openxmlformats.org/officeDocument/2006/relationships/hyperlink" Target="https://en.wikipedia.org/wiki/Np-hard"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PLANNING</a:t>
            </a:r>
            <a:endParaRPr lang="en-US" dirty="0"/>
          </a:p>
        </p:txBody>
      </p:sp>
    </p:spTree>
    <p:extLst>
      <p:ext uri="{BB962C8B-B14F-4D97-AF65-F5344CB8AC3E}">
        <p14:creationId xmlns:p14="http://schemas.microsoft.com/office/powerpoint/2010/main" val="2778872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Planning Domain Definition Language</a:t>
            </a:r>
          </a:p>
        </p:txBody>
      </p:sp>
      <p:sp>
        <p:nvSpPr>
          <p:cNvPr id="3" name="Content Placeholder 2"/>
          <p:cNvSpPr>
            <a:spLocks noGrp="1"/>
          </p:cNvSpPr>
          <p:nvPr>
            <p:ph idx="1"/>
          </p:nvPr>
        </p:nvSpPr>
        <p:spPr>
          <a:xfrm>
            <a:off x="332509" y="1839480"/>
            <a:ext cx="11540835" cy="4351338"/>
          </a:xfrm>
        </p:spPr>
        <p:txBody>
          <a:bodyPr>
            <a:normAutofit lnSpcReduction="10000"/>
          </a:bodyPr>
          <a:lstStyle/>
          <a:p>
            <a:pPr marL="0" indent="0" algn="just">
              <a:buNone/>
            </a:pPr>
            <a:r>
              <a:rPr lang="en-US" dirty="0" smtClean="0">
                <a:latin typeface="Cambria" panose="02040503050406030204" pitchFamily="18" charset="0"/>
                <a:ea typeface="Cambria" panose="02040503050406030204" pitchFamily="18" charset="0"/>
              </a:rPr>
              <a:t>PDDL = Planning Domain Definition Language </a:t>
            </a:r>
          </a:p>
          <a:p>
            <a:pPr marL="0" indent="0" algn="just">
              <a:buNone/>
            </a:pPr>
            <a:r>
              <a:rPr lang="en-US" dirty="0" smtClean="0">
                <a:latin typeface="Cambria" panose="02040503050406030204" pitchFamily="18" charset="0"/>
                <a:ea typeface="Cambria" panose="02040503050406030204" pitchFamily="18" charset="0"/>
              </a:rPr>
              <a:t>standard encoding language for “classical” planning tasks </a:t>
            </a:r>
          </a:p>
          <a:p>
            <a:pPr marL="0" indent="0" algn="just">
              <a:buNone/>
            </a:pPr>
            <a:r>
              <a:rPr lang="en-US" dirty="0" smtClean="0">
                <a:latin typeface="Cambria" panose="02040503050406030204" pitchFamily="18" charset="0"/>
                <a:ea typeface="Cambria" panose="02040503050406030204" pitchFamily="18" charset="0"/>
              </a:rPr>
              <a:t>Components of a PDDL planning task: </a:t>
            </a:r>
          </a:p>
          <a:p>
            <a:pPr algn="just"/>
            <a:r>
              <a:rPr lang="en-US" dirty="0" smtClean="0">
                <a:latin typeface="Cambria" panose="02040503050406030204" pitchFamily="18" charset="0"/>
                <a:ea typeface="Cambria" panose="02040503050406030204" pitchFamily="18" charset="0"/>
              </a:rPr>
              <a:t>Objects: Things in the world that interest us. </a:t>
            </a:r>
          </a:p>
          <a:p>
            <a:pPr algn="just"/>
            <a:r>
              <a:rPr lang="en-US" dirty="0" smtClean="0">
                <a:latin typeface="Cambria" panose="02040503050406030204" pitchFamily="18" charset="0"/>
                <a:ea typeface="Cambria" panose="02040503050406030204" pitchFamily="18" charset="0"/>
              </a:rPr>
              <a:t>Predicates: Properties of objects that we are interested in; can be true or false. </a:t>
            </a:r>
          </a:p>
          <a:p>
            <a:pPr algn="just"/>
            <a:r>
              <a:rPr lang="en-US" dirty="0" smtClean="0">
                <a:latin typeface="Cambria" panose="02040503050406030204" pitchFamily="18" charset="0"/>
                <a:ea typeface="Cambria" panose="02040503050406030204" pitchFamily="18" charset="0"/>
              </a:rPr>
              <a:t> Initial state: The state of the world that we start in. </a:t>
            </a:r>
          </a:p>
          <a:p>
            <a:pPr algn="just"/>
            <a:r>
              <a:rPr lang="en-US" dirty="0" smtClean="0">
                <a:latin typeface="Cambria" panose="02040503050406030204" pitchFamily="18" charset="0"/>
                <a:ea typeface="Cambria" panose="02040503050406030204" pitchFamily="18" charset="0"/>
              </a:rPr>
              <a:t>Goal specification: Things that we want to be true. </a:t>
            </a:r>
          </a:p>
          <a:p>
            <a:pPr algn="just"/>
            <a:r>
              <a:rPr lang="en-US" dirty="0" smtClean="0">
                <a:latin typeface="Cambria" panose="02040503050406030204" pitchFamily="18" charset="0"/>
                <a:ea typeface="Cambria" panose="02040503050406030204" pitchFamily="18" charset="0"/>
              </a:rPr>
              <a:t>Actions/Operators: Ways of changing the state of the world.</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3180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073" y="1396134"/>
            <a:ext cx="10515600" cy="4351338"/>
          </a:xfrm>
        </p:spPr>
        <p:txBody>
          <a:bodyPr/>
          <a:lstStyle/>
          <a:p>
            <a:pPr marL="0" indent="0">
              <a:buNone/>
            </a:pPr>
            <a:r>
              <a:rPr lang="en-US" dirty="0" smtClean="0"/>
              <a:t>Planning tasks specified in PDDL are separated into two files: </a:t>
            </a:r>
          </a:p>
          <a:p>
            <a:pPr marL="514350" indent="-514350">
              <a:buAutoNum type="arabicPeriod"/>
            </a:pPr>
            <a:r>
              <a:rPr lang="en-US" dirty="0" smtClean="0"/>
              <a:t>A domain file for predicates and actions. </a:t>
            </a:r>
          </a:p>
          <a:p>
            <a:pPr marL="514350" indent="-514350">
              <a:buAutoNum type="arabicPeriod"/>
            </a:pPr>
            <a:r>
              <a:rPr lang="en-US" dirty="0" smtClean="0"/>
              <a:t>A problem file for objects, initial state and goal specification.</a:t>
            </a:r>
            <a:endParaRPr lang="en-US" dirty="0"/>
          </a:p>
        </p:txBody>
      </p:sp>
    </p:spTree>
    <p:extLst>
      <p:ext uri="{BB962C8B-B14F-4D97-AF65-F5344CB8AC3E}">
        <p14:creationId xmlns:p14="http://schemas.microsoft.com/office/powerpoint/2010/main" val="3409500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22749" y="1675049"/>
            <a:ext cx="9809383" cy="4171569"/>
          </a:xfrm>
          <a:prstGeom prst="rect">
            <a:avLst/>
          </a:prstGeom>
        </p:spPr>
      </p:pic>
      <p:sp>
        <p:nvSpPr>
          <p:cNvPr id="5" name="TextBox 4"/>
          <p:cNvSpPr txBox="1"/>
          <p:nvPr/>
        </p:nvSpPr>
        <p:spPr>
          <a:xfrm>
            <a:off x="2618509" y="623455"/>
            <a:ext cx="4613564" cy="646331"/>
          </a:xfrm>
          <a:prstGeom prst="rect">
            <a:avLst/>
          </a:prstGeom>
          <a:noFill/>
        </p:spPr>
        <p:txBody>
          <a:bodyPr wrap="square" rtlCol="0">
            <a:spAutoFit/>
          </a:bodyPr>
          <a:lstStyle/>
          <a:p>
            <a:r>
              <a:rPr lang="en-US" sz="3600" dirty="0" smtClean="0">
                <a:latin typeface="Cambria" panose="02040503050406030204" pitchFamily="18" charset="0"/>
                <a:ea typeface="Cambria" panose="02040503050406030204" pitchFamily="18" charset="0"/>
              </a:rPr>
              <a:t>Problem Files</a:t>
            </a:r>
            <a:endParaRPr lang="en-US" sz="3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07423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3745" y="817958"/>
            <a:ext cx="10633673" cy="5194915"/>
          </a:xfrm>
          <a:prstGeom prst="rect">
            <a:avLst/>
          </a:prstGeom>
        </p:spPr>
      </p:pic>
    </p:spTree>
    <p:extLst>
      <p:ext uri="{BB962C8B-B14F-4D97-AF65-F5344CB8AC3E}">
        <p14:creationId xmlns:p14="http://schemas.microsoft.com/office/powerpoint/2010/main" val="1882224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Air Cargo Transport</a:t>
            </a:r>
            <a:endParaRPr lang="en-US" dirty="0"/>
          </a:p>
        </p:txBody>
      </p:sp>
      <p:sp>
        <p:nvSpPr>
          <p:cNvPr id="3" name="Content Placeholder 2"/>
          <p:cNvSpPr>
            <a:spLocks noGrp="1"/>
          </p:cNvSpPr>
          <p:nvPr>
            <p:ph idx="1"/>
          </p:nvPr>
        </p:nvSpPr>
        <p:spPr>
          <a:xfrm>
            <a:off x="838200" y="1607994"/>
            <a:ext cx="10515600" cy="4351338"/>
          </a:xfrm>
        </p:spPr>
        <p:txBody>
          <a:bodyPr/>
          <a:lstStyle/>
          <a:p>
            <a:pPr marL="0" indent="0" algn="just">
              <a:buNone/>
            </a:pPr>
            <a:r>
              <a:rPr lang="en-US" dirty="0">
                <a:latin typeface="Cambria" panose="02040503050406030204" pitchFamily="18" charset="0"/>
                <a:ea typeface="Cambria" panose="02040503050406030204" pitchFamily="18" charset="0"/>
              </a:rPr>
              <a:t>Air cargo is any shipment or items transported or carried via aircraft. It comprises air freight, airmail, and air express. </a:t>
            </a: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hlinkClick r:id="rId2"/>
              </a:rPr>
              <a:t>Air </a:t>
            </a:r>
            <a:r>
              <a:rPr lang="en-US" dirty="0">
                <a:latin typeface="Cambria" panose="02040503050406030204" pitchFamily="18" charset="0"/>
                <a:ea typeface="Cambria" panose="02040503050406030204" pitchFamily="18" charset="0"/>
                <a:hlinkClick r:id="rId2"/>
              </a:rPr>
              <a:t>carriers</a:t>
            </a:r>
            <a:r>
              <a:rPr lang="en-US" dirty="0">
                <a:latin typeface="Cambria" panose="02040503050406030204" pitchFamily="18" charset="0"/>
                <a:ea typeface="Cambria" panose="02040503050406030204" pitchFamily="18" charset="0"/>
              </a:rPr>
              <a:t> may carry the cargo in passenger flights or cargo aircraft. Passenger aircraft put the spare volume in an airplane’s baggage hold (the belly) which is not in use for passenger luggage. </a:t>
            </a: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This </a:t>
            </a:r>
            <a:r>
              <a:rPr lang="en-US" dirty="0">
                <a:latin typeface="Cambria" panose="02040503050406030204" pitchFamily="18" charset="0"/>
                <a:ea typeface="Cambria" panose="02040503050406030204" pitchFamily="18" charset="0"/>
              </a:rPr>
              <a:t>is a usual practice followed by passenger airlines that transport air cargo on scheduled passenger flights. </a:t>
            </a: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A </a:t>
            </a:r>
            <a:r>
              <a:rPr lang="en-US" dirty="0">
                <a:latin typeface="Cambria" panose="02040503050406030204" pitchFamily="18" charset="0"/>
                <a:ea typeface="Cambria" panose="02040503050406030204" pitchFamily="18" charset="0"/>
              </a:rPr>
              <a:t>passenger aircraft may also act as a </a:t>
            </a:r>
            <a:r>
              <a:rPr lang="en-US" dirty="0" err="1">
                <a:latin typeface="Cambria" panose="02040503050406030204" pitchFamily="18" charset="0"/>
                <a:ea typeface="Cambria" panose="02040503050406030204" pitchFamily="18" charset="0"/>
              </a:rPr>
              <a:t>preighter</a:t>
            </a:r>
            <a:r>
              <a:rPr lang="en-US" dirty="0">
                <a:latin typeface="Cambria" panose="02040503050406030204" pitchFamily="18" charset="0"/>
                <a:ea typeface="Cambria" panose="02040503050406030204" pitchFamily="18" charset="0"/>
              </a:rPr>
              <a:t>, in which the complete passenger cabin is temporarily assigned for carrying freight. </a:t>
            </a:r>
          </a:p>
        </p:txBody>
      </p:sp>
    </p:spTree>
    <p:extLst>
      <p:ext uri="{BB962C8B-B14F-4D97-AF65-F5344CB8AC3E}">
        <p14:creationId xmlns:p14="http://schemas.microsoft.com/office/powerpoint/2010/main" val="3975512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Air Cargo Shipping Operate?</a:t>
            </a:r>
            <a:br>
              <a:rPr lang="en-US" b="1" dirty="0"/>
            </a:br>
            <a:endParaRPr lang="en-US" dirty="0"/>
          </a:p>
        </p:txBody>
      </p:sp>
      <p:sp>
        <p:nvSpPr>
          <p:cNvPr id="3" name="Content Placeholder 2"/>
          <p:cNvSpPr>
            <a:spLocks noGrp="1"/>
          </p:cNvSpPr>
          <p:nvPr>
            <p:ph idx="1"/>
          </p:nvPr>
        </p:nvSpPr>
        <p:spPr>
          <a:xfrm>
            <a:off x="838200" y="1579418"/>
            <a:ext cx="10515600" cy="4597545"/>
          </a:xfrm>
        </p:spPr>
        <p:txBody>
          <a:bodyPr/>
          <a:lstStyle/>
          <a:p>
            <a:pPr algn="just"/>
            <a:r>
              <a:rPr lang="en-US" dirty="0">
                <a:latin typeface="Cambria" panose="02040503050406030204" pitchFamily="18" charset="0"/>
                <a:ea typeface="Cambria" panose="02040503050406030204" pitchFamily="18" charset="0"/>
              </a:rPr>
              <a:t>Air cargo shipping consists of a complex network of airports, cargo planes, ground handling services, and logistics companies.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air cargo shipping process begins with goods reaching an air cargo terminal, followed by a security screening.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After </a:t>
            </a:r>
            <a:r>
              <a:rPr lang="en-US" dirty="0">
                <a:latin typeface="Cambria" panose="02040503050406030204" pitchFamily="18" charset="0"/>
                <a:ea typeface="Cambria" panose="02040503050406030204" pitchFamily="18" charset="0"/>
              </a:rPr>
              <a:t>the necessary checks, the goods are stored and then loaded onto the aircraft.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This </a:t>
            </a:r>
            <a:r>
              <a:rPr lang="en-US" dirty="0">
                <a:latin typeface="Cambria" panose="02040503050406030204" pitchFamily="18" charset="0"/>
                <a:ea typeface="Cambria" panose="02040503050406030204" pitchFamily="18" charset="0"/>
              </a:rPr>
              <a:t>complicated process requires coordination among air carriers, ground services, and logistics providers to make the operations error-free and efficient</a:t>
            </a:r>
          </a:p>
        </p:txBody>
      </p:sp>
    </p:spTree>
    <p:extLst>
      <p:ext uri="{BB962C8B-B14F-4D97-AF65-F5344CB8AC3E}">
        <p14:creationId xmlns:p14="http://schemas.microsoft.com/office/powerpoint/2010/main" val="2499308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9373" y="101889"/>
            <a:ext cx="10515600" cy="1325563"/>
          </a:xfrm>
        </p:spPr>
        <p:txBody>
          <a:bodyPr/>
          <a:lstStyle/>
          <a:p>
            <a:r>
              <a:rPr lang="en-US" b="1" dirty="0" smtClean="0"/>
              <a:t>The </a:t>
            </a:r>
            <a:r>
              <a:rPr lang="en-US" b="1" dirty="0"/>
              <a:t>detailed steps that facilitate the air cargo shipping process:</a:t>
            </a:r>
            <a:endParaRPr lang="en-US" dirty="0"/>
          </a:p>
        </p:txBody>
      </p:sp>
      <p:sp>
        <p:nvSpPr>
          <p:cNvPr id="3" name="Content Placeholder 2"/>
          <p:cNvSpPr>
            <a:spLocks noGrp="1"/>
          </p:cNvSpPr>
          <p:nvPr>
            <p:ph idx="1"/>
          </p:nvPr>
        </p:nvSpPr>
        <p:spPr>
          <a:xfrm>
            <a:off x="422564" y="1690688"/>
            <a:ext cx="11409218" cy="4694094"/>
          </a:xfrm>
        </p:spPr>
        <p:txBody>
          <a:bodyPr>
            <a:normAutofit lnSpcReduction="10000"/>
          </a:bodyPr>
          <a:lstStyle/>
          <a:p>
            <a:pPr algn="just"/>
            <a:r>
              <a:rPr lang="en-US" sz="2600" b="1" dirty="0" err="1">
                <a:latin typeface="Cambria" panose="02040503050406030204" pitchFamily="18" charset="0"/>
                <a:ea typeface="Cambria" panose="02040503050406030204" pitchFamily="18" charset="0"/>
              </a:rPr>
              <a:t>Finalising</a:t>
            </a:r>
            <a:r>
              <a:rPr lang="en-US" sz="2600" b="1" dirty="0">
                <a:latin typeface="Cambria" panose="02040503050406030204" pitchFamily="18" charset="0"/>
                <a:ea typeface="Cambria" panose="02040503050406030204" pitchFamily="18" charset="0"/>
              </a:rPr>
              <a:t> Booking:</a:t>
            </a:r>
            <a:r>
              <a:rPr lang="en-US" sz="2600" dirty="0">
                <a:latin typeface="Cambria" panose="02040503050406030204" pitchFamily="18" charset="0"/>
                <a:ea typeface="Cambria" panose="02040503050406030204" pitchFamily="18" charset="0"/>
              </a:rPr>
              <a:t> The first thing the shipper takes care of is booking the cargo with a preferred airline. The freight forwarder also provides the airline with all the necessary information about the origin, destination, and type of cargo.</a:t>
            </a:r>
          </a:p>
          <a:p>
            <a:pPr algn="just"/>
            <a:r>
              <a:rPr lang="en-US" sz="2600" b="1" dirty="0">
                <a:latin typeface="Cambria" panose="02040503050406030204" pitchFamily="18" charset="0"/>
                <a:ea typeface="Cambria" panose="02040503050406030204" pitchFamily="18" charset="0"/>
              </a:rPr>
              <a:t>Managing Paperwork:</a:t>
            </a:r>
            <a:r>
              <a:rPr lang="en-US" sz="2600" dirty="0">
                <a:latin typeface="Cambria" panose="02040503050406030204" pitchFamily="18" charset="0"/>
                <a:ea typeface="Cambria" panose="02040503050406030204" pitchFamily="18" charset="0"/>
              </a:rPr>
              <a:t> The freight forwarder or shipper prepares various documents like the bill of lading, commercial invoice, or other necessary certificates or permits involved in air cargo transportation. </a:t>
            </a:r>
          </a:p>
          <a:p>
            <a:pPr algn="just"/>
            <a:r>
              <a:rPr lang="en-US" sz="2600" b="1" dirty="0">
                <a:latin typeface="Cambria" panose="02040503050406030204" pitchFamily="18" charset="0"/>
                <a:ea typeface="Cambria" panose="02040503050406030204" pitchFamily="18" charset="0"/>
              </a:rPr>
              <a:t>Packaging and Labelling Cargo: </a:t>
            </a:r>
            <a:r>
              <a:rPr lang="en-US" sz="2600" dirty="0">
                <a:latin typeface="Cambria" panose="02040503050406030204" pitchFamily="18" charset="0"/>
                <a:ea typeface="Cambria" panose="02040503050406030204" pitchFamily="18" charset="0"/>
              </a:rPr>
              <a:t>The shipper packs the cargo and labels it as per the specifications of the respective airline, before shipping.</a:t>
            </a:r>
          </a:p>
          <a:p>
            <a:pPr algn="just"/>
            <a:r>
              <a:rPr lang="en-US" sz="2600" b="1" dirty="0">
                <a:latin typeface="Cambria" panose="02040503050406030204" pitchFamily="18" charset="0"/>
                <a:ea typeface="Cambria" panose="02040503050406030204" pitchFamily="18" charset="0"/>
              </a:rPr>
              <a:t>Cargo-Handling:</a:t>
            </a:r>
            <a:r>
              <a:rPr lang="en-US" sz="2600" dirty="0">
                <a:latin typeface="Cambria" panose="02040503050406030204" pitchFamily="18" charset="0"/>
                <a:ea typeface="Cambria" panose="02040503050406030204" pitchFamily="18" charset="0"/>
              </a:rPr>
              <a:t> As the cargo has the right labels and packaging on it, it’s ready for transport to the airport. On reaching the airport, the cargo is loaded either onto a specific cargo plane or placed in the cargo hold of a passenger plane for shipping.</a:t>
            </a:r>
          </a:p>
          <a:p>
            <a:endParaRPr lang="en-US" dirty="0"/>
          </a:p>
        </p:txBody>
      </p:sp>
    </p:spTree>
    <p:extLst>
      <p:ext uri="{BB962C8B-B14F-4D97-AF65-F5344CB8AC3E}">
        <p14:creationId xmlns:p14="http://schemas.microsoft.com/office/powerpoint/2010/main" val="3717816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1219" y="911225"/>
            <a:ext cx="10515600" cy="4351338"/>
          </a:xfrm>
        </p:spPr>
        <p:txBody>
          <a:bodyPr/>
          <a:lstStyle/>
          <a:p>
            <a:pPr algn="just"/>
            <a:r>
              <a:rPr lang="en-US" b="1" dirty="0">
                <a:latin typeface="Cambria" panose="02040503050406030204" pitchFamily="18" charset="0"/>
                <a:ea typeface="Cambria" panose="02040503050406030204" pitchFamily="18" charset="0"/>
              </a:rPr>
              <a:t>Transporting Cargo:</a:t>
            </a:r>
            <a:r>
              <a:rPr lang="en-US" dirty="0">
                <a:latin typeface="Cambria" panose="02040503050406030204" pitchFamily="18" charset="0"/>
                <a:ea typeface="Cambria" panose="02040503050406030204" pitchFamily="18" charset="0"/>
              </a:rPr>
              <a:t> The aircraft then takes a flight to the destination airport. As soon as the plane lands, the concerned personnel unload the cargo and send it to the receiver’s destination. </a:t>
            </a:r>
          </a:p>
          <a:p>
            <a:pPr algn="just"/>
            <a:r>
              <a:rPr lang="en-US" b="1" dirty="0">
                <a:latin typeface="Cambria" panose="02040503050406030204" pitchFamily="18" charset="0"/>
                <a:ea typeface="Cambria" panose="02040503050406030204" pitchFamily="18" charset="0"/>
              </a:rPr>
              <a:t>Customs Clearance:</a:t>
            </a:r>
            <a:r>
              <a:rPr lang="en-US" dirty="0">
                <a:latin typeface="Cambria" panose="02040503050406030204" pitchFamily="18" charset="0"/>
                <a:ea typeface="Cambria" panose="02040503050406030204" pitchFamily="18" charset="0"/>
              </a:rPr>
              <a:t> Once the cargo hits the customs point, the customs duty officials pitch in to inspect and clear the cargo for entry into the destination country. </a:t>
            </a:r>
          </a:p>
          <a:p>
            <a:pPr algn="just"/>
            <a:r>
              <a:rPr lang="en-US" b="1" dirty="0">
                <a:latin typeface="Cambria" panose="02040503050406030204" pitchFamily="18" charset="0"/>
                <a:ea typeface="Cambria" panose="02040503050406030204" pitchFamily="18" charset="0"/>
              </a:rPr>
              <a:t>Delivery of Shipment:</a:t>
            </a:r>
            <a:r>
              <a:rPr lang="en-US" dirty="0">
                <a:latin typeface="Cambria" panose="02040503050406030204" pitchFamily="18" charset="0"/>
                <a:ea typeface="Cambria" panose="02040503050406030204" pitchFamily="18" charset="0"/>
              </a:rPr>
              <a:t> Finally, the airline or a local delivery service delivers the shipment to the recipient as it reaches the destination</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47244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54997" y="176933"/>
            <a:ext cx="10029875" cy="6251685"/>
          </a:xfrm>
          <a:prstGeom prst="rect">
            <a:avLst/>
          </a:prstGeom>
        </p:spPr>
      </p:pic>
    </p:spTree>
    <p:extLst>
      <p:ext uri="{BB962C8B-B14F-4D97-AF65-F5344CB8AC3E}">
        <p14:creationId xmlns:p14="http://schemas.microsoft.com/office/powerpoint/2010/main" val="1038219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Benefits </a:t>
            </a:r>
            <a:r>
              <a:rPr lang="en-US" b="1" dirty="0"/>
              <a:t>of Air Cargo </a:t>
            </a:r>
            <a:r>
              <a:rPr lang="en-US" b="1" dirty="0" smtClean="0"/>
              <a:t>Shipping</a:t>
            </a:r>
            <a:r>
              <a:rPr lang="en-US" b="1" dirty="0"/>
              <a:t/>
            </a:r>
            <a:br>
              <a:rPr lang="en-US" b="1" dirty="0"/>
            </a:br>
            <a:endParaRPr lang="en-US" dirty="0"/>
          </a:p>
        </p:txBody>
      </p:sp>
      <p:sp>
        <p:nvSpPr>
          <p:cNvPr id="3" name="Content Placeholder 2"/>
          <p:cNvSpPr>
            <a:spLocks noGrp="1"/>
          </p:cNvSpPr>
          <p:nvPr>
            <p:ph idx="1"/>
          </p:nvPr>
        </p:nvSpPr>
        <p:spPr>
          <a:xfrm>
            <a:off x="318654" y="1401979"/>
            <a:ext cx="11249891" cy="5068599"/>
          </a:xfrm>
        </p:spPr>
        <p:txBody>
          <a:bodyPr>
            <a:normAutofit fontScale="92500" lnSpcReduction="20000"/>
          </a:bodyPr>
          <a:lstStyle/>
          <a:p>
            <a:pPr algn="just">
              <a:lnSpc>
                <a:spcPct val="110000"/>
              </a:lnSpc>
            </a:pPr>
            <a:r>
              <a:rPr lang="en-US" b="1" dirty="0">
                <a:latin typeface="Cambria" panose="02040503050406030204" pitchFamily="18" charset="0"/>
                <a:ea typeface="Cambria" panose="02040503050406030204" pitchFamily="18" charset="0"/>
              </a:rPr>
              <a:t>Speed and Efficiency</a:t>
            </a:r>
            <a:r>
              <a:rPr lang="en-US" dirty="0">
                <a:latin typeface="Cambria" panose="02040503050406030204" pitchFamily="18" charset="0"/>
                <a:ea typeface="Cambria" panose="02040503050406030204" pitchFamily="18" charset="0"/>
              </a:rPr>
              <a:t>: Air cargo is renowned for its speed, offering the quickest transportation method across long distances. This rapid transit time is crucial for industries relying on just-in-time manufacturing processes, emergency relief efforts needing urgent supply delivery, and businesses dealing in perishable goods or time-sensitive products like pharmaceuticals and fashion. </a:t>
            </a:r>
            <a:r>
              <a:rPr lang="en-US" b="1" dirty="0">
                <a:latin typeface="Cambria" panose="02040503050406030204" pitchFamily="18" charset="0"/>
                <a:ea typeface="Cambria" panose="02040503050406030204" pitchFamily="18" charset="0"/>
              </a:rPr>
              <a:t>The efficiency of air cargo reduces the reliance on large inventory stocks, allowing companies to operate on leaner supply chains with lower storage costs.</a:t>
            </a:r>
          </a:p>
          <a:p>
            <a:pPr algn="just">
              <a:lnSpc>
                <a:spcPct val="110000"/>
              </a:lnSpc>
            </a:pPr>
            <a:r>
              <a:rPr lang="en-US" b="1" dirty="0">
                <a:latin typeface="Cambria" panose="02040503050406030204" pitchFamily="18" charset="0"/>
                <a:ea typeface="Cambria" panose="02040503050406030204" pitchFamily="18" charset="0"/>
              </a:rPr>
              <a:t>Global Reach</a:t>
            </a:r>
            <a:r>
              <a:rPr lang="en-US" dirty="0">
                <a:latin typeface="Cambria" panose="02040503050406030204" pitchFamily="18" charset="0"/>
                <a:ea typeface="Cambria" panose="02040503050406030204" pitchFamily="18" charset="0"/>
              </a:rPr>
              <a:t>: With air cargo, you can spread your wings across many destinations worldwide. It even becomes easy to access some remote and hard-to-reach areas by air. </a:t>
            </a:r>
            <a:r>
              <a:rPr lang="en-US" b="1" dirty="0">
                <a:latin typeface="Cambria" panose="02040503050406030204" pitchFamily="18" charset="0"/>
                <a:ea typeface="Cambria" panose="02040503050406030204" pitchFamily="18" charset="0"/>
              </a:rPr>
              <a:t>This extensive reach particularly benefits global businesses that need to expand their market presence or source materials from distant locations. </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26929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2781" y="980498"/>
            <a:ext cx="10515600" cy="4351338"/>
          </a:xfrm>
        </p:spPr>
        <p:txBody>
          <a:bodyPr/>
          <a:lstStyle/>
          <a:p>
            <a:pPr algn="just">
              <a:lnSpc>
                <a:spcPct val="100000"/>
              </a:lnSpc>
            </a:pPr>
            <a:r>
              <a:rPr lang="en-US" b="1" dirty="0">
                <a:latin typeface="Cambria" panose="02040503050406030204" pitchFamily="18" charset="0"/>
                <a:ea typeface="Cambria" panose="02040503050406030204" pitchFamily="18" charset="0"/>
              </a:rPr>
              <a:t>Safe Transit</a:t>
            </a:r>
            <a:r>
              <a:rPr lang="en-US" dirty="0">
                <a:latin typeface="Cambria" panose="02040503050406030204" pitchFamily="18" charset="0"/>
                <a:ea typeface="Cambria" panose="02040503050406030204" pitchFamily="18" charset="0"/>
              </a:rPr>
              <a:t>: The air cargo industry tends to maintain stringent security standards, which </a:t>
            </a:r>
            <a:r>
              <a:rPr lang="en-US" dirty="0" smtClean="0">
                <a:latin typeface="Cambria" panose="02040503050406030204" pitchFamily="18" charset="0"/>
                <a:ea typeface="Cambria" panose="02040503050406030204" pitchFamily="18" charset="0"/>
              </a:rPr>
              <a:t>minimizes </a:t>
            </a:r>
            <a:r>
              <a:rPr lang="en-US" dirty="0">
                <a:latin typeface="Cambria" panose="02040503050406030204" pitchFamily="18" charset="0"/>
                <a:ea typeface="Cambria" panose="02040503050406030204" pitchFamily="18" charset="0"/>
              </a:rPr>
              <a:t>the risk of theft, damage, or loss during transit. Businesses or individuals wanting to ship high-value goods especially benefit from the enhanced security measures at airports, like surveillance, restricted access zones, and </a:t>
            </a:r>
            <a:r>
              <a:rPr lang="en-US" dirty="0" err="1">
                <a:latin typeface="Cambria" panose="02040503050406030204" pitchFamily="18" charset="0"/>
                <a:ea typeface="Cambria" panose="02040503050406030204" pitchFamily="18" charset="0"/>
              </a:rPr>
              <a:t>specialised</a:t>
            </a:r>
            <a:r>
              <a:rPr lang="en-US" dirty="0">
                <a:latin typeface="Cambria" panose="02040503050406030204" pitchFamily="18" charset="0"/>
                <a:ea typeface="Cambria" panose="02040503050406030204" pitchFamily="18" charset="0"/>
              </a:rPr>
              <a:t> handling. Owing to the secure environment and speedy delivery, businesses often prefer air cargo shipping for transporting their goods. </a:t>
            </a:r>
          </a:p>
        </p:txBody>
      </p:sp>
    </p:spTree>
    <p:extLst>
      <p:ext uri="{BB962C8B-B14F-4D97-AF65-F5344CB8AC3E}">
        <p14:creationId xmlns:p14="http://schemas.microsoft.com/office/powerpoint/2010/main" val="2569339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8871"/>
            <a:ext cx="10515600" cy="1325563"/>
          </a:xfrm>
        </p:spPr>
        <p:txBody>
          <a:bodyPr/>
          <a:lstStyle/>
          <a:p>
            <a:r>
              <a:rPr lang="en-US" b="1" dirty="0"/>
              <a:t>Drawbacks</a:t>
            </a:r>
            <a:br>
              <a:rPr lang="en-US" b="1" dirty="0"/>
            </a:br>
            <a:endParaRPr lang="en-US" dirty="0"/>
          </a:p>
        </p:txBody>
      </p:sp>
      <p:sp>
        <p:nvSpPr>
          <p:cNvPr id="3" name="Content Placeholder 2"/>
          <p:cNvSpPr>
            <a:spLocks noGrp="1"/>
          </p:cNvSpPr>
          <p:nvPr>
            <p:ph idx="1"/>
          </p:nvPr>
        </p:nvSpPr>
        <p:spPr>
          <a:xfrm>
            <a:off x="498764" y="1122218"/>
            <a:ext cx="10855036" cy="5151727"/>
          </a:xfrm>
        </p:spPr>
        <p:txBody>
          <a:bodyPr>
            <a:normAutofit/>
          </a:bodyPr>
          <a:lstStyle/>
          <a:p>
            <a:pPr algn="just">
              <a:lnSpc>
                <a:spcPct val="100000"/>
              </a:lnSpc>
            </a:pPr>
            <a:r>
              <a:rPr lang="en-US" sz="2400" b="1" dirty="0">
                <a:latin typeface="Cambria" panose="02040503050406030204" pitchFamily="18" charset="0"/>
                <a:ea typeface="Cambria" panose="02040503050406030204" pitchFamily="18" charset="0"/>
              </a:rPr>
              <a:t>Cost</a:t>
            </a:r>
            <a:r>
              <a:rPr lang="en-US" sz="2400" dirty="0">
                <a:latin typeface="Cambria" panose="02040503050406030204" pitchFamily="18" charset="0"/>
                <a:ea typeface="Cambria" panose="02040503050406030204" pitchFamily="18" charset="0"/>
              </a:rPr>
              <a:t>: One of the primary drawbacks of air cargo is its cost. The expense associated with air transport is significantly higher than other modes due to fuel consumption, aircraft maintenance, and airport fees. These costs often translate to higher freight charges, making air cargo less economically viable for low-value or high-volume shipments. Businesses must carefully weigh the benefits of quick delivery against the increased logistics costs.</a:t>
            </a:r>
          </a:p>
          <a:p>
            <a:pPr algn="just">
              <a:lnSpc>
                <a:spcPct val="100000"/>
              </a:lnSpc>
            </a:pPr>
            <a:r>
              <a:rPr lang="en-US" sz="2400" b="1" dirty="0">
                <a:latin typeface="Cambria" panose="02040503050406030204" pitchFamily="18" charset="0"/>
                <a:ea typeface="Cambria" panose="02040503050406030204" pitchFamily="18" charset="0"/>
              </a:rPr>
              <a:t>Environmental Concerns:</a:t>
            </a:r>
            <a:r>
              <a:rPr lang="en-US" sz="2400" dirty="0">
                <a:latin typeface="Cambria" panose="02040503050406030204" pitchFamily="18" charset="0"/>
                <a:ea typeface="Cambria" panose="02040503050406030204" pitchFamily="18" charset="0"/>
              </a:rPr>
              <a:t> Eco-friendliness and sustainability are a huge concern when businesses opt for air cargo shipping because air transport is one of the most carbon-intensive modes of freight transport. It massively contributes to greenhouse gas emissions and global climate change. For example, the famous singer ‘Taylor Swift’ recently received backlash from the public for taking too many flights in her private jet. This is because it increases her carbon footprint and puts her in a bad light for hampering the environment.</a:t>
            </a:r>
          </a:p>
          <a:p>
            <a:pPr>
              <a:lnSpc>
                <a:spcPct val="100000"/>
              </a:lnSpc>
            </a:pPr>
            <a:endParaRPr lang="en-US" dirty="0"/>
          </a:p>
        </p:txBody>
      </p:sp>
    </p:spTree>
    <p:extLst>
      <p:ext uri="{BB962C8B-B14F-4D97-AF65-F5344CB8AC3E}">
        <p14:creationId xmlns:p14="http://schemas.microsoft.com/office/powerpoint/2010/main" val="158674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8818" y="841952"/>
            <a:ext cx="10515600" cy="4351338"/>
          </a:xfrm>
        </p:spPr>
        <p:txBody>
          <a:bodyPr>
            <a:normAutofit/>
          </a:bodyPr>
          <a:lstStyle/>
          <a:p>
            <a:pPr algn="just"/>
            <a:r>
              <a:rPr lang="en-US" sz="2400" b="1" dirty="0">
                <a:latin typeface="Cambria" panose="02040503050406030204" pitchFamily="18" charset="0"/>
                <a:ea typeface="Cambria" panose="02040503050406030204" pitchFamily="18" charset="0"/>
              </a:rPr>
              <a:t>Size and Weight Restrictions</a:t>
            </a:r>
            <a:r>
              <a:rPr lang="en-US" sz="2400" dirty="0">
                <a:latin typeface="Cambria" panose="02040503050406030204" pitchFamily="18" charset="0"/>
                <a:ea typeface="Cambria" panose="02040503050406030204" pitchFamily="18" charset="0"/>
              </a:rPr>
              <a:t>: Another drawback of taking this mode of transport is that an aircraft has finite space and payload capacity. Therefore, it imposes limitations on the size and weight of cargo eligible for transportation. These restrictions are a demerit for industries dealing in bulky or heavy goods, such as machinery or automotive parts. These heavy goods may need more space than allowed within the dimensional and weight constraints of standard air cargo services. It necessitates alternative logistics solutions for oversized shipments, which ends up potentially complicating the supply chain and increasing shipping costs.</a:t>
            </a:r>
          </a:p>
        </p:txBody>
      </p:sp>
    </p:spTree>
    <p:extLst>
      <p:ext uri="{BB962C8B-B14F-4D97-AF65-F5344CB8AC3E}">
        <p14:creationId xmlns:p14="http://schemas.microsoft.com/office/powerpoint/2010/main" val="1879014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1545" y="0"/>
            <a:ext cx="10515600" cy="1325563"/>
          </a:xfrm>
        </p:spPr>
        <p:txBody>
          <a:bodyPr/>
          <a:lstStyle/>
          <a:p>
            <a:r>
              <a:rPr lang="en-US" dirty="0">
                <a:latin typeface="Cambria" panose="02040503050406030204" pitchFamily="18" charset="0"/>
                <a:ea typeface="Cambria" panose="02040503050406030204" pitchFamily="18" charset="0"/>
              </a:rPr>
              <a:t>Blocks World</a:t>
            </a:r>
          </a:p>
        </p:txBody>
      </p:sp>
      <p:sp>
        <p:nvSpPr>
          <p:cNvPr id="3" name="Content Placeholder 2"/>
          <p:cNvSpPr>
            <a:spLocks noGrp="1"/>
          </p:cNvSpPr>
          <p:nvPr>
            <p:ph idx="1"/>
          </p:nvPr>
        </p:nvSpPr>
        <p:spPr>
          <a:xfrm>
            <a:off x="374073" y="1160607"/>
            <a:ext cx="11423071" cy="5558848"/>
          </a:xfrm>
        </p:spPr>
        <p:txBody>
          <a:bodyPr>
            <a:normAutofit fontScale="92500" lnSpcReduction="20000"/>
          </a:bodyPr>
          <a:lstStyle/>
          <a:p>
            <a:pPr algn="just">
              <a:lnSpc>
                <a:spcPct val="110000"/>
              </a:lnSpc>
            </a:pPr>
            <a:r>
              <a:rPr lang="en-US" dirty="0" smtClean="0">
                <a:latin typeface="Cambria" panose="02040503050406030204" pitchFamily="18" charset="0"/>
                <a:ea typeface="Cambria" panose="02040503050406030204" pitchFamily="18" charset="0"/>
              </a:rPr>
              <a:t>The</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blocks world</a:t>
            </a:r>
            <a:r>
              <a:rPr lang="en-US" dirty="0">
                <a:latin typeface="Cambria" panose="02040503050406030204" pitchFamily="18" charset="0"/>
                <a:ea typeface="Cambria" panose="02040503050406030204" pitchFamily="18" charset="0"/>
              </a:rPr>
              <a:t> is a </a:t>
            </a:r>
            <a:r>
              <a:rPr lang="en-US" dirty="0">
                <a:latin typeface="Cambria" panose="02040503050406030204" pitchFamily="18" charset="0"/>
                <a:ea typeface="Cambria" panose="02040503050406030204" pitchFamily="18" charset="0"/>
                <a:hlinkClick r:id="rId2" tooltip="Automated planning and scheduling"/>
              </a:rPr>
              <a:t>planning domain</a:t>
            </a:r>
            <a:r>
              <a:rPr lang="en-US" dirty="0">
                <a:latin typeface="Cambria" panose="02040503050406030204" pitchFamily="18" charset="0"/>
                <a:ea typeface="Cambria" panose="02040503050406030204" pitchFamily="18" charset="0"/>
              </a:rPr>
              <a:t> in </a:t>
            </a:r>
            <a:r>
              <a:rPr lang="en-US" dirty="0">
                <a:latin typeface="Cambria" panose="02040503050406030204" pitchFamily="18" charset="0"/>
                <a:ea typeface="Cambria" panose="02040503050406030204" pitchFamily="18" charset="0"/>
                <a:hlinkClick r:id="rId3" tooltip="Artificial intelligence"/>
              </a:rPr>
              <a:t>artificial intelligence</a:t>
            </a:r>
            <a:r>
              <a:rPr lang="en-US" dirty="0">
                <a:latin typeface="Cambria" panose="02040503050406030204" pitchFamily="18" charset="0"/>
                <a:ea typeface="Cambria" panose="02040503050406030204" pitchFamily="18" charset="0"/>
              </a:rPr>
              <a:t>. The algorithm is similar to a set of wooden blocks of various shapes and colors sitting on a table. </a:t>
            </a:r>
            <a:endParaRPr lang="en-US" dirty="0" smtClean="0">
              <a:latin typeface="Cambria" panose="02040503050406030204" pitchFamily="18" charset="0"/>
              <a:ea typeface="Cambria" panose="02040503050406030204" pitchFamily="18" charset="0"/>
            </a:endParaRPr>
          </a:p>
          <a:p>
            <a:pPr algn="just">
              <a:lnSpc>
                <a:spcPct val="110000"/>
              </a:lnSpc>
            </a:pPr>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goal is to build one or more vertical stacks of blocks. Only one block may be moved at a time: it may either be placed on the table or placed atop another block. </a:t>
            </a:r>
            <a:endParaRPr lang="en-US" dirty="0" smtClean="0">
              <a:latin typeface="Cambria" panose="02040503050406030204" pitchFamily="18" charset="0"/>
              <a:ea typeface="Cambria" panose="02040503050406030204" pitchFamily="18" charset="0"/>
            </a:endParaRPr>
          </a:p>
          <a:p>
            <a:pPr algn="just">
              <a:lnSpc>
                <a:spcPct val="110000"/>
              </a:lnSpc>
            </a:pPr>
            <a:r>
              <a:rPr lang="en-US" dirty="0" smtClean="0">
                <a:latin typeface="Cambria" panose="02040503050406030204" pitchFamily="18" charset="0"/>
                <a:ea typeface="Cambria" panose="02040503050406030204" pitchFamily="18" charset="0"/>
              </a:rPr>
              <a:t>Because </a:t>
            </a:r>
            <a:r>
              <a:rPr lang="en-US" dirty="0">
                <a:latin typeface="Cambria" panose="02040503050406030204" pitchFamily="18" charset="0"/>
                <a:ea typeface="Cambria" panose="02040503050406030204" pitchFamily="18" charset="0"/>
              </a:rPr>
              <a:t>of this, any blocks that are, at a given time, under another block cannot be </a:t>
            </a:r>
            <a:r>
              <a:rPr lang="en-US" dirty="0" smtClean="0">
                <a:latin typeface="Cambria" panose="02040503050406030204" pitchFamily="18" charset="0"/>
                <a:ea typeface="Cambria" panose="02040503050406030204" pitchFamily="18" charset="0"/>
              </a:rPr>
              <a:t>moved. </a:t>
            </a:r>
            <a:r>
              <a:rPr lang="en-US" dirty="0">
                <a:latin typeface="Cambria" panose="02040503050406030204" pitchFamily="18" charset="0"/>
                <a:ea typeface="Cambria" panose="02040503050406030204" pitchFamily="18" charset="0"/>
              </a:rPr>
              <a:t>some kinds of blocks cannot have other blocks stacked on top of </a:t>
            </a:r>
            <a:r>
              <a:rPr lang="en-US" dirty="0" smtClean="0">
                <a:latin typeface="Cambria" panose="02040503050406030204" pitchFamily="18" charset="0"/>
                <a:ea typeface="Cambria" panose="02040503050406030204" pitchFamily="18" charset="0"/>
              </a:rPr>
              <a:t>them.</a:t>
            </a:r>
          </a:p>
          <a:p>
            <a:pPr algn="just">
              <a:lnSpc>
                <a:spcPct val="110000"/>
              </a:lnSpc>
            </a:pPr>
            <a:r>
              <a:rPr lang="en-US" dirty="0">
                <a:latin typeface="Cambria" panose="02040503050406030204" pitchFamily="18" charset="0"/>
                <a:ea typeface="Cambria" panose="02040503050406030204" pitchFamily="18" charset="0"/>
              </a:rPr>
              <a:t>Toy problems were invented with the aim to program an AI which can solve it. The blocks world domain is an example for a toy problem. Its major advantage over more realistic AI applications is, that many algorithms and software programs are available which can handle the situation</a:t>
            </a:r>
            <a:r>
              <a:rPr lang="en-US" dirty="0"/>
              <a:t>.</a:t>
            </a:r>
          </a:p>
          <a:p>
            <a:pPr algn="just"/>
            <a:endParaRPr lang="en-US" dirty="0" smtClean="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23482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4182" y="551006"/>
            <a:ext cx="10661073" cy="5849793"/>
          </a:xfrm>
        </p:spPr>
        <p:txBody>
          <a:bodyPr>
            <a:normAutofit/>
          </a:bodyPr>
          <a:lstStyle/>
          <a:p>
            <a:endParaRPr lang="en-US" dirty="0"/>
          </a:p>
          <a:p>
            <a:pPr algn="just"/>
            <a:r>
              <a:rPr lang="en-US" sz="2400" dirty="0" smtClean="0">
                <a:latin typeface="Cambria" panose="02040503050406030204" pitchFamily="18" charset="0"/>
                <a:ea typeface="Cambria" panose="02040503050406030204" pitchFamily="18" charset="0"/>
              </a:rPr>
              <a:t>In </a:t>
            </a:r>
            <a:r>
              <a:rPr lang="en-US" sz="2400" dirty="0">
                <a:latin typeface="Cambria" panose="02040503050406030204" pitchFamily="18" charset="0"/>
                <a:ea typeface="Cambria" panose="02040503050406030204" pitchFamily="18" charset="0"/>
              </a:rPr>
              <a:t>its basic form, the blocks world problem consists of cubes in the same size which have all the color black. A mechanical robot arm has to pick and place the </a:t>
            </a:r>
            <a:r>
              <a:rPr lang="en-US" sz="2400" dirty="0" smtClean="0">
                <a:latin typeface="Cambria" panose="02040503050406030204" pitchFamily="18" charset="0"/>
                <a:ea typeface="Cambria" panose="02040503050406030204" pitchFamily="18" charset="0"/>
              </a:rPr>
              <a:t>cubes.</a:t>
            </a:r>
            <a:r>
              <a:rPr lang="en-US" sz="2400" baseline="30000" dirty="0">
                <a:latin typeface="Cambria" panose="02040503050406030204" pitchFamily="18" charset="0"/>
                <a:ea typeface="Cambria" panose="02040503050406030204" pitchFamily="18" charset="0"/>
              </a:rPr>
              <a:t> </a:t>
            </a:r>
            <a:r>
              <a:rPr lang="en-US" sz="2400" dirty="0" smtClean="0">
                <a:latin typeface="Cambria" panose="02040503050406030204" pitchFamily="18" charset="0"/>
                <a:ea typeface="Cambria" panose="02040503050406030204" pitchFamily="18" charset="0"/>
              </a:rPr>
              <a:t>More </a:t>
            </a:r>
            <a:r>
              <a:rPr lang="en-US" sz="2400" dirty="0">
                <a:latin typeface="Cambria" panose="02040503050406030204" pitchFamily="18" charset="0"/>
                <a:ea typeface="Cambria" panose="02040503050406030204" pitchFamily="18" charset="0"/>
              </a:rPr>
              <a:t>complicated derivatives of the problem consist of cubes in different sizes, shapes and </a:t>
            </a:r>
            <a:r>
              <a:rPr lang="en-US" sz="2400" dirty="0" smtClean="0">
                <a:latin typeface="Cambria" panose="02040503050406030204" pitchFamily="18" charset="0"/>
                <a:ea typeface="Cambria" panose="02040503050406030204" pitchFamily="18" charset="0"/>
              </a:rPr>
              <a:t>colors.</a:t>
            </a:r>
            <a:endParaRPr lang="en-US" sz="2400" baseline="30000" dirty="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From </a:t>
            </a:r>
            <a:r>
              <a:rPr lang="en-US" sz="2400" dirty="0">
                <a:latin typeface="Cambria" panose="02040503050406030204" pitchFamily="18" charset="0"/>
                <a:ea typeface="Cambria" panose="02040503050406030204" pitchFamily="18" charset="0"/>
              </a:rPr>
              <a:t>an algorithm perspective, blocks world is an </a:t>
            </a:r>
            <a:r>
              <a:rPr lang="en-US" sz="2400" dirty="0">
                <a:latin typeface="Cambria" panose="02040503050406030204" pitchFamily="18" charset="0"/>
                <a:ea typeface="Cambria" panose="02040503050406030204" pitchFamily="18" charset="0"/>
                <a:hlinkClick r:id="rId2" tooltip="Np-hard"/>
              </a:rPr>
              <a:t>np-hard</a:t>
            </a:r>
            <a:r>
              <a:rPr lang="en-US" sz="2400" dirty="0">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hlinkClick r:id="rId3" tooltip="Search problem"/>
              </a:rPr>
              <a:t>search</a:t>
            </a:r>
            <a:r>
              <a:rPr lang="en-US" sz="2400" dirty="0">
                <a:latin typeface="Cambria" panose="02040503050406030204" pitchFamily="18" charset="0"/>
                <a:ea typeface="Cambria" panose="02040503050406030204" pitchFamily="18" charset="0"/>
              </a:rPr>
              <a:t> and planning problem. The task is to bring the system from an initial state into a goal state</a:t>
            </a:r>
            <a:r>
              <a:rPr lang="en-US" sz="2400" dirty="0" smtClean="0">
                <a:latin typeface="Cambria" panose="02040503050406030204" pitchFamily="18" charset="0"/>
                <a:ea typeface="Cambria" panose="02040503050406030204" pitchFamily="18" charset="0"/>
              </a:rPr>
              <a:t>.</a:t>
            </a:r>
          </a:p>
        </p:txBody>
      </p:sp>
      <p:pic>
        <p:nvPicPr>
          <p:cNvPr id="6" name="Picture 5"/>
          <p:cNvPicPr>
            <a:picLocks noChangeAspect="1"/>
          </p:cNvPicPr>
          <p:nvPr/>
        </p:nvPicPr>
        <p:blipFill>
          <a:blip r:embed="rId4"/>
          <a:stretch>
            <a:fillRect/>
          </a:stretch>
        </p:blipFill>
        <p:spPr>
          <a:xfrm>
            <a:off x="3551971" y="3475902"/>
            <a:ext cx="4665493" cy="2816040"/>
          </a:xfrm>
          <a:prstGeom prst="rect">
            <a:avLst/>
          </a:prstGeom>
        </p:spPr>
      </p:pic>
    </p:spTree>
    <p:extLst>
      <p:ext uri="{BB962C8B-B14F-4D97-AF65-F5344CB8AC3E}">
        <p14:creationId xmlns:p14="http://schemas.microsoft.com/office/powerpoint/2010/main" val="2041111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927" y="855807"/>
            <a:ext cx="10515600" cy="4351338"/>
          </a:xfrm>
        </p:spPr>
        <p:txBody>
          <a:bodyPr/>
          <a:lstStyle/>
          <a:p>
            <a:pPr marL="0" indent="0">
              <a:buNone/>
            </a:pPr>
            <a:r>
              <a:rPr lang="en-US" b="1" dirty="0"/>
              <a:t>Components of the planning system</a:t>
            </a:r>
            <a:endParaRPr lang="en-US" dirty="0"/>
          </a:p>
          <a:p>
            <a:r>
              <a:rPr lang="en-US" dirty="0"/>
              <a:t>The plan includes the following important steps:</a:t>
            </a:r>
          </a:p>
          <a:p>
            <a:r>
              <a:rPr lang="en-US" dirty="0"/>
              <a:t>Choose the best rule to apply the next rule based on the best available guess.</a:t>
            </a:r>
          </a:p>
          <a:p>
            <a:r>
              <a:rPr lang="en-US" dirty="0"/>
              <a:t>Apply the chosen rule to calculate the new problem condition.</a:t>
            </a:r>
          </a:p>
          <a:p>
            <a:r>
              <a:rPr lang="en-US" dirty="0"/>
              <a:t>Find out when a solution has been found.</a:t>
            </a:r>
          </a:p>
          <a:p>
            <a:r>
              <a:rPr lang="en-US" dirty="0"/>
              <a:t>Detect dead ends so they can be discarded and direct system effort in more useful directions.</a:t>
            </a:r>
          </a:p>
          <a:p>
            <a:r>
              <a:rPr lang="en-US" dirty="0"/>
              <a:t>Find out when a near-perfect solution is found.</a:t>
            </a:r>
          </a:p>
          <a:p>
            <a:endParaRPr lang="en-US" dirty="0"/>
          </a:p>
        </p:txBody>
      </p:sp>
    </p:spTree>
    <p:extLst>
      <p:ext uri="{BB962C8B-B14F-4D97-AF65-F5344CB8AC3E}">
        <p14:creationId xmlns:p14="http://schemas.microsoft.com/office/powerpoint/2010/main" val="47674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1116"/>
            <a:ext cx="10515600" cy="4351338"/>
          </a:xfrm>
        </p:spPr>
        <p:txBody>
          <a:bodyPr/>
          <a:lstStyle/>
          <a:p>
            <a:pPr marL="0" indent="0">
              <a:buNone/>
            </a:pPr>
            <a:r>
              <a:rPr lang="en-US" dirty="0"/>
              <a:t>Target stack plan</a:t>
            </a:r>
          </a:p>
          <a:p>
            <a:r>
              <a:rPr lang="en-US" dirty="0"/>
              <a:t>It is one of the most important planning algorithms used by STRIPS.</a:t>
            </a:r>
          </a:p>
          <a:p>
            <a:r>
              <a:rPr lang="en-US" dirty="0"/>
              <a:t>Stacks are used in algorithms to capture the action and complete the target. A knowledge base is used to hold the current situation and actions.</a:t>
            </a:r>
          </a:p>
          <a:p>
            <a:r>
              <a:rPr lang="en-US" dirty="0"/>
              <a:t>A target stack is similar to a node in a search tree, where branches are created with a choice of action.</a:t>
            </a:r>
          </a:p>
          <a:p>
            <a:endParaRPr lang="en-US" dirty="0"/>
          </a:p>
        </p:txBody>
      </p:sp>
    </p:spTree>
    <p:extLst>
      <p:ext uri="{BB962C8B-B14F-4D97-AF65-F5344CB8AC3E}">
        <p14:creationId xmlns:p14="http://schemas.microsoft.com/office/powerpoint/2010/main" val="1939906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927" y="675698"/>
            <a:ext cx="10515600" cy="4351338"/>
          </a:xfrm>
        </p:spPr>
        <p:txBody>
          <a:bodyPr/>
          <a:lstStyle/>
          <a:p>
            <a:pPr marL="0" indent="0">
              <a:buNone/>
            </a:pPr>
            <a:r>
              <a:rPr lang="en-US" b="1" dirty="0"/>
              <a:t>The important steps of the algorithm are mentioned below:</a:t>
            </a:r>
            <a:endParaRPr lang="en-US" dirty="0"/>
          </a:p>
          <a:p>
            <a:r>
              <a:rPr lang="en-US" dirty="0"/>
              <a:t>Start by pushing the original target onto the stack. Repeat this until the pile is empty. If the stack top is a mixed target, push its unsatisfied sub-targets onto the stack.</a:t>
            </a:r>
          </a:p>
          <a:p>
            <a:r>
              <a:rPr lang="en-US" dirty="0"/>
              <a:t>If the stack top is a single unsatisfied target, replace it with action and push the action precondition to the stack to satisfy the condition.</a:t>
            </a:r>
          </a:p>
          <a:p>
            <a:r>
              <a:rPr lang="en-US" dirty="0"/>
              <a:t>iii. If the stack top is an action, pop it off the stack, execute it and replace the knowledge base with the action's effect</a:t>
            </a:r>
          </a:p>
          <a:p>
            <a:endParaRPr lang="en-US" dirty="0"/>
          </a:p>
        </p:txBody>
      </p:sp>
    </p:spTree>
    <p:extLst>
      <p:ext uri="{BB962C8B-B14F-4D97-AF65-F5344CB8AC3E}">
        <p14:creationId xmlns:p14="http://schemas.microsoft.com/office/powerpoint/2010/main" val="1063655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Problem Description</a:t>
            </a:r>
            <a:br>
              <a:rPr lang="en-US" b="1" dirty="0"/>
            </a:br>
            <a:endParaRPr lang="en-US" dirty="0"/>
          </a:p>
        </p:txBody>
      </p:sp>
      <p:sp>
        <p:nvSpPr>
          <p:cNvPr id="3" name="Content Placeholder 2"/>
          <p:cNvSpPr>
            <a:spLocks noGrp="1"/>
          </p:cNvSpPr>
          <p:nvPr>
            <p:ph idx="1"/>
          </p:nvPr>
        </p:nvSpPr>
        <p:spPr>
          <a:xfrm>
            <a:off x="464127" y="1520825"/>
            <a:ext cx="10515600" cy="4351338"/>
          </a:xfrm>
        </p:spPr>
        <p:txBody>
          <a:bodyPr/>
          <a:lstStyle/>
          <a:p>
            <a:pPr marL="0" indent="0">
              <a:buNone/>
            </a:pPr>
            <a:r>
              <a:rPr lang="en-US" dirty="0"/>
              <a:t>The Blocks World problem involves a set of blocks, each represented by a letter (e.g., A, B, C, D), and a flat table surface. The problem’s rules are relatively simple:</a:t>
            </a:r>
          </a:p>
          <a:p>
            <a:pPr marL="514350" indent="-514350">
              <a:buFont typeface="+mj-lt"/>
              <a:buAutoNum type="arabicPeriod"/>
            </a:pPr>
            <a:r>
              <a:rPr lang="en-US" dirty="0"/>
              <a:t>Blocks can be stacked on top of each other.</a:t>
            </a:r>
          </a:p>
          <a:p>
            <a:pPr marL="514350" indent="-514350">
              <a:buFont typeface="+mj-lt"/>
              <a:buAutoNum type="arabicPeriod"/>
            </a:pPr>
            <a:r>
              <a:rPr lang="en-US" dirty="0"/>
              <a:t>Only one block can be placed directly on top of another block.</a:t>
            </a:r>
          </a:p>
          <a:p>
            <a:pPr marL="514350" indent="-514350">
              <a:buFont typeface="+mj-lt"/>
              <a:buAutoNum type="arabicPeriod"/>
            </a:pPr>
            <a:r>
              <a:rPr lang="en-US" dirty="0"/>
              <a:t>To move a block that has other blocks stacked on top of it, you must first unstack the blocks above it until the desired block is free to move.</a:t>
            </a:r>
          </a:p>
          <a:p>
            <a:pPr marL="514350" indent="-514350">
              <a:buFont typeface="+mj-lt"/>
              <a:buAutoNum type="arabicPeriod"/>
            </a:pPr>
            <a:r>
              <a:rPr lang="en-US" dirty="0"/>
              <a:t>Blocks can also be placed directly on the table.</a:t>
            </a:r>
          </a:p>
          <a:p>
            <a:endParaRPr lang="en-US" dirty="0"/>
          </a:p>
        </p:txBody>
      </p:sp>
    </p:spTree>
    <p:extLst>
      <p:ext uri="{BB962C8B-B14F-4D97-AF65-F5344CB8AC3E}">
        <p14:creationId xmlns:p14="http://schemas.microsoft.com/office/powerpoint/2010/main" val="859541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2727" y="398606"/>
            <a:ext cx="10536383" cy="6154593"/>
          </a:xfrm>
        </p:spPr>
        <p:txBody>
          <a:bodyPr>
            <a:normAutofit/>
          </a:bodyPr>
          <a:lstStyle/>
          <a:p>
            <a:pPr marL="0" indent="0">
              <a:buNone/>
            </a:pPr>
            <a:r>
              <a:rPr lang="en-US" b="1" dirty="0"/>
              <a:t>Objective</a:t>
            </a:r>
          </a:p>
          <a:p>
            <a:r>
              <a:rPr lang="en-US" dirty="0"/>
              <a:t>The primary objective of the Blocks World problem is to transform an initial configuration of blocks into a desired goal configuration by performing a series of legal actions.</a:t>
            </a:r>
          </a:p>
          <a:p>
            <a:pPr marL="0" indent="0">
              <a:buNone/>
            </a:pPr>
            <a:r>
              <a:rPr lang="en-US" b="1" dirty="0"/>
              <a:t>Initial and Goal States</a:t>
            </a:r>
          </a:p>
          <a:p>
            <a:r>
              <a:rPr lang="en-US" dirty="0"/>
              <a:t>To illustrate the problem, let’s consider an example initial and goal state:</a:t>
            </a:r>
          </a:p>
          <a:p>
            <a:pPr marL="0" indent="0">
              <a:buNone/>
            </a:pPr>
            <a:r>
              <a:rPr lang="en-US" b="1" dirty="0"/>
              <a:t>Initial State</a:t>
            </a:r>
            <a:r>
              <a:rPr lang="en-US" b="1" dirty="0" smtClean="0"/>
              <a:t>:</a:t>
            </a:r>
          </a:p>
          <a:p>
            <a:pPr marL="0" indent="0">
              <a:buNone/>
            </a:pPr>
            <a:endParaRPr lang="en-US" b="1" dirty="0"/>
          </a:p>
          <a:p>
            <a:pPr marL="0" indent="0">
              <a:buNone/>
            </a:pPr>
            <a:endParaRPr lang="en-US" b="1" dirty="0" smtClean="0"/>
          </a:p>
          <a:p>
            <a:pPr marL="0" indent="0">
              <a:buNone/>
            </a:pPr>
            <a:endParaRPr lang="en-US" b="1" dirty="0"/>
          </a:p>
          <a:p>
            <a:pPr marL="0" indent="0">
              <a:buNone/>
            </a:pPr>
            <a:r>
              <a:rPr lang="en-US" b="1" dirty="0"/>
              <a:t>Goal State:</a:t>
            </a:r>
            <a:endParaRPr lang="en-US" dirty="0"/>
          </a:p>
          <a:p>
            <a:endParaRPr lang="en-US" dirty="0"/>
          </a:p>
        </p:txBody>
      </p:sp>
      <p:pic>
        <p:nvPicPr>
          <p:cNvPr id="4" name="Picture 3"/>
          <p:cNvPicPr>
            <a:picLocks noChangeAspect="1"/>
          </p:cNvPicPr>
          <p:nvPr/>
        </p:nvPicPr>
        <p:blipFill>
          <a:blip r:embed="rId2"/>
          <a:stretch>
            <a:fillRect/>
          </a:stretch>
        </p:blipFill>
        <p:spPr>
          <a:xfrm>
            <a:off x="3990416" y="3187462"/>
            <a:ext cx="2826020" cy="2123254"/>
          </a:xfrm>
          <a:prstGeom prst="rect">
            <a:avLst/>
          </a:prstGeom>
        </p:spPr>
      </p:pic>
      <p:pic>
        <p:nvPicPr>
          <p:cNvPr id="5" name="Picture 4"/>
          <p:cNvPicPr>
            <a:picLocks noChangeAspect="1"/>
          </p:cNvPicPr>
          <p:nvPr/>
        </p:nvPicPr>
        <p:blipFill>
          <a:blip r:embed="rId3"/>
          <a:stretch>
            <a:fillRect/>
          </a:stretch>
        </p:blipFill>
        <p:spPr>
          <a:xfrm>
            <a:off x="7079980" y="4419600"/>
            <a:ext cx="2582882" cy="2008909"/>
          </a:xfrm>
          <a:prstGeom prst="rect">
            <a:avLst/>
          </a:prstGeom>
        </p:spPr>
      </p:pic>
    </p:spTree>
    <p:extLst>
      <p:ext uri="{BB962C8B-B14F-4D97-AF65-F5344CB8AC3E}">
        <p14:creationId xmlns:p14="http://schemas.microsoft.com/office/powerpoint/2010/main" val="114517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1218" y="661843"/>
            <a:ext cx="10515600" cy="4351338"/>
          </a:xfrm>
        </p:spPr>
        <p:txBody>
          <a:bodyPr>
            <a:normAutofit/>
          </a:bodyPr>
          <a:lstStyle/>
          <a:p>
            <a:pPr marL="0" indent="0" algn="just">
              <a:buNone/>
            </a:pPr>
            <a:r>
              <a:rPr lang="en-US" sz="2400" dirty="0">
                <a:latin typeface="Cambria" panose="02040503050406030204" pitchFamily="18" charset="0"/>
                <a:ea typeface="Cambria" panose="02040503050406030204" pitchFamily="18" charset="0"/>
              </a:rPr>
              <a:t>In this example, the initial state consists of four blocks (A, B, C, D) stacked in a particular order on top of each other. The goal state represents a different arrangement where the blocks are stacked from A to D in the same order, with block D placed on the table.</a:t>
            </a:r>
          </a:p>
        </p:txBody>
      </p:sp>
    </p:spTree>
    <p:extLst>
      <p:ext uri="{BB962C8B-B14F-4D97-AF65-F5344CB8AC3E}">
        <p14:creationId xmlns:p14="http://schemas.microsoft.com/office/powerpoint/2010/main" val="2059795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96635" y="138544"/>
            <a:ext cx="9455727" cy="6719455"/>
          </a:xfrm>
          <a:prstGeom prst="rect">
            <a:avLst/>
          </a:prstGeom>
        </p:spPr>
      </p:pic>
    </p:spTree>
    <p:extLst>
      <p:ext uri="{BB962C8B-B14F-4D97-AF65-F5344CB8AC3E}">
        <p14:creationId xmlns:p14="http://schemas.microsoft.com/office/powerpoint/2010/main" val="2504607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08364" y="0"/>
            <a:ext cx="9159659" cy="6858000"/>
          </a:xfrm>
          <a:prstGeom prst="rect">
            <a:avLst/>
          </a:prstGeom>
        </p:spPr>
      </p:pic>
    </p:spTree>
    <p:extLst>
      <p:ext uri="{BB962C8B-B14F-4D97-AF65-F5344CB8AC3E}">
        <p14:creationId xmlns:p14="http://schemas.microsoft.com/office/powerpoint/2010/main" val="2203103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199" y="0"/>
            <a:ext cx="9968345" cy="6857712"/>
          </a:xfrm>
          <a:prstGeom prst="rect">
            <a:avLst/>
          </a:prstGeom>
        </p:spPr>
      </p:pic>
    </p:spTree>
    <p:extLst>
      <p:ext uri="{BB962C8B-B14F-4D97-AF65-F5344CB8AC3E}">
        <p14:creationId xmlns:p14="http://schemas.microsoft.com/office/powerpoint/2010/main" val="146324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34290" y="0"/>
            <a:ext cx="9240983" cy="6888170"/>
          </a:xfrm>
          <a:prstGeom prst="rect">
            <a:avLst/>
          </a:prstGeom>
        </p:spPr>
      </p:pic>
    </p:spTree>
    <p:extLst>
      <p:ext uri="{BB962C8B-B14F-4D97-AF65-F5344CB8AC3E}">
        <p14:creationId xmlns:p14="http://schemas.microsoft.com/office/powerpoint/2010/main" val="357902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60763" y="220079"/>
            <a:ext cx="8797637" cy="6643421"/>
          </a:xfrm>
          <a:prstGeom prst="rect">
            <a:avLst/>
          </a:prstGeom>
        </p:spPr>
      </p:pic>
    </p:spTree>
    <p:extLst>
      <p:ext uri="{BB962C8B-B14F-4D97-AF65-F5344CB8AC3E}">
        <p14:creationId xmlns:p14="http://schemas.microsoft.com/office/powerpoint/2010/main" val="1989092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93273" y="-10819"/>
            <a:ext cx="9060872" cy="6837815"/>
          </a:xfrm>
          <a:prstGeom prst="rect">
            <a:avLst/>
          </a:prstGeom>
        </p:spPr>
      </p:pic>
    </p:spTree>
    <p:extLst>
      <p:ext uri="{BB962C8B-B14F-4D97-AF65-F5344CB8AC3E}">
        <p14:creationId xmlns:p14="http://schemas.microsoft.com/office/powerpoint/2010/main" val="924121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14044" y="0"/>
            <a:ext cx="9091956" cy="6796006"/>
          </a:xfrm>
          <a:prstGeom prst="rect">
            <a:avLst/>
          </a:prstGeom>
        </p:spPr>
      </p:pic>
    </p:spTree>
    <p:extLst>
      <p:ext uri="{BB962C8B-B14F-4D97-AF65-F5344CB8AC3E}">
        <p14:creationId xmlns:p14="http://schemas.microsoft.com/office/powerpoint/2010/main" val="4093814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59646" y="96982"/>
            <a:ext cx="9009591" cy="6761018"/>
          </a:xfrm>
          <a:prstGeom prst="rect">
            <a:avLst/>
          </a:prstGeom>
        </p:spPr>
      </p:pic>
    </p:spTree>
    <p:extLst>
      <p:ext uri="{BB962C8B-B14F-4D97-AF65-F5344CB8AC3E}">
        <p14:creationId xmlns:p14="http://schemas.microsoft.com/office/powerpoint/2010/main" val="10812692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68582" y="1"/>
            <a:ext cx="9176403" cy="6917120"/>
          </a:xfrm>
          <a:prstGeom prst="rect">
            <a:avLst/>
          </a:prstGeom>
        </p:spPr>
      </p:pic>
    </p:spTree>
    <p:extLst>
      <p:ext uri="{BB962C8B-B14F-4D97-AF65-F5344CB8AC3E}">
        <p14:creationId xmlns:p14="http://schemas.microsoft.com/office/powerpoint/2010/main" val="2204983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14158" y="0"/>
            <a:ext cx="9222829" cy="6858000"/>
          </a:xfrm>
          <a:prstGeom prst="rect">
            <a:avLst/>
          </a:prstGeom>
        </p:spPr>
      </p:pic>
    </p:spTree>
    <p:extLst>
      <p:ext uri="{BB962C8B-B14F-4D97-AF65-F5344CB8AC3E}">
        <p14:creationId xmlns:p14="http://schemas.microsoft.com/office/powerpoint/2010/main" val="618682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10144" y="208348"/>
            <a:ext cx="8825345" cy="6649652"/>
          </a:xfrm>
          <a:prstGeom prst="rect">
            <a:avLst/>
          </a:prstGeom>
        </p:spPr>
      </p:pic>
    </p:spTree>
    <p:extLst>
      <p:ext uri="{BB962C8B-B14F-4D97-AF65-F5344CB8AC3E}">
        <p14:creationId xmlns:p14="http://schemas.microsoft.com/office/powerpoint/2010/main" val="877826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2163" y="18328"/>
            <a:ext cx="10515600" cy="1325563"/>
          </a:xfrm>
        </p:spPr>
        <p:txBody>
          <a:bodyPr/>
          <a:lstStyle/>
          <a:p>
            <a:r>
              <a:rPr lang="en-US" dirty="0"/>
              <a:t>Classical Planning</a:t>
            </a:r>
          </a:p>
        </p:txBody>
      </p:sp>
      <p:sp>
        <p:nvSpPr>
          <p:cNvPr id="3" name="Content Placeholder 2"/>
          <p:cNvSpPr>
            <a:spLocks noGrp="1"/>
          </p:cNvSpPr>
          <p:nvPr>
            <p:ph idx="1"/>
          </p:nvPr>
        </p:nvSpPr>
        <p:spPr>
          <a:xfrm>
            <a:off x="429491" y="1343891"/>
            <a:ext cx="11118272" cy="5278582"/>
          </a:xfrm>
        </p:spPr>
        <p:txBody>
          <a:bodyPr>
            <a:noAutofit/>
          </a:bodyPr>
          <a:lstStyle/>
          <a:p>
            <a:pPr algn="just"/>
            <a:r>
              <a:rPr lang="en-US" sz="2400" dirty="0">
                <a:latin typeface="Cambria" panose="02040503050406030204" pitchFamily="18" charset="0"/>
                <a:ea typeface="Cambria" panose="02040503050406030204" pitchFamily="18" charset="0"/>
              </a:rPr>
              <a:t>In classical planning, we aren't constrained to symbols that only take on true or false values, as we were in propositional logic. Instead, we introduce </a:t>
            </a:r>
            <a:r>
              <a:rPr lang="en-US" sz="2400" b="1" dirty="0">
                <a:latin typeface="Cambria" panose="02040503050406030204" pitchFamily="18" charset="0"/>
                <a:ea typeface="Cambria" panose="02040503050406030204" pitchFamily="18" charset="0"/>
              </a:rPr>
              <a:t>objects</a:t>
            </a:r>
            <a:r>
              <a:rPr lang="en-US" sz="2400" dirty="0">
                <a:latin typeface="Cambria" panose="02040503050406030204" pitchFamily="18" charset="0"/>
                <a:ea typeface="Cambria" panose="02040503050406030204" pitchFamily="18" charset="0"/>
              </a:rPr>
              <a:t> that can represent things in our environment. We let </a:t>
            </a:r>
            <a:r>
              <a:rPr lang="en-US" sz="2400" b="1" dirty="0">
                <a:latin typeface="Cambria" panose="02040503050406030204" pitchFamily="18" charset="0"/>
                <a:ea typeface="Cambria" panose="02040503050406030204" pitchFamily="18" charset="0"/>
              </a:rPr>
              <a:t>predicates</a:t>
            </a:r>
            <a:r>
              <a:rPr lang="en-US" sz="2400" dirty="0">
                <a:latin typeface="Cambria" panose="02040503050406030204" pitchFamily="18" charset="0"/>
                <a:ea typeface="Cambria" panose="02040503050406030204" pitchFamily="18" charset="0"/>
              </a:rPr>
              <a:t>, also called </a:t>
            </a:r>
            <a:r>
              <a:rPr lang="en-US" sz="2400" b="1" dirty="0">
                <a:latin typeface="Cambria" panose="02040503050406030204" pitchFamily="18" charset="0"/>
                <a:ea typeface="Cambria" panose="02040503050406030204" pitchFamily="18" charset="0"/>
              </a:rPr>
              <a:t>propositions</a:t>
            </a:r>
            <a:r>
              <a:rPr lang="en-US" sz="2400" dirty="0">
                <a:latin typeface="Cambria" panose="02040503050406030204" pitchFamily="18" charset="0"/>
                <a:ea typeface="Cambria" panose="02040503050406030204" pitchFamily="18" charset="0"/>
              </a:rPr>
              <a:t>, be true or false functions over the objects.</a:t>
            </a:r>
          </a:p>
          <a:p>
            <a:pPr algn="just"/>
            <a:r>
              <a:rPr lang="en-US" sz="2400" dirty="0">
                <a:latin typeface="Cambria" panose="02040503050406030204" pitchFamily="18" charset="0"/>
                <a:ea typeface="Cambria" panose="02040503050406030204" pitchFamily="18" charset="0"/>
              </a:rPr>
              <a:t>A </a:t>
            </a:r>
            <a:r>
              <a:rPr lang="en-US" sz="2400" b="1" dirty="0">
                <a:latin typeface="Cambria" panose="02040503050406030204" pitchFamily="18" charset="0"/>
                <a:ea typeface="Cambria" panose="02040503050406030204" pitchFamily="18" charset="0"/>
              </a:rPr>
              <a:t>state</a:t>
            </a:r>
            <a:r>
              <a:rPr lang="en-US" sz="2400" dirty="0">
                <a:latin typeface="Cambria" panose="02040503050406030204" pitchFamily="18" charset="0"/>
                <a:ea typeface="Cambria" panose="02040503050406030204" pitchFamily="18" charset="0"/>
              </a:rPr>
              <a:t> is a conjunction of predicates. Similarly, our </a:t>
            </a:r>
            <a:r>
              <a:rPr lang="en-US" sz="2400" b="1" dirty="0">
                <a:latin typeface="Cambria" panose="02040503050406030204" pitchFamily="18" charset="0"/>
                <a:ea typeface="Cambria" panose="02040503050406030204" pitchFamily="18" charset="0"/>
              </a:rPr>
              <a:t>goal</a:t>
            </a:r>
            <a:r>
              <a:rPr lang="en-US" sz="2400" dirty="0">
                <a:latin typeface="Cambria" panose="02040503050406030204" pitchFamily="18" charset="0"/>
                <a:ea typeface="Cambria" panose="02040503050406030204" pitchFamily="18" charset="0"/>
              </a:rPr>
              <a:t> will also be a conjunction of predicates.</a:t>
            </a:r>
          </a:p>
          <a:p>
            <a:pPr algn="just"/>
            <a:r>
              <a:rPr lang="en-US" sz="2400" b="1" dirty="0">
                <a:latin typeface="Cambria" panose="02040503050406030204" pitchFamily="18" charset="0"/>
                <a:ea typeface="Cambria" panose="02040503050406030204" pitchFamily="18" charset="0"/>
              </a:rPr>
              <a:t>Operators</a:t>
            </a:r>
            <a:r>
              <a:rPr lang="en-US" sz="2400" dirty="0">
                <a:latin typeface="Cambria" panose="02040503050406030204" pitchFamily="18" charset="0"/>
                <a:ea typeface="Cambria" panose="02040503050406030204" pitchFamily="18" charset="0"/>
              </a:rPr>
              <a:t> change the state by adding or deleting predicates. An operator is defined by preconditions and effects. The </a:t>
            </a:r>
            <a:r>
              <a:rPr lang="en-US" sz="2400" b="1" dirty="0">
                <a:latin typeface="Cambria" panose="02040503050406030204" pitchFamily="18" charset="0"/>
                <a:ea typeface="Cambria" panose="02040503050406030204" pitchFamily="18" charset="0"/>
              </a:rPr>
              <a:t>preconditions</a:t>
            </a:r>
            <a:r>
              <a:rPr lang="en-US" sz="2400" dirty="0">
                <a:latin typeface="Cambria" panose="02040503050406030204" pitchFamily="18" charset="0"/>
                <a:ea typeface="Cambria" panose="02040503050406030204" pitchFamily="18" charset="0"/>
              </a:rPr>
              <a:t> specify all the predicates that need to be true in our current state in order for us to take this action. The </a:t>
            </a:r>
            <a:r>
              <a:rPr lang="en-US" sz="2400" b="1" dirty="0">
                <a:latin typeface="Cambria" panose="02040503050406030204" pitchFamily="18" charset="0"/>
                <a:ea typeface="Cambria" panose="02040503050406030204" pitchFamily="18" charset="0"/>
              </a:rPr>
              <a:t>effects</a:t>
            </a:r>
            <a:r>
              <a:rPr lang="en-US" sz="2400" dirty="0">
                <a:latin typeface="Cambria" panose="02040503050406030204" pitchFamily="18" charset="0"/>
                <a:ea typeface="Cambria" panose="02040503050406030204" pitchFamily="18" charset="0"/>
              </a:rPr>
              <a:t> are the predicates that we need to add or delete from our current state after we take this action. Notice that we do not explicitly represent time in classical planning, unlike the successor-state axioms in propositional logic. Important: there is a difference between deleting a predicate and adding its negation. We can require as a precondition the negation of a predicate, but we can’t require the absence of a predicate</a:t>
            </a:r>
          </a:p>
          <a:p>
            <a:pPr algn="just"/>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65369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3455" y="481735"/>
            <a:ext cx="10827326" cy="5697392"/>
          </a:xfrm>
        </p:spPr>
        <p:txBody>
          <a:bodyPr>
            <a:normAutofit/>
          </a:bodyPr>
          <a:lstStyle/>
          <a:p>
            <a:r>
              <a:rPr lang="en-US" dirty="0">
                <a:latin typeface="Cambria" panose="02040503050406030204" pitchFamily="18" charset="0"/>
                <a:ea typeface="Cambria" panose="02040503050406030204" pitchFamily="18" charset="0"/>
              </a:rPr>
              <a:t>Planning researchers use a </a:t>
            </a:r>
            <a:r>
              <a:rPr lang="en-US" b="1" dirty="0">
                <a:latin typeface="Cambria" panose="02040503050406030204" pitchFamily="18" charset="0"/>
                <a:ea typeface="Cambria" panose="02040503050406030204" pitchFamily="18" charset="0"/>
              </a:rPr>
              <a:t>factored representation</a:t>
            </a:r>
            <a:endParaRPr lang="en-US"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A state of the world stated in a collection of variables</a:t>
            </a:r>
          </a:p>
          <a:p>
            <a:pPr lvl="1"/>
            <a:r>
              <a:rPr lang="en-US" dirty="0">
                <a:latin typeface="Cambria" panose="02040503050406030204" pitchFamily="18" charset="0"/>
                <a:ea typeface="Cambria" panose="02040503050406030204" pitchFamily="18" charset="0"/>
              </a:rPr>
              <a:t>PDDL: Planning Domain Definition Language</a:t>
            </a:r>
          </a:p>
          <a:p>
            <a:r>
              <a:rPr lang="en-US" dirty="0">
                <a:latin typeface="Cambria" panose="02040503050406030204" pitchFamily="18" charset="0"/>
                <a:ea typeface="Cambria" panose="02040503050406030204" pitchFamily="18" charset="0"/>
              </a:rPr>
              <a:t>PDDL to define a search problem</a:t>
            </a:r>
          </a:p>
          <a:p>
            <a:pPr lvl="1"/>
            <a:r>
              <a:rPr lang="en-US" dirty="0">
                <a:latin typeface="Cambria" panose="02040503050406030204" pitchFamily="18" charset="0"/>
                <a:ea typeface="Cambria" panose="02040503050406030204" pitchFamily="18" charset="0"/>
              </a:rPr>
              <a:t>Initial state</a:t>
            </a:r>
          </a:p>
          <a:p>
            <a:pPr lvl="1"/>
            <a:r>
              <a:rPr lang="en-US" dirty="0">
                <a:latin typeface="Cambria" panose="02040503050406030204" pitchFamily="18" charset="0"/>
                <a:ea typeface="Cambria" panose="02040503050406030204" pitchFamily="18" charset="0"/>
              </a:rPr>
              <a:t>Actions available in the state</a:t>
            </a:r>
          </a:p>
          <a:p>
            <a:pPr lvl="1"/>
            <a:r>
              <a:rPr lang="en-US" dirty="0">
                <a:latin typeface="Cambria" panose="02040503050406030204" pitchFamily="18" charset="0"/>
                <a:ea typeface="Cambria" panose="02040503050406030204" pitchFamily="18" charset="0"/>
              </a:rPr>
              <a:t>Result of applying an action</a:t>
            </a:r>
          </a:p>
          <a:p>
            <a:pPr lvl="1"/>
            <a:r>
              <a:rPr lang="en-US" dirty="0">
                <a:latin typeface="Cambria" panose="02040503050406030204" pitchFamily="18" charset="0"/>
                <a:ea typeface="Cambria" panose="02040503050406030204" pitchFamily="18" charset="0"/>
              </a:rPr>
              <a:t>Goal test</a:t>
            </a:r>
          </a:p>
          <a:p>
            <a:r>
              <a:rPr lang="en-US" b="1" dirty="0">
                <a:latin typeface="Cambria" panose="02040503050406030204" pitchFamily="18" charset="0"/>
                <a:ea typeface="Cambria" panose="02040503050406030204" pitchFamily="18" charset="0"/>
              </a:rPr>
              <a:t>States</a:t>
            </a:r>
            <a:r>
              <a:rPr lang="en-US" dirty="0">
                <a:latin typeface="Cambria" panose="02040503050406030204" pitchFamily="18" charset="0"/>
                <a:ea typeface="Cambria" panose="02040503050406030204" pitchFamily="18" charset="0"/>
              </a:rPr>
              <a:t> represented as conjunction of </a:t>
            </a:r>
            <a:r>
              <a:rPr lang="en-US" dirty="0" err="1">
                <a:latin typeface="Cambria" panose="02040503050406030204" pitchFamily="18" charset="0"/>
                <a:ea typeface="Cambria" panose="02040503050406030204" pitchFamily="18" charset="0"/>
              </a:rPr>
              <a:t>fluents</a:t>
            </a:r>
            <a:endParaRPr lang="en-US" dirty="0">
              <a:latin typeface="Cambria" panose="02040503050406030204" pitchFamily="18" charset="0"/>
              <a:ea typeface="Cambria" panose="02040503050406030204" pitchFamily="18" charset="0"/>
            </a:endParaRPr>
          </a:p>
          <a:p>
            <a:pPr lvl="1"/>
            <a:r>
              <a:rPr lang="en-US" dirty="0">
                <a:latin typeface="Cambria" panose="02040503050406030204" pitchFamily="18" charset="0"/>
                <a:ea typeface="Cambria" panose="02040503050406030204" pitchFamily="18" charset="0"/>
              </a:rPr>
              <a:t>Representation carefully designed so that it is treated as a</a:t>
            </a:r>
          </a:p>
          <a:p>
            <a:pPr lvl="2"/>
            <a:r>
              <a:rPr lang="en-US" dirty="0">
                <a:latin typeface="Cambria" panose="02040503050406030204" pitchFamily="18" charset="0"/>
                <a:ea typeface="Cambria" panose="02040503050406030204" pitchFamily="18" charset="0"/>
              </a:rPr>
              <a:t>Conjunction of </a:t>
            </a:r>
            <a:r>
              <a:rPr lang="en-US" dirty="0" err="1">
                <a:latin typeface="Cambria" panose="02040503050406030204" pitchFamily="18" charset="0"/>
                <a:ea typeface="Cambria" panose="02040503050406030204" pitchFamily="18" charset="0"/>
              </a:rPr>
              <a:t>fluents</a:t>
            </a:r>
            <a:r>
              <a:rPr lang="en-US" dirty="0">
                <a:latin typeface="Cambria" panose="02040503050406030204" pitchFamily="18" charset="0"/>
                <a:ea typeface="Cambria" panose="02040503050406030204" pitchFamily="18" charset="0"/>
              </a:rPr>
              <a:t>, manipulated by logical inference</a:t>
            </a:r>
          </a:p>
          <a:p>
            <a:pPr lvl="2"/>
            <a:r>
              <a:rPr lang="en-US" dirty="0">
                <a:latin typeface="Cambria" panose="02040503050406030204" pitchFamily="18" charset="0"/>
                <a:ea typeface="Cambria" panose="02040503050406030204" pitchFamily="18" charset="0"/>
              </a:rPr>
              <a:t>Set of </a:t>
            </a:r>
            <a:r>
              <a:rPr lang="en-US" dirty="0" err="1">
                <a:latin typeface="Cambria" panose="02040503050406030204" pitchFamily="18" charset="0"/>
                <a:ea typeface="Cambria" panose="02040503050406030204" pitchFamily="18" charset="0"/>
              </a:rPr>
              <a:t>fluents</a:t>
            </a:r>
            <a:r>
              <a:rPr lang="en-US" dirty="0">
                <a:latin typeface="Cambria" panose="02040503050406030204" pitchFamily="18" charset="0"/>
                <a:ea typeface="Cambria" panose="02040503050406030204" pitchFamily="18" charset="0"/>
              </a:rPr>
              <a:t>, manipulated with set operations (set semantics sometimes </a:t>
            </a:r>
            <a:r>
              <a:rPr lang="en-US" dirty="0" smtClean="0">
                <a:latin typeface="Cambria" panose="02040503050406030204" pitchFamily="18" charset="0"/>
                <a:ea typeface="Cambria" panose="02040503050406030204" pitchFamily="18" charset="0"/>
              </a:rPr>
              <a:t>easier </a:t>
            </a:r>
            <a:r>
              <a:rPr lang="en-US" dirty="0">
                <a:latin typeface="Cambria" panose="02040503050406030204" pitchFamily="18" charset="0"/>
                <a:ea typeface="Cambria" panose="02040503050406030204" pitchFamily="18" charset="0"/>
              </a:rPr>
              <a:t>to deal with)</a:t>
            </a:r>
          </a:p>
          <a:p>
            <a:endParaRPr lang="en-US" dirty="0"/>
          </a:p>
        </p:txBody>
      </p:sp>
    </p:spTree>
    <p:extLst>
      <p:ext uri="{BB962C8B-B14F-4D97-AF65-F5344CB8AC3E}">
        <p14:creationId xmlns:p14="http://schemas.microsoft.com/office/powerpoint/2010/main" val="19093687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6473" y="647988"/>
            <a:ext cx="10688781" cy="5794375"/>
          </a:xfrm>
        </p:spPr>
        <p:txBody>
          <a:bodyPr>
            <a:normAutofit/>
          </a:bodyPr>
          <a:lstStyle/>
          <a:p>
            <a:r>
              <a:rPr lang="en-US" sz="2000" b="1" dirty="0">
                <a:latin typeface="Cambria" panose="02040503050406030204" pitchFamily="18" charset="0"/>
                <a:ea typeface="Cambria" panose="02040503050406030204" pitchFamily="18" charset="0"/>
              </a:rPr>
              <a:t>States</a:t>
            </a:r>
            <a:r>
              <a:rPr lang="en-US" sz="2000" dirty="0">
                <a:latin typeface="Cambria" panose="02040503050406030204" pitchFamily="18" charset="0"/>
                <a:ea typeface="Cambria" panose="02040503050406030204" pitchFamily="18" charset="0"/>
              </a:rPr>
              <a:t> represented as conjunction of </a:t>
            </a:r>
            <a:r>
              <a:rPr lang="en-US" sz="2000" dirty="0" err="1">
                <a:latin typeface="Cambria" panose="02040503050406030204" pitchFamily="18" charset="0"/>
                <a:ea typeface="Cambria" panose="02040503050406030204" pitchFamily="18" charset="0"/>
              </a:rPr>
              <a:t>fluents</a:t>
            </a:r>
            <a:endParaRPr lang="en-US" sz="2000" dirty="0">
              <a:latin typeface="Cambria" panose="02040503050406030204" pitchFamily="18" charset="0"/>
              <a:ea typeface="Cambria" panose="02040503050406030204" pitchFamily="18" charset="0"/>
            </a:endParaRPr>
          </a:p>
          <a:p>
            <a:pPr lvl="1"/>
            <a:r>
              <a:rPr lang="en-US" sz="2000" dirty="0">
                <a:latin typeface="Cambria" panose="02040503050406030204" pitchFamily="18" charset="0"/>
                <a:ea typeface="Cambria" panose="02040503050406030204" pitchFamily="18" charset="0"/>
              </a:rPr>
              <a:t>Representation carefully designed so that it is treated as a</a:t>
            </a:r>
          </a:p>
          <a:p>
            <a:pPr lvl="2"/>
            <a:r>
              <a:rPr lang="en-US" dirty="0">
                <a:latin typeface="Cambria" panose="02040503050406030204" pitchFamily="18" charset="0"/>
                <a:ea typeface="Cambria" panose="02040503050406030204" pitchFamily="18" charset="0"/>
              </a:rPr>
              <a:t>Conjunction of </a:t>
            </a:r>
            <a:r>
              <a:rPr lang="en-US" dirty="0" err="1">
                <a:latin typeface="Cambria" panose="02040503050406030204" pitchFamily="18" charset="0"/>
                <a:ea typeface="Cambria" panose="02040503050406030204" pitchFamily="18" charset="0"/>
              </a:rPr>
              <a:t>fluents</a:t>
            </a:r>
            <a:r>
              <a:rPr lang="en-US" dirty="0">
                <a:latin typeface="Cambria" panose="02040503050406030204" pitchFamily="18" charset="0"/>
                <a:ea typeface="Cambria" panose="02040503050406030204" pitchFamily="18" charset="0"/>
              </a:rPr>
              <a:t>, manipulated by logical inference</a:t>
            </a:r>
          </a:p>
          <a:p>
            <a:pPr lvl="2"/>
            <a:r>
              <a:rPr lang="en-US" dirty="0">
                <a:latin typeface="Cambria" panose="02040503050406030204" pitchFamily="18" charset="0"/>
                <a:ea typeface="Cambria" panose="02040503050406030204" pitchFamily="18" charset="0"/>
              </a:rPr>
              <a:t>Set of </a:t>
            </a:r>
            <a:r>
              <a:rPr lang="en-US" dirty="0" err="1">
                <a:latin typeface="Cambria" panose="02040503050406030204" pitchFamily="18" charset="0"/>
                <a:ea typeface="Cambria" panose="02040503050406030204" pitchFamily="18" charset="0"/>
              </a:rPr>
              <a:t>fluents</a:t>
            </a:r>
            <a:r>
              <a:rPr lang="en-US" dirty="0">
                <a:latin typeface="Cambria" panose="02040503050406030204" pitchFamily="18" charset="0"/>
                <a:ea typeface="Cambria" panose="02040503050406030204" pitchFamily="18" charset="0"/>
              </a:rPr>
              <a:t>, manipulated with set operations (set semantics sometimes </a:t>
            </a:r>
            <a:r>
              <a:rPr lang="en-US" dirty="0" err="1">
                <a:latin typeface="Cambria" panose="02040503050406030204" pitchFamily="18" charset="0"/>
                <a:ea typeface="Cambria" panose="02040503050406030204" pitchFamily="18" charset="0"/>
              </a:rPr>
              <a:t>easiear</a:t>
            </a:r>
            <a:r>
              <a:rPr lang="en-US" dirty="0">
                <a:latin typeface="Cambria" panose="02040503050406030204" pitchFamily="18" charset="0"/>
                <a:ea typeface="Cambria" panose="02040503050406030204" pitchFamily="18" charset="0"/>
              </a:rPr>
              <a:t> to deal with)</a:t>
            </a:r>
          </a:p>
          <a:p>
            <a:r>
              <a:rPr lang="en-US" sz="2000" b="1" dirty="0">
                <a:latin typeface="Cambria" panose="02040503050406030204" pitchFamily="18" charset="0"/>
                <a:ea typeface="Cambria" panose="02040503050406030204" pitchFamily="18" charset="0"/>
              </a:rPr>
              <a:t>Actions</a:t>
            </a:r>
            <a:endParaRPr lang="en-US" sz="2000" dirty="0">
              <a:latin typeface="Cambria" panose="02040503050406030204" pitchFamily="18" charset="0"/>
              <a:ea typeface="Cambria" panose="02040503050406030204" pitchFamily="18" charset="0"/>
            </a:endParaRPr>
          </a:p>
          <a:p>
            <a:pPr lvl="1"/>
            <a:r>
              <a:rPr lang="en-US" sz="2000" dirty="0">
                <a:latin typeface="Cambria" panose="02040503050406030204" pitchFamily="18" charset="0"/>
                <a:ea typeface="Cambria" panose="02040503050406030204" pitchFamily="18" charset="0"/>
              </a:rPr>
              <a:t>Described by a set of action schemas</a:t>
            </a:r>
          </a:p>
          <a:p>
            <a:pPr lvl="1"/>
            <a:r>
              <a:rPr lang="en-US" sz="2000" dirty="0">
                <a:latin typeface="Cambria" panose="02040503050406030204" pitchFamily="18" charset="0"/>
                <a:ea typeface="Cambria" panose="02040503050406030204" pitchFamily="18" charset="0"/>
              </a:rPr>
              <a:t>Implicitly define ACTIONS(\(s\)) and RESULT(\(</a:t>
            </a:r>
            <a:r>
              <a:rPr lang="en-US" sz="2000" dirty="0" err="1">
                <a:latin typeface="Cambria" panose="02040503050406030204" pitchFamily="18" charset="0"/>
                <a:ea typeface="Cambria" panose="02040503050406030204" pitchFamily="18" charset="0"/>
              </a:rPr>
              <a:t>s,a</a:t>
            </a:r>
            <a:r>
              <a:rPr lang="en-US" sz="2000" dirty="0">
                <a:latin typeface="Cambria" panose="02040503050406030204" pitchFamily="18" charset="0"/>
                <a:ea typeface="Cambria" panose="02040503050406030204" pitchFamily="18" charset="0"/>
              </a:rPr>
              <a:t>\))</a:t>
            </a:r>
          </a:p>
          <a:p>
            <a:pPr lvl="1"/>
            <a:r>
              <a:rPr lang="en-US" sz="2000" dirty="0">
                <a:latin typeface="Cambria" panose="02040503050406030204" pitchFamily="18" charset="0"/>
                <a:ea typeface="Cambria" panose="02040503050406030204" pitchFamily="18" charset="0"/>
              </a:rPr>
              <a:t>Needed to do a problem-solving search</a:t>
            </a:r>
          </a:p>
          <a:p>
            <a:r>
              <a:rPr lang="en-US" sz="2000" dirty="0">
                <a:latin typeface="Cambria" panose="02040503050406030204" pitchFamily="18" charset="0"/>
                <a:ea typeface="Cambria" panose="02040503050406030204" pitchFamily="18" charset="0"/>
              </a:rPr>
              <a:t>The </a:t>
            </a:r>
            <a:r>
              <a:rPr lang="en-US" sz="2000" b="1" dirty="0">
                <a:latin typeface="Cambria" panose="02040503050406030204" pitchFamily="18" charset="0"/>
                <a:ea typeface="Cambria" panose="02040503050406030204" pitchFamily="18" charset="0"/>
              </a:rPr>
              <a:t>frame problem</a:t>
            </a:r>
            <a:endParaRPr lang="en-US" sz="2000" dirty="0">
              <a:latin typeface="Cambria" panose="02040503050406030204" pitchFamily="18" charset="0"/>
              <a:ea typeface="Cambria" panose="02040503050406030204" pitchFamily="18" charset="0"/>
            </a:endParaRPr>
          </a:p>
          <a:p>
            <a:pPr lvl="1"/>
            <a:r>
              <a:rPr lang="en-US" sz="2000" dirty="0">
                <a:latin typeface="Cambria" panose="02040503050406030204" pitchFamily="18" charset="0"/>
                <a:ea typeface="Cambria" panose="02040503050406030204" pitchFamily="18" charset="0"/>
              </a:rPr>
              <a:t>Any system for action description needs to solve the frame problem</a:t>
            </a:r>
          </a:p>
          <a:p>
            <a:pPr lvl="1"/>
            <a:r>
              <a:rPr lang="en-US" sz="2000" b="1" dirty="0">
                <a:latin typeface="Cambria" panose="02040503050406030204" pitchFamily="18" charset="0"/>
                <a:ea typeface="Cambria" panose="02040503050406030204" pitchFamily="18" charset="0"/>
              </a:rPr>
              <a:t>Specify</a:t>
            </a:r>
            <a:r>
              <a:rPr lang="en-US" sz="2000" dirty="0">
                <a:latin typeface="Cambria" panose="02040503050406030204" pitchFamily="18" charset="0"/>
                <a:ea typeface="Cambria" panose="02040503050406030204" pitchFamily="18" charset="0"/>
              </a:rPr>
              <a:t> </a:t>
            </a:r>
            <a:r>
              <a:rPr lang="en-US" sz="2000" i="1" dirty="0">
                <a:latin typeface="Cambria" panose="02040503050406030204" pitchFamily="18" charset="0"/>
                <a:ea typeface="Cambria" panose="02040503050406030204" pitchFamily="18" charset="0"/>
              </a:rPr>
              <a:t>what changes</a:t>
            </a:r>
            <a:r>
              <a:rPr lang="en-US" sz="2000" dirty="0">
                <a:latin typeface="Cambria" panose="02040503050406030204" pitchFamily="18" charset="0"/>
                <a:ea typeface="Cambria" panose="02040503050406030204" pitchFamily="18" charset="0"/>
              </a:rPr>
              <a:t> and </a:t>
            </a:r>
            <a:r>
              <a:rPr lang="en-US" sz="2000" i="1" dirty="0">
                <a:latin typeface="Cambria" panose="02040503050406030204" pitchFamily="18" charset="0"/>
                <a:ea typeface="Cambria" panose="02040503050406030204" pitchFamily="18" charset="0"/>
              </a:rPr>
              <a:t>what stays the same</a:t>
            </a:r>
            <a:r>
              <a:rPr lang="en-US" sz="2000" dirty="0">
                <a:latin typeface="Cambria" panose="02040503050406030204" pitchFamily="18" charset="0"/>
                <a:ea typeface="Cambria" panose="02040503050406030204" pitchFamily="18" charset="0"/>
              </a:rPr>
              <a:t> as result of an action</a:t>
            </a:r>
          </a:p>
          <a:p>
            <a:pPr lvl="1"/>
            <a:r>
              <a:rPr lang="en-US" sz="2000" b="1" dirty="0">
                <a:latin typeface="Cambria" panose="02040503050406030204" pitchFamily="18" charset="0"/>
                <a:ea typeface="Cambria" panose="02040503050406030204" pitchFamily="18" charset="0"/>
              </a:rPr>
              <a:t>Classical Planning</a:t>
            </a:r>
            <a:r>
              <a:rPr lang="en-US" sz="2000" dirty="0">
                <a:latin typeface="Cambria" panose="02040503050406030204" pitchFamily="18" charset="0"/>
                <a:ea typeface="Cambria" panose="02040503050406030204" pitchFamily="18" charset="0"/>
              </a:rPr>
              <a:t> concentrates on problems where most actions leave most things </a:t>
            </a:r>
            <a:r>
              <a:rPr lang="en-US" sz="2000" b="1" dirty="0">
                <a:latin typeface="Cambria" panose="02040503050406030204" pitchFamily="18" charset="0"/>
                <a:ea typeface="Cambria" panose="02040503050406030204" pitchFamily="18" charset="0"/>
              </a:rPr>
              <a:t>unchanged</a:t>
            </a:r>
            <a:endParaRPr lang="en-US" sz="2000" dirty="0">
              <a:latin typeface="Cambria" panose="02040503050406030204" pitchFamily="18" charset="0"/>
              <a:ea typeface="Cambria" panose="02040503050406030204" pitchFamily="18" charset="0"/>
            </a:endParaRPr>
          </a:p>
          <a:p>
            <a:pPr lvl="1"/>
            <a:r>
              <a:rPr lang="en-US" sz="2000" b="1" dirty="0">
                <a:latin typeface="Cambria" panose="02040503050406030204" pitchFamily="18" charset="0"/>
                <a:ea typeface="Cambria" panose="02040503050406030204" pitchFamily="18" charset="0"/>
              </a:rPr>
              <a:t>PDDL</a:t>
            </a:r>
            <a:r>
              <a:rPr lang="en-US" sz="2000" dirty="0">
                <a:latin typeface="Cambria" panose="02040503050406030204" pitchFamily="18" charset="0"/>
                <a:ea typeface="Cambria" panose="02040503050406030204" pitchFamily="18" charset="0"/>
              </a:rPr>
              <a:t> specifies the result of an action in terms of what changes, what remains the same is not mentioned</a:t>
            </a:r>
          </a:p>
          <a:p>
            <a:endParaRPr lang="en-US" sz="2000" dirty="0"/>
          </a:p>
        </p:txBody>
      </p:sp>
    </p:spTree>
    <p:extLst>
      <p:ext uri="{BB962C8B-B14F-4D97-AF65-F5344CB8AC3E}">
        <p14:creationId xmlns:p14="http://schemas.microsoft.com/office/powerpoint/2010/main" val="1006497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Means Ends Analysis</a:t>
            </a:r>
          </a:p>
        </p:txBody>
      </p:sp>
      <p:sp>
        <p:nvSpPr>
          <p:cNvPr id="3" name="Content Placeholder 2"/>
          <p:cNvSpPr>
            <a:spLocks noGrp="1"/>
          </p:cNvSpPr>
          <p:nvPr>
            <p:ph idx="1"/>
          </p:nvPr>
        </p:nvSpPr>
        <p:spPr/>
        <p:txBody>
          <a:bodyPr/>
          <a:lstStyle/>
          <a:p>
            <a:pPr algn="just"/>
            <a:r>
              <a:rPr lang="en-US" dirty="0">
                <a:latin typeface="Cambria" panose="02040503050406030204" pitchFamily="18" charset="0"/>
                <a:ea typeface="Cambria" panose="02040503050406030204" pitchFamily="18" charset="0"/>
              </a:rPr>
              <a:t>Means-Ends Analysis is problem-solving techniques used in Artificial intelligence for limiting search in AI programs.</a:t>
            </a:r>
          </a:p>
          <a:p>
            <a:pPr algn="just"/>
            <a:r>
              <a:rPr lang="en-US" dirty="0">
                <a:latin typeface="Cambria" panose="02040503050406030204" pitchFamily="18" charset="0"/>
                <a:ea typeface="Cambria" panose="02040503050406030204" pitchFamily="18" charset="0"/>
              </a:rPr>
              <a:t>It is a mixture of Backward and forward search technique.</a:t>
            </a:r>
          </a:p>
          <a:p>
            <a:pPr algn="just"/>
            <a:r>
              <a:rPr lang="en-US" dirty="0">
                <a:latin typeface="Cambria" panose="02040503050406030204" pitchFamily="18" charset="0"/>
                <a:ea typeface="Cambria" panose="02040503050406030204" pitchFamily="18" charset="0"/>
              </a:rPr>
              <a:t>The MEA technique was first introduced in 1961 by Allen Newell, and Herbert A. Simon in their problem-solving computer program, which was named as General Problem Solver (GPS).</a:t>
            </a:r>
          </a:p>
          <a:p>
            <a:pPr algn="just"/>
            <a:r>
              <a:rPr lang="en-US" dirty="0">
                <a:latin typeface="Cambria" panose="02040503050406030204" pitchFamily="18" charset="0"/>
                <a:ea typeface="Cambria" panose="02040503050406030204" pitchFamily="18" charset="0"/>
              </a:rPr>
              <a:t>The MEA analysis process centered on the evaluation of the difference between the current state and goal state.</a:t>
            </a:r>
          </a:p>
          <a:p>
            <a:endParaRPr lang="en-US" dirty="0"/>
          </a:p>
        </p:txBody>
      </p:sp>
    </p:spTree>
    <p:extLst>
      <p:ext uri="{BB962C8B-B14F-4D97-AF65-F5344CB8AC3E}">
        <p14:creationId xmlns:p14="http://schemas.microsoft.com/office/powerpoint/2010/main" val="1639647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8144" y="758825"/>
            <a:ext cx="10508673" cy="4949248"/>
          </a:xfrm>
        </p:spPr>
        <p:txBody>
          <a:bodyPr>
            <a:normAutofit/>
          </a:bodyPr>
          <a:lstStyle/>
          <a:p>
            <a:pPr marL="0" indent="0" algn="just">
              <a:buNone/>
            </a:pPr>
            <a:r>
              <a:rPr lang="en-US" dirty="0">
                <a:latin typeface="Cambria" panose="02040503050406030204" pitchFamily="18" charset="0"/>
                <a:ea typeface="Cambria" panose="02040503050406030204" pitchFamily="18" charset="0"/>
              </a:rPr>
              <a:t>How means-ends analysis Works:</a:t>
            </a:r>
          </a:p>
          <a:p>
            <a:pPr algn="just"/>
            <a:r>
              <a:rPr lang="en-US" dirty="0">
                <a:latin typeface="Cambria" panose="02040503050406030204" pitchFamily="18" charset="0"/>
                <a:ea typeface="Cambria" panose="02040503050406030204" pitchFamily="18" charset="0"/>
              </a:rPr>
              <a:t>The means-ends analysis process can be applied recursively for a problem. It is a strategy to control search in problem-solving. Following are the main Steps which describes the working of MEA technique for solving a problem.</a:t>
            </a:r>
          </a:p>
          <a:p>
            <a:pPr algn="just"/>
            <a:r>
              <a:rPr lang="en-US" dirty="0">
                <a:latin typeface="Cambria" panose="02040503050406030204" pitchFamily="18" charset="0"/>
                <a:ea typeface="Cambria" panose="02040503050406030204" pitchFamily="18" charset="0"/>
              </a:rPr>
              <a:t>First, evaluate the difference between Initial State and final State.</a:t>
            </a:r>
          </a:p>
          <a:p>
            <a:pPr algn="just"/>
            <a:r>
              <a:rPr lang="en-US" dirty="0">
                <a:latin typeface="Cambria" panose="02040503050406030204" pitchFamily="18" charset="0"/>
                <a:ea typeface="Cambria" panose="02040503050406030204" pitchFamily="18" charset="0"/>
              </a:rPr>
              <a:t>Select the various operators which can be applied for each difference.</a:t>
            </a:r>
          </a:p>
          <a:p>
            <a:pPr algn="just"/>
            <a:r>
              <a:rPr lang="en-US" dirty="0">
                <a:latin typeface="Cambria" panose="02040503050406030204" pitchFamily="18" charset="0"/>
                <a:ea typeface="Cambria" panose="02040503050406030204" pitchFamily="18" charset="0"/>
              </a:rPr>
              <a:t>Apply the operator at each difference, which reduces the difference between the current state and goal state.</a:t>
            </a:r>
          </a:p>
          <a:p>
            <a:endParaRPr lang="en-US" dirty="0"/>
          </a:p>
        </p:txBody>
      </p:sp>
    </p:spTree>
    <p:extLst>
      <p:ext uri="{BB962C8B-B14F-4D97-AF65-F5344CB8AC3E}">
        <p14:creationId xmlns:p14="http://schemas.microsoft.com/office/powerpoint/2010/main" val="21615196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8873" y="925080"/>
            <a:ext cx="10633363" cy="5170920"/>
          </a:xfrm>
        </p:spPr>
        <p:txBody>
          <a:bodyPr>
            <a:normAutofit/>
          </a:bodyPr>
          <a:lstStyle/>
          <a:p>
            <a:pPr marL="0" indent="0">
              <a:buNone/>
            </a:pPr>
            <a:r>
              <a:rPr lang="en-US" dirty="0">
                <a:latin typeface="Cambria" panose="02040503050406030204" pitchFamily="18" charset="0"/>
                <a:ea typeface="Cambria" panose="02040503050406030204" pitchFamily="18" charset="0"/>
              </a:rPr>
              <a:t>Operator </a:t>
            </a:r>
            <a:r>
              <a:rPr lang="en-US" dirty="0" err="1" smtClean="0">
                <a:latin typeface="Cambria" panose="02040503050406030204" pitchFamily="18" charset="0"/>
                <a:ea typeface="Cambria" panose="02040503050406030204" pitchFamily="18" charset="0"/>
              </a:rPr>
              <a:t>Subgoaling</a:t>
            </a:r>
            <a:endParaRPr lang="en-US" dirty="0" smtClean="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algn="just"/>
            <a:r>
              <a:rPr lang="en-US" dirty="0">
                <a:latin typeface="Cambria" panose="02040503050406030204" pitchFamily="18" charset="0"/>
                <a:ea typeface="Cambria" panose="02040503050406030204" pitchFamily="18" charset="0"/>
              </a:rPr>
              <a:t>In the MEA process, we detect the differences between the current state and goal state. Once these differences occur, then we can apply an operator to reduce the differences.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But </a:t>
            </a:r>
            <a:r>
              <a:rPr lang="en-US" dirty="0">
                <a:latin typeface="Cambria" panose="02040503050406030204" pitchFamily="18" charset="0"/>
                <a:ea typeface="Cambria" panose="02040503050406030204" pitchFamily="18" charset="0"/>
              </a:rPr>
              <a:t>sometimes it is possible that an operator cannot be applied to the current state. </a:t>
            </a:r>
            <a:endParaRPr lang="en-US" dirty="0" smtClean="0">
              <a:latin typeface="Cambria" panose="02040503050406030204" pitchFamily="18" charset="0"/>
              <a:ea typeface="Cambria" panose="02040503050406030204" pitchFamily="18" charset="0"/>
            </a:endParaRPr>
          </a:p>
          <a:p>
            <a:pPr algn="just"/>
            <a:r>
              <a:rPr lang="en-US" dirty="0" smtClean="0">
                <a:latin typeface="Cambria" panose="02040503050406030204" pitchFamily="18" charset="0"/>
                <a:ea typeface="Cambria" panose="02040503050406030204" pitchFamily="18" charset="0"/>
              </a:rPr>
              <a:t>So </a:t>
            </a:r>
            <a:r>
              <a:rPr lang="en-US" dirty="0">
                <a:latin typeface="Cambria" panose="02040503050406030204" pitchFamily="18" charset="0"/>
                <a:ea typeface="Cambria" panose="02040503050406030204" pitchFamily="18" charset="0"/>
              </a:rPr>
              <a:t>we create the </a:t>
            </a:r>
            <a:r>
              <a:rPr lang="en-US" dirty="0" err="1">
                <a:latin typeface="Cambria" panose="02040503050406030204" pitchFamily="18" charset="0"/>
                <a:ea typeface="Cambria" panose="02040503050406030204" pitchFamily="18" charset="0"/>
              </a:rPr>
              <a:t>subproblem</a:t>
            </a:r>
            <a:r>
              <a:rPr lang="en-US" dirty="0">
                <a:latin typeface="Cambria" panose="02040503050406030204" pitchFamily="18" charset="0"/>
                <a:ea typeface="Cambria" panose="02040503050406030204" pitchFamily="18" charset="0"/>
              </a:rPr>
              <a:t> of the current state, in which operator can be applied, such type of backward chaining in which operators are selected, and then sub goals are set up to establish the preconditions of the operator is called </a:t>
            </a:r>
            <a:r>
              <a:rPr lang="en-US" b="1" dirty="0">
                <a:latin typeface="Cambria" panose="02040503050406030204" pitchFamily="18" charset="0"/>
                <a:ea typeface="Cambria" panose="02040503050406030204" pitchFamily="18" charset="0"/>
              </a:rPr>
              <a:t>Operator </a:t>
            </a:r>
            <a:r>
              <a:rPr lang="en-US" b="1" dirty="0" err="1">
                <a:latin typeface="Cambria" panose="02040503050406030204" pitchFamily="18" charset="0"/>
                <a:ea typeface="Cambria" panose="02040503050406030204" pitchFamily="18" charset="0"/>
              </a:rPr>
              <a:t>Subgoaling</a:t>
            </a:r>
            <a:r>
              <a:rPr lang="en-US" dirty="0">
                <a:latin typeface="Cambria" panose="02040503050406030204" pitchFamily="18" charset="0"/>
                <a:ea typeface="Cambria" panose="02040503050406030204" pitchFamily="18" charset="0"/>
              </a:rPr>
              <a:t>.</a:t>
            </a:r>
          </a:p>
          <a:p>
            <a:pPr algn="just"/>
            <a:endParaRPr lang="en-US" dirty="0"/>
          </a:p>
        </p:txBody>
      </p:sp>
    </p:spTree>
    <p:extLst>
      <p:ext uri="{BB962C8B-B14F-4D97-AF65-F5344CB8AC3E}">
        <p14:creationId xmlns:p14="http://schemas.microsoft.com/office/powerpoint/2010/main" val="56624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Algorithm</a:t>
            </a:r>
            <a:endParaRPr lang="en-US" dirty="0"/>
          </a:p>
        </p:txBody>
      </p:sp>
      <p:sp>
        <p:nvSpPr>
          <p:cNvPr id="3" name="Content Placeholder 2"/>
          <p:cNvSpPr>
            <a:spLocks noGrp="1"/>
          </p:cNvSpPr>
          <p:nvPr>
            <p:ph idx="1"/>
          </p:nvPr>
        </p:nvSpPr>
        <p:spPr>
          <a:xfrm>
            <a:off x="484909" y="1265671"/>
            <a:ext cx="10868891" cy="5347854"/>
          </a:xfrm>
        </p:spPr>
        <p:txBody>
          <a:bodyPr>
            <a:normAutofit lnSpcReduction="10000"/>
          </a:bodyPr>
          <a:lstStyle/>
          <a:p>
            <a:pPr marL="0" indent="0">
              <a:buNone/>
            </a:pPr>
            <a:r>
              <a:rPr lang="en-US" sz="2400" dirty="0">
                <a:latin typeface="Cambria" panose="02040503050406030204" pitchFamily="18" charset="0"/>
                <a:ea typeface="Cambria" panose="02040503050406030204" pitchFamily="18" charset="0"/>
              </a:rPr>
              <a:t>Current state as CURRENT and Goal State as GOAL, then following are the steps for the MEA algorithm.</a:t>
            </a:r>
            <a:endParaRPr lang="en-US" sz="2400" b="1" dirty="0" smtClean="0">
              <a:latin typeface="Cambria" panose="02040503050406030204" pitchFamily="18" charset="0"/>
              <a:ea typeface="Cambria" panose="02040503050406030204" pitchFamily="18" charset="0"/>
            </a:endParaRPr>
          </a:p>
          <a:p>
            <a:r>
              <a:rPr lang="en-US" sz="2400" b="1" dirty="0" smtClean="0">
                <a:latin typeface="Cambria" panose="02040503050406030204" pitchFamily="18" charset="0"/>
                <a:ea typeface="Cambria" panose="02040503050406030204" pitchFamily="18" charset="0"/>
              </a:rPr>
              <a:t>Step </a:t>
            </a:r>
            <a:r>
              <a:rPr lang="en-US" sz="2400" b="1" dirty="0">
                <a:latin typeface="Cambria" panose="02040503050406030204" pitchFamily="18" charset="0"/>
                <a:ea typeface="Cambria" panose="02040503050406030204" pitchFamily="18" charset="0"/>
              </a:rPr>
              <a:t>1:</a:t>
            </a:r>
            <a:r>
              <a:rPr lang="en-US" sz="2400" dirty="0">
                <a:latin typeface="Cambria" panose="02040503050406030204" pitchFamily="18" charset="0"/>
                <a:ea typeface="Cambria" panose="02040503050406030204" pitchFamily="18" charset="0"/>
              </a:rPr>
              <a:t> Compare CURRENT to GOAL, if there are no differences between both then return Success and Exit.</a:t>
            </a:r>
          </a:p>
          <a:p>
            <a:r>
              <a:rPr lang="en-US" sz="2400" b="1" dirty="0">
                <a:latin typeface="Cambria" panose="02040503050406030204" pitchFamily="18" charset="0"/>
                <a:ea typeface="Cambria" panose="02040503050406030204" pitchFamily="18" charset="0"/>
              </a:rPr>
              <a:t>Step 2:</a:t>
            </a:r>
            <a:r>
              <a:rPr lang="en-US" sz="2400" dirty="0">
                <a:latin typeface="Cambria" panose="02040503050406030204" pitchFamily="18" charset="0"/>
                <a:ea typeface="Cambria" panose="02040503050406030204" pitchFamily="18" charset="0"/>
              </a:rPr>
              <a:t> Else, select the most significant difference and reduce it by doing the following steps until the success or failure occurs.</a:t>
            </a:r>
          </a:p>
          <a:p>
            <a:pPr lvl="1"/>
            <a:r>
              <a:rPr lang="en-US" dirty="0">
                <a:latin typeface="Cambria" panose="02040503050406030204" pitchFamily="18" charset="0"/>
                <a:ea typeface="Cambria" panose="02040503050406030204" pitchFamily="18" charset="0"/>
              </a:rPr>
              <a:t>Select a new operator O which is applicable for the current difference, and if there is no such operator, then signal failure.</a:t>
            </a:r>
          </a:p>
          <a:p>
            <a:pPr lvl="1"/>
            <a:r>
              <a:rPr lang="en-US" dirty="0">
                <a:latin typeface="Cambria" panose="02040503050406030204" pitchFamily="18" charset="0"/>
                <a:ea typeface="Cambria" panose="02040503050406030204" pitchFamily="18" charset="0"/>
              </a:rPr>
              <a:t>Attempt to apply operator O to CURRENT. Make a description of two states.</a:t>
            </a:r>
            <a:br>
              <a:rPr lang="en-US" dirty="0">
                <a:latin typeface="Cambria" panose="02040503050406030204" pitchFamily="18" charset="0"/>
                <a:ea typeface="Cambria" panose="02040503050406030204" pitchFamily="18" charset="0"/>
              </a:rPr>
            </a:b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 O-Start, a state in which O?s preconditions are satisfied.</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ii) O-Result, the state that would result if O were applied In O-start.</a:t>
            </a:r>
          </a:p>
          <a:p>
            <a:pPr lvl="1"/>
            <a:r>
              <a:rPr lang="en-US" dirty="0">
                <a:latin typeface="Cambria" panose="02040503050406030204" pitchFamily="18" charset="0"/>
                <a:ea typeface="Cambria" panose="02040503050406030204" pitchFamily="18" charset="0"/>
              </a:rPr>
              <a:t>If</a:t>
            </a:r>
            <a:br>
              <a:rPr lang="en-US" dirty="0">
                <a:latin typeface="Cambria" panose="02040503050406030204" pitchFamily="18" charset="0"/>
                <a:ea typeface="Cambria" panose="02040503050406030204" pitchFamily="18" charset="0"/>
              </a:rPr>
            </a:br>
            <a:r>
              <a:rPr lang="en-US" b="1" dirty="0">
                <a:latin typeface="Cambria" panose="02040503050406030204" pitchFamily="18" charset="0"/>
                <a:ea typeface="Cambria" panose="02040503050406030204" pitchFamily="18" charset="0"/>
              </a:rPr>
              <a:t>(First-Part &lt;------ MEA (CURRENT, O-START)</a:t>
            </a:r>
            <a:r>
              <a:rPr lang="en-US" dirty="0">
                <a:latin typeface="Cambria" panose="02040503050406030204" pitchFamily="18" charset="0"/>
                <a:ea typeface="Cambria" panose="02040503050406030204" pitchFamily="18" charset="0"/>
              </a:rPr>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And</a:t>
            </a:r>
            <a:br>
              <a:rPr lang="en-US" dirty="0">
                <a:latin typeface="Cambria" panose="02040503050406030204" pitchFamily="18" charset="0"/>
                <a:ea typeface="Cambria" panose="02040503050406030204" pitchFamily="18" charset="0"/>
              </a:rPr>
            </a:br>
            <a:r>
              <a:rPr lang="en-US" b="1" dirty="0">
                <a:latin typeface="Cambria" panose="02040503050406030204" pitchFamily="18" charset="0"/>
                <a:ea typeface="Cambria" panose="02040503050406030204" pitchFamily="18" charset="0"/>
              </a:rPr>
              <a:t>(LAST-Part &lt;----- MEA (O-Result, GOAL)</a:t>
            </a:r>
            <a:r>
              <a:rPr lang="en-US" dirty="0">
                <a:latin typeface="Cambria" panose="02040503050406030204" pitchFamily="18" charset="0"/>
                <a:ea typeface="Cambria" panose="02040503050406030204" pitchFamily="18" charset="0"/>
              </a:rPr>
              <a:t>, are successful, then signal Success and return the result of combining FIRST-PART, O, and LAST-PART.</a:t>
            </a:r>
          </a:p>
          <a:p>
            <a:endParaRPr lang="en-US" dirty="0"/>
          </a:p>
        </p:txBody>
      </p:sp>
    </p:spTree>
    <p:extLst>
      <p:ext uri="{BB962C8B-B14F-4D97-AF65-F5344CB8AC3E}">
        <p14:creationId xmlns:p14="http://schemas.microsoft.com/office/powerpoint/2010/main" val="712969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Mean-Ends Analysis:</a:t>
            </a:r>
            <a:br>
              <a:rPr lang="en-US" dirty="0"/>
            </a:br>
            <a:endParaRPr lang="en-US" dirty="0"/>
          </a:p>
        </p:txBody>
      </p:sp>
      <p:sp>
        <p:nvSpPr>
          <p:cNvPr id="3" name="Content Placeholder 2"/>
          <p:cNvSpPr>
            <a:spLocks noGrp="1"/>
          </p:cNvSpPr>
          <p:nvPr>
            <p:ph idx="1"/>
          </p:nvPr>
        </p:nvSpPr>
        <p:spPr>
          <a:xfrm>
            <a:off x="838200" y="1423843"/>
            <a:ext cx="10515600" cy="4351338"/>
          </a:xfrm>
        </p:spPr>
        <p:txBody>
          <a:bodyPr/>
          <a:lstStyle/>
          <a:p>
            <a:r>
              <a:rPr lang="en-US" dirty="0" smtClean="0"/>
              <a:t>Let's </a:t>
            </a:r>
            <a:r>
              <a:rPr lang="en-US" dirty="0"/>
              <a:t>take an example where we know the initial state and goal state as given below. In this problem, we need to get the goal state by finding differences between the initial state and goal state and applying operators.</a:t>
            </a:r>
          </a:p>
          <a:p>
            <a:endParaRPr lang="en-US" dirty="0"/>
          </a:p>
        </p:txBody>
      </p:sp>
      <p:pic>
        <p:nvPicPr>
          <p:cNvPr id="5" name="Picture 4"/>
          <p:cNvPicPr>
            <a:picLocks noChangeAspect="1"/>
          </p:cNvPicPr>
          <p:nvPr/>
        </p:nvPicPr>
        <p:blipFill>
          <a:blip r:embed="rId2"/>
          <a:stretch>
            <a:fillRect/>
          </a:stretch>
        </p:blipFill>
        <p:spPr>
          <a:xfrm>
            <a:off x="2593590" y="3296532"/>
            <a:ext cx="4970992" cy="2478649"/>
          </a:xfrm>
          <a:prstGeom prst="rect">
            <a:avLst/>
          </a:prstGeom>
        </p:spPr>
      </p:pic>
    </p:spTree>
    <p:extLst>
      <p:ext uri="{BB962C8B-B14F-4D97-AF65-F5344CB8AC3E}">
        <p14:creationId xmlns:p14="http://schemas.microsoft.com/office/powerpoint/2010/main" val="19685779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345" y="509443"/>
            <a:ext cx="10799618" cy="5877501"/>
          </a:xfrm>
        </p:spPr>
        <p:txBody>
          <a:bodyPr>
            <a:normAutofit lnSpcReduction="10000"/>
          </a:bodyPr>
          <a:lstStyle/>
          <a:p>
            <a:r>
              <a:rPr lang="en-US" sz="2400" dirty="0" smtClean="0">
                <a:latin typeface="Cambria" panose="02040503050406030204" pitchFamily="18" charset="0"/>
                <a:ea typeface="Cambria" panose="02040503050406030204" pitchFamily="18" charset="0"/>
              </a:rPr>
              <a:t>To </a:t>
            </a:r>
            <a:r>
              <a:rPr lang="en-US" sz="2400" dirty="0">
                <a:latin typeface="Cambria" panose="02040503050406030204" pitchFamily="18" charset="0"/>
                <a:ea typeface="Cambria" panose="02040503050406030204" pitchFamily="18" charset="0"/>
              </a:rPr>
              <a:t>solve the above problem, we will first find the differences between initial states and goal states, and for each difference, we will generate a new state and will apply the operators. The operators we have for this problem are:</a:t>
            </a:r>
          </a:p>
          <a:p>
            <a:r>
              <a:rPr lang="en-US" sz="2400" b="1" dirty="0">
                <a:latin typeface="Cambria" panose="02040503050406030204" pitchFamily="18" charset="0"/>
                <a:ea typeface="Cambria" panose="02040503050406030204" pitchFamily="18" charset="0"/>
              </a:rPr>
              <a:t>Move</a:t>
            </a:r>
            <a:endParaRPr lang="en-US" sz="2400"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Delete</a:t>
            </a:r>
            <a:endParaRPr lang="en-US" sz="2400"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Expand</a:t>
            </a:r>
            <a:endParaRPr lang="en-US" sz="2400"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1. Evaluating the initial state:</a:t>
            </a:r>
            <a:r>
              <a:rPr lang="en-US" sz="2400" dirty="0">
                <a:latin typeface="Cambria" panose="02040503050406030204" pitchFamily="18" charset="0"/>
                <a:ea typeface="Cambria" panose="02040503050406030204" pitchFamily="18" charset="0"/>
              </a:rPr>
              <a:t> In the first step, we will evaluate </a:t>
            </a:r>
            <a:r>
              <a:rPr lang="en-US" sz="2400" dirty="0" smtClean="0">
                <a:latin typeface="Cambria" panose="02040503050406030204" pitchFamily="18" charset="0"/>
                <a:ea typeface="Cambria" panose="02040503050406030204" pitchFamily="18" charset="0"/>
              </a:rPr>
              <a:t>the initial </a:t>
            </a:r>
            <a:r>
              <a:rPr lang="en-US" sz="2400" dirty="0">
                <a:latin typeface="Cambria" panose="02040503050406030204" pitchFamily="18" charset="0"/>
                <a:ea typeface="Cambria" panose="02040503050406030204" pitchFamily="18" charset="0"/>
              </a:rPr>
              <a:t>state and will compare the initial and Goal state to find the </a:t>
            </a:r>
            <a:r>
              <a:rPr lang="en-US" sz="2400" dirty="0" smtClean="0">
                <a:latin typeface="Cambria" panose="02040503050406030204" pitchFamily="18" charset="0"/>
                <a:ea typeface="Cambria" panose="02040503050406030204" pitchFamily="18" charset="0"/>
              </a:rPr>
              <a:t>differences </a:t>
            </a:r>
            <a:r>
              <a:rPr lang="en-US" sz="2400" dirty="0">
                <a:latin typeface="Cambria" panose="02040503050406030204" pitchFamily="18" charset="0"/>
                <a:ea typeface="Cambria" panose="02040503050406030204" pitchFamily="18" charset="0"/>
              </a:rPr>
              <a:t>between both states</a:t>
            </a:r>
            <a:r>
              <a:rPr lang="en-US" sz="2400" dirty="0" smtClean="0">
                <a:latin typeface="Cambria" panose="02040503050406030204" pitchFamily="18" charset="0"/>
                <a:ea typeface="Cambria" panose="02040503050406030204" pitchFamily="18" charset="0"/>
              </a:rPr>
              <a:t>.              </a:t>
            </a:r>
          </a:p>
          <a:p>
            <a:pPr marL="0" indent="0">
              <a:buNone/>
            </a:pPr>
            <a:endParaRPr lang="en-US" sz="2400" dirty="0">
              <a:latin typeface="Cambria" panose="02040503050406030204" pitchFamily="18" charset="0"/>
              <a:ea typeface="Cambria" panose="02040503050406030204" pitchFamily="18" charset="0"/>
            </a:endParaRPr>
          </a:p>
          <a:p>
            <a:pPr marL="0" indent="0">
              <a:buNone/>
            </a:pPr>
            <a:r>
              <a:rPr lang="en-US" sz="2400" dirty="0" smtClean="0">
                <a:latin typeface="Cambria" panose="02040503050406030204" pitchFamily="18" charset="0"/>
                <a:ea typeface="Cambria" panose="02040503050406030204" pitchFamily="18" charset="0"/>
              </a:rPr>
              <a:t>  </a:t>
            </a:r>
            <a:endParaRPr lang="en-US" sz="2400"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2. Applying Delete operator:</a:t>
            </a:r>
            <a:r>
              <a:rPr lang="en-US" sz="2400" dirty="0">
                <a:latin typeface="Cambria" panose="02040503050406030204" pitchFamily="18" charset="0"/>
                <a:ea typeface="Cambria" panose="02040503050406030204" pitchFamily="18" charset="0"/>
              </a:rPr>
              <a:t> As we can check the first difference is that in goal state there is no dot symbol which is present in the initial state, so, first we will apply the </a:t>
            </a:r>
            <a:r>
              <a:rPr lang="en-US" sz="2400" b="1" dirty="0">
                <a:latin typeface="Cambria" panose="02040503050406030204" pitchFamily="18" charset="0"/>
                <a:ea typeface="Cambria" panose="02040503050406030204" pitchFamily="18" charset="0"/>
              </a:rPr>
              <a:t>Delete operator</a:t>
            </a:r>
            <a:r>
              <a:rPr lang="en-US" sz="2400" dirty="0">
                <a:latin typeface="Cambria" panose="02040503050406030204" pitchFamily="18" charset="0"/>
                <a:ea typeface="Cambria" panose="02040503050406030204" pitchFamily="18" charset="0"/>
              </a:rPr>
              <a:t> to remove this dot</a:t>
            </a:r>
            <a:r>
              <a:rPr lang="en-US" dirty="0" smtClean="0"/>
              <a:t>.  </a:t>
            </a: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10595172" y="3448193"/>
            <a:ext cx="1295581" cy="1193080"/>
          </a:xfrm>
          <a:prstGeom prst="rect">
            <a:avLst/>
          </a:prstGeom>
        </p:spPr>
      </p:pic>
      <p:pic>
        <p:nvPicPr>
          <p:cNvPr id="5" name="Picture 4"/>
          <p:cNvPicPr>
            <a:picLocks noChangeAspect="1"/>
          </p:cNvPicPr>
          <p:nvPr/>
        </p:nvPicPr>
        <p:blipFill>
          <a:blip r:embed="rId3"/>
          <a:stretch>
            <a:fillRect/>
          </a:stretch>
        </p:blipFill>
        <p:spPr>
          <a:xfrm>
            <a:off x="8583125" y="5227828"/>
            <a:ext cx="2867425" cy="1409897"/>
          </a:xfrm>
          <a:prstGeom prst="rect">
            <a:avLst/>
          </a:prstGeom>
        </p:spPr>
      </p:pic>
    </p:spTree>
    <p:extLst>
      <p:ext uri="{BB962C8B-B14F-4D97-AF65-F5344CB8AC3E}">
        <p14:creationId xmlns:p14="http://schemas.microsoft.com/office/powerpoint/2010/main" val="40819038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3455" y="488662"/>
            <a:ext cx="11125200" cy="5489574"/>
          </a:xfrm>
        </p:spPr>
        <p:txBody>
          <a:bodyPr>
            <a:normAutofit/>
          </a:bodyPr>
          <a:lstStyle/>
          <a:p>
            <a:pPr marL="0" indent="0" algn="just">
              <a:buNone/>
            </a:pPr>
            <a:r>
              <a:rPr lang="en-US" b="1" dirty="0" smtClean="0"/>
              <a:t>3</a:t>
            </a:r>
            <a:r>
              <a:rPr lang="en-US" sz="2400" b="1" dirty="0" smtClean="0"/>
              <a:t>. Applying </a:t>
            </a:r>
            <a:r>
              <a:rPr lang="en-US" sz="2400" b="1" dirty="0"/>
              <a:t>Move Operator:</a:t>
            </a:r>
            <a:r>
              <a:rPr lang="en-US" sz="2400" dirty="0"/>
              <a:t> After applying the Delete operator, the new state occurs which we will again compare with goal state. After comparing these states, there is another difference that is the square is outside the circle, so, we will apply the </a:t>
            </a:r>
            <a:r>
              <a:rPr lang="en-US" sz="2400" b="1" dirty="0"/>
              <a:t>Move Operator</a:t>
            </a:r>
            <a:r>
              <a:rPr lang="en-US" sz="2400" dirty="0" smtClean="0"/>
              <a:t>.</a:t>
            </a:r>
          </a:p>
          <a:p>
            <a:endParaRPr lang="en-US" dirty="0"/>
          </a:p>
          <a:p>
            <a:endParaRPr lang="en-US" dirty="0" smtClean="0"/>
          </a:p>
          <a:p>
            <a:endParaRPr lang="en-US" dirty="0" smtClean="0"/>
          </a:p>
          <a:p>
            <a:pPr marL="0" indent="0">
              <a:buNone/>
            </a:pPr>
            <a:r>
              <a:rPr lang="en-US" dirty="0" smtClean="0"/>
              <a:t>4. </a:t>
            </a:r>
            <a:r>
              <a:rPr lang="en-US" sz="2400" b="1" dirty="0"/>
              <a:t>Applying Expand Operator:</a:t>
            </a:r>
            <a:r>
              <a:rPr lang="en-US" sz="2400" dirty="0"/>
              <a:t> Now a new state is generated in the third step, and we will compare this state with the goal state. After comparing the states there is still one difference which is the size of the square, so, we will apply </a:t>
            </a:r>
            <a:r>
              <a:rPr lang="en-US" sz="2400" b="1" dirty="0"/>
              <a:t>Expand operator</a:t>
            </a:r>
            <a:r>
              <a:rPr lang="en-US" sz="2400" dirty="0"/>
              <a:t>, and finally, </a:t>
            </a:r>
            <a:r>
              <a:rPr lang="en-US" sz="2400" dirty="0" smtClean="0"/>
              <a:t>it will </a:t>
            </a:r>
            <a:r>
              <a:rPr lang="en-US" sz="2400" dirty="0"/>
              <a:t>generate the goal state.</a:t>
            </a:r>
            <a:br>
              <a:rPr lang="en-US" sz="2400" dirty="0"/>
            </a:br>
            <a:endParaRPr lang="en-US" dirty="0"/>
          </a:p>
        </p:txBody>
      </p:sp>
      <p:pic>
        <p:nvPicPr>
          <p:cNvPr id="4" name="Picture 3"/>
          <p:cNvPicPr>
            <a:picLocks noChangeAspect="1"/>
          </p:cNvPicPr>
          <p:nvPr/>
        </p:nvPicPr>
        <p:blipFill>
          <a:blip r:embed="rId2"/>
          <a:stretch>
            <a:fillRect/>
          </a:stretch>
        </p:blipFill>
        <p:spPr>
          <a:xfrm>
            <a:off x="3034282" y="2002744"/>
            <a:ext cx="4239217" cy="1467055"/>
          </a:xfrm>
          <a:prstGeom prst="rect">
            <a:avLst/>
          </a:prstGeom>
        </p:spPr>
      </p:pic>
      <p:pic>
        <p:nvPicPr>
          <p:cNvPr id="5" name="Picture 4"/>
          <p:cNvPicPr>
            <a:picLocks noChangeAspect="1"/>
          </p:cNvPicPr>
          <p:nvPr/>
        </p:nvPicPr>
        <p:blipFill>
          <a:blip r:embed="rId3"/>
          <a:stretch>
            <a:fillRect/>
          </a:stretch>
        </p:blipFill>
        <p:spPr>
          <a:xfrm>
            <a:off x="2751886" y="5239946"/>
            <a:ext cx="5801535" cy="1476581"/>
          </a:xfrm>
          <a:prstGeom prst="rect">
            <a:avLst/>
          </a:prstGeom>
        </p:spPr>
      </p:pic>
    </p:spTree>
    <p:extLst>
      <p:ext uri="{BB962C8B-B14F-4D97-AF65-F5344CB8AC3E}">
        <p14:creationId xmlns:p14="http://schemas.microsoft.com/office/powerpoint/2010/main" val="3111659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15663</TotalTime>
  <Words>1608</Words>
  <Application>Microsoft Office PowerPoint</Application>
  <PresentationFormat>Widescreen</PresentationFormat>
  <Paragraphs>145</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Cambria</vt:lpstr>
      <vt:lpstr>Office Theme</vt:lpstr>
      <vt:lpstr>PLANNING</vt:lpstr>
      <vt:lpstr>Planning Domain Definition Language</vt:lpstr>
      <vt:lpstr>PowerPoint Presentation</vt:lpstr>
      <vt:lpstr>PowerPoint Presentation</vt:lpstr>
      <vt:lpstr>PowerPoint Presentation</vt:lpstr>
      <vt:lpstr>Air Cargo Transport</vt:lpstr>
      <vt:lpstr>How Does Air Cargo Shipping Operate? </vt:lpstr>
      <vt:lpstr>The detailed steps that facilitate the air cargo shipping process:</vt:lpstr>
      <vt:lpstr>PowerPoint Presentation</vt:lpstr>
      <vt:lpstr>PowerPoint Presentation</vt:lpstr>
      <vt:lpstr>Benefits of Air Cargo Shipping </vt:lpstr>
      <vt:lpstr>PowerPoint Presentation</vt:lpstr>
      <vt:lpstr>Drawbacks </vt:lpstr>
      <vt:lpstr>PowerPoint Presentation</vt:lpstr>
      <vt:lpstr>Blocks World</vt:lpstr>
      <vt:lpstr>PowerPoint Presentation</vt:lpstr>
      <vt:lpstr>PowerPoint Presentation</vt:lpstr>
      <vt:lpstr>PowerPoint Presentation</vt:lpstr>
      <vt:lpstr>PowerPoint Presentation</vt:lpstr>
      <vt:lpstr>Problem Description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Classical Planning</vt:lpstr>
      <vt:lpstr>PowerPoint Presentation</vt:lpstr>
      <vt:lpstr>PowerPoint Presentation</vt:lpstr>
      <vt:lpstr>Means Ends Analysis</vt:lpstr>
      <vt:lpstr>PowerPoint Presentation</vt:lpstr>
      <vt:lpstr>PowerPoint Presentation</vt:lpstr>
      <vt:lpstr>Algorithm</vt:lpstr>
      <vt:lpstr>Example of Mean-Ends Analysis: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dc:title>
  <dc:creator>Sowmiya</dc:creator>
  <cp:lastModifiedBy>Sowmya M</cp:lastModifiedBy>
  <cp:revision>31</cp:revision>
  <dcterms:created xsi:type="dcterms:W3CDTF">2024-06-29T06:06:09Z</dcterms:created>
  <dcterms:modified xsi:type="dcterms:W3CDTF">2025-05-24T07:25:32Z</dcterms:modified>
</cp:coreProperties>
</file>