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56" r:id="rId2"/>
    <p:sldId id="305" r:id="rId3"/>
    <p:sldId id="306" r:id="rId4"/>
    <p:sldId id="307" r:id="rId5"/>
    <p:sldId id="308" r:id="rId6"/>
    <p:sldId id="309" r:id="rId7"/>
    <p:sldId id="310" r:id="rId8"/>
    <p:sldId id="311" r:id="rId9"/>
    <p:sldId id="312" r:id="rId10"/>
    <p:sldId id="313" r:id="rId11"/>
    <p:sldId id="258" r:id="rId12"/>
    <p:sldId id="257"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9" r:id="rId33"/>
    <p:sldId id="278" r:id="rId34"/>
    <p:sldId id="280" r:id="rId35"/>
    <p:sldId id="281" r:id="rId36"/>
    <p:sldId id="282" r:id="rId37"/>
    <p:sldId id="283" r:id="rId38"/>
    <p:sldId id="284" r:id="rId39"/>
    <p:sldId id="285" r:id="rId40"/>
    <p:sldId id="286" r:id="rId41"/>
    <p:sldId id="287" r:id="rId42"/>
    <p:sldId id="288" r:id="rId43"/>
    <p:sldId id="292" r:id="rId44"/>
    <p:sldId id="291" r:id="rId45"/>
    <p:sldId id="293" r:id="rId46"/>
    <p:sldId id="294" r:id="rId47"/>
    <p:sldId id="295" r:id="rId48"/>
    <p:sldId id="296" r:id="rId49"/>
    <p:sldId id="289" r:id="rId50"/>
    <p:sldId id="290" r:id="rId51"/>
    <p:sldId id="300" r:id="rId52"/>
    <p:sldId id="304" r:id="rId53"/>
    <p:sldId id="301" r:id="rId54"/>
    <p:sldId id="302" r:id="rId55"/>
    <p:sldId id="323" r:id="rId56"/>
    <p:sldId id="297" r:id="rId57"/>
    <p:sldId id="298" r:id="rId58"/>
    <p:sldId id="299" r:id="rId59"/>
    <p:sldId id="303" r:id="rId60"/>
    <p:sldId id="319" r:id="rId61"/>
    <p:sldId id="320" r:id="rId62"/>
    <p:sldId id="321" r:id="rId63"/>
    <p:sldId id="322" r:id="rId64"/>
    <p:sldId id="314" r:id="rId65"/>
    <p:sldId id="315" r:id="rId66"/>
    <p:sldId id="316" r:id="rId67"/>
    <p:sldId id="317" r:id="rId68"/>
    <p:sldId id="318" r:id="rId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F2D40C-B29E-4D40-BEA2-E20E2ACE9ACC}" type="datetimeFigureOut">
              <a:rPr lang="en-US" smtClean="0"/>
              <a:t>5/21/2025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4A9833-CEA5-4D22-BD2A-36E36335D0DE}" type="slidenum">
              <a:rPr lang="en-US" smtClean="0"/>
              <a:t>‹#›</a:t>
            </a:fld>
            <a:endParaRPr lang="en-US"/>
          </a:p>
        </p:txBody>
      </p:sp>
    </p:spTree>
    <p:extLst>
      <p:ext uri="{BB962C8B-B14F-4D97-AF65-F5344CB8AC3E}">
        <p14:creationId xmlns:p14="http://schemas.microsoft.com/office/powerpoint/2010/main" val="1603876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4A9833-CEA5-4D22-BD2A-36E36335D0DE}" type="slidenum">
              <a:rPr lang="en-US" smtClean="0"/>
              <a:t>14</a:t>
            </a:fld>
            <a:endParaRPr lang="en-US"/>
          </a:p>
        </p:txBody>
      </p:sp>
    </p:spTree>
    <p:extLst>
      <p:ext uri="{BB962C8B-B14F-4D97-AF65-F5344CB8AC3E}">
        <p14:creationId xmlns:p14="http://schemas.microsoft.com/office/powerpoint/2010/main" val="26646803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D4A9833-CEA5-4D22-BD2A-36E36335D0DE}" type="slidenum">
              <a:rPr lang="en-US" smtClean="0"/>
              <a:t>31</a:t>
            </a:fld>
            <a:endParaRPr lang="en-US"/>
          </a:p>
        </p:txBody>
      </p:sp>
    </p:spTree>
    <p:extLst>
      <p:ext uri="{BB962C8B-B14F-4D97-AF65-F5344CB8AC3E}">
        <p14:creationId xmlns:p14="http://schemas.microsoft.com/office/powerpoint/2010/main" val="25173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D7C6C1DC-21FE-4805-90E8-06A6D699AF37}"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081315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6C1DC-21FE-4805-90E8-06A6D699AF37}"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40206428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C6C1DC-21FE-4805-90E8-06A6D699AF37}"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361938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7C6C1DC-21FE-4805-90E8-06A6D699AF37}"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612851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D7C6C1DC-21FE-4805-90E8-06A6D699AF37}" type="datetimeFigureOut">
              <a:rPr lang="en-US" smtClean="0"/>
              <a:t>5/21/2025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38969175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D7C6C1DC-21FE-4805-90E8-06A6D699AF37}" type="datetimeFigureOut">
              <a:rPr lang="en-US" smtClean="0"/>
              <a:t>5/21/2025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5300074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C6C1DC-21FE-4805-90E8-06A6D699AF37}" type="datetimeFigureOut">
              <a:rPr lang="en-US" smtClean="0"/>
              <a:t>5/21/2025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9199085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C6C1DC-21FE-4805-90E8-06A6D699AF37}"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26134613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C6C1DC-21FE-4805-90E8-06A6D699AF37}" type="datetimeFigureOut">
              <a:rPr lang="en-US" smtClean="0"/>
              <a:t>5/21/2025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04442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6C1DC-21FE-4805-90E8-06A6D699AF37}"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24403518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7C6C1DC-21FE-4805-90E8-06A6D699AF37}" type="datetimeFigureOut">
              <a:rPr lang="en-US" smtClean="0"/>
              <a:t>5/21/2025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3789A4-3A95-4C68-9889-0E5BA206D923}" type="slidenum">
              <a:rPr lang="en-US" smtClean="0"/>
              <a:t>‹#›</a:t>
            </a:fld>
            <a:endParaRPr lang="en-US"/>
          </a:p>
        </p:txBody>
      </p:sp>
    </p:spTree>
    <p:extLst>
      <p:ext uri="{BB962C8B-B14F-4D97-AF65-F5344CB8AC3E}">
        <p14:creationId xmlns:p14="http://schemas.microsoft.com/office/powerpoint/2010/main" val="1751858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7C6C1DC-21FE-4805-90E8-06A6D699AF37}" type="datetimeFigureOut">
              <a:rPr lang="en-US" smtClean="0"/>
              <a:t>5/21/2025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3789A4-3A95-4C68-9889-0E5BA206D923}" type="slidenum">
              <a:rPr lang="en-US" smtClean="0"/>
              <a:t>‹#›</a:t>
            </a:fld>
            <a:endParaRPr lang="en-US"/>
          </a:p>
        </p:txBody>
      </p:sp>
    </p:spTree>
    <p:extLst>
      <p:ext uri="{BB962C8B-B14F-4D97-AF65-F5344CB8AC3E}">
        <p14:creationId xmlns:p14="http://schemas.microsoft.com/office/powerpoint/2010/main" val="20487582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hyperlink" Target="https://www.geeksforgeeks.org/expert-systems" TargetMode="External"/><Relationship Id="rId2" Type="http://schemas.openxmlformats.org/officeDocument/2006/relationships/hyperlink" Target="https://www.geeksforgeeks.org/natural-language-processing-overview" TargetMode="External"/><Relationship Id="rId1" Type="http://schemas.openxmlformats.org/officeDocument/2006/relationships/slideLayout" Target="../slideLayouts/slideLayout2.xml"/><Relationship Id="rId4" Type="http://schemas.openxmlformats.org/officeDocument/2006/relationships/hyperlink" Target="https://www.geeksforgeeks.org/difference-between-semantic-web-and-ai"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496291" y="1925926"/>
            <a:ext cx="9144000" cy="2387600"/>
          </a:xfrm>
        </p:spPr>
        <p:txBody>
          <a:bodyPr>
            <a:normAutofit/>
          </a:bodyPr>
          <a:lstStyle/>
          <a:p>
            <a:r>
              <a:rPr lang="en-US" sz="5400" b="1" dirty="0">
                <a:latin typeface="Cambria" panose="02040503050406030204" pitchFamily="18" charset="0"/>
                <a:ea typeface="Cambria" panose="02040503050406030204" pitchFamily="18" charset="0"/>
              </a:rPr>
              <a:t>FIRST ORDER LOGIC AND PROLOG</a:t>
            </a:r>
            <a:endParaRPr lang="en-US" sz="5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50161262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First-order logic</a:t>
            </a:r>
          </a:p>
        </p:txBody>
      </p:sp>
      <p:sp>
        <p:nvSpPr>
          <p:cNvPr id="3" name="Content Placeholder 2"/>
          <p:cNvSpPr>
            <a:spLocks noGrp="1"/>
          </p:cNvSpPr>
          <p:nvPr>
            <p:ph idx="1"/>
          </p:nvPr>
        </p:nvSpPr>
        <p:spPr/>
        <p:txBody>
          <a:bodyPr/>
          <a:lstStyle/>
          <a:p>
            <a:pPr algn="just"/>
            <a:r>
              <a:rPr lang="en-US" dirty="0"/>
              <a:t>First-order logic is another way of knowledge representation in artificial intelligence. It is an extension to propositional logic.</a:t>
            </a:r>
          </a:p>
          <a:p>
            <a:pPr algn="just"/>
            <a:r>
              <a:rPr lang="en-US" dirty="0"/>
              <a:t>FOL is sufficiently expressive to represent the natural language statements in a concise way.</a:t>
            </a:r>
          </a:p>
          <a:p>
            <a:pPr algn="just"/>
            <a:r>
              <a:rPr lang="en-US" dirty="0"/>
              <a:t>First-order logic is also known as </a:t>
            </a:r>
            <a:r>
              <a:rPr lang="en-US" b="1" dirty="0"/>
              <a:t>Predicate logic or First-order predicate logic</a:t>
            </a:r>
            <a:r>
              <a:rPr lang="en-US" dirty="0"/>
              <a:t>. First-order logic is a powerful language that develops information about the objects in a more easy way and can also express the relationship between those objects.</a:t>
            </a:r>
          </a:p>
          <a:p>
            <a:endParaRPr lang="en-US" dirty="0"/>
          </a:p>
        </p:txBody>
      </p:sp>
    </p:spTree>
    <p:extLst>
      <p:ext uri="{BB962C8B-B14F-4D97-AF65-F5344CB8AC3E}">
        <p14:creationId xmlns:p14="http://schemas.microsoft.com/office/powerpoint/2010/main" val="96472105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66644"/>
            <a:ext cx="10515600" cy="4351338"/>
          </a:xfrm>
        </p:spPr>
        <p:txBody>
          <a:bodyPr>
            <a:normAutofit/>
          </a:bodyPr>
          <a:lstStyle/>
          <a:p>
            <a:pPr algn="just"/>
            <a:r>
              <a:rPr lang="en-US" dirty="0"/>
              <a:t>First-order logic (like natural language) does not only assume that the world contains facts like propositional logic but also assumes the following things in the world:</a:t>
            </a:r>
          </a:p>
          <a:p>
            <a:pPr lvl="1" algn="just"/>
            <a:r>
              <a:rPr lang="en-US" b="1" dirty="0"/>
              <a:t>Objects:</a:t>
            </a:r>
            <a:r>
              <a:rPr lang="en-US" dirty="0"/>
              <a:t> A, B, people, numbers, colors, wars, theories, squares, pits, </a:t>
            </a:r>
            <a:r>
              <a:rPr lang="en-US" smtClean="0"/>
              <a:t>wumpus</a:t>
            </a:r>
            <a:endParaRPr lang="en-US" dirty="0"/>
          </a:p>
          <a:p>
            <a:pPr lvl="1" algn="just"/>
            <a:r>
              <a:rPr lang="en-US" b="1" dirty="0"/>
              <a:t>Relations:</a:t>
            </a:r>
            <a:r>
              <a:rPr lang="en-US" dirty="0"/>
              <a:t> </a:t>
            </a:r>
            <a:r>
              <a:rPr lang="en-US" b="1" dirty="0"/>
              <a:t>It can be unary relation such as:</a:t>
            </a:r>
            <a:r>
              <a:rPr lang="en-US" dirty="0"/>
              <a:t> red, round, is adjacent, </a:t>
            </a:r>
            <a:r>
              <a:rPr lang="en-US" b="1" dirty="0"/>
              <a:t>or n-any relation such as:</a:t>
            </a:r>
            <a:r>
              <a:rPr lang="en-US" dirty="0"/>
              <a:t> the sister of, brother of, has color, comes between</a:t>
            </a:r>
          </a:p>
          <a:p>
            <a:pPr lvl="1" algn="just"/>
            <a:r>
              <a:rPr lang="en-US" b="1" dirty="0"/>
              <a:t>Function:</a:t>
            </a:r>
            <a:r>
              <a:rPr lang="en-US" dirty="0"/>
              <a:t> Father of, best friend, third inning of, end of, ......</a:t>
            </a:r>
          </a:p>
          <a:p>
            <a:pPr algn="just"/>
            <a:r>
              <a:rPr lang="en-US" dirty="0"/>
              <a:t>As a natural language, first-order logic also has two main parts:</a:t>
            </a:r>
          </a:p>
          <a:p>
            <a:pPr lvl="1" algn="just"/>
            <a:r>
              <a:rPr lang="en-US" b="1" dirty="0"/>
              <a:t>Syntax</a:t>
            </a:r>
            <a:endParaRPr lang="en-US" dirty="0"/>
          </a:p>
          <a:p>
            <a:pPr lvl="1" algn="just"/>
            <a:r>
              <a:rPr lang="en-US" b="1" dirty="0"/>
              <a:t>Semantics</a:t>
            </a:r>
            <a:endParaRPr lang="en-US" dirty="0"/>
          </a:p>
          <a:p>
            <a:endParaRPr lang="en-US" dirty="0"/>
          </a:p>
        </p:txBody>
      </p:sp>
    </p:spTree>
    <p:extLst>
      <p:ext uri="{BB962C8B-B14F-4D97-AF65-F5344CB8AC3E}">
        <p14:creationId xmlns:p14="http://schemas.microsoft.com/office/powerpoint/2010/main" val="411642320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3290" y="412461"/>
            <a:ext cx="11381509" cy="4351338"/>
          </a:xfrm>
        </p:spPr>
        <p:txBody>
          <a:bodyPr/>
          <a:lstStyle/>
          <a:p>
            <a:pPr marL="0" indent="0">
              <a:buNone/>
            </a:pPr>
            <a:r>
              <a:rPr lang="en-US" dirty="0"/>
              <a:t>Syntax of First-Order logic:</a:t>
            </a:r>
          </a:p>
          <a:p>
            <a:pPr algn="just"/>
            <a:r>
              <a:rPr lang="en-US" sz="2400" dirty="0">
                <a:latin typeface="Cambria" panose="02040503050406030204" pitchFamily="18" charset="0"/>
                <a:ea typeface="Cambria" panose="02040503050406030204" pitchFamily="18" charset="0"/>
              </a:rPr>
              <a:t>The syntax of FOL determines which collection of symbols is a logical expression in first-order logic. The basic syntactic elements of first-order logic are symbols. We write statements in short-hand notation in FOL</a:t>
            </a:r>
            <a:r>
              <a:rPr lang="en-US" sz="2400" dirty="0" smtClean="0">
                <a:latin typeface="Cambria" panose="02040503050406030204" pitchFamily="18" charset="0"/>
                <a:ea typeface="Cambria" panose="02040503050406030204" pitchFamily="18" charset="0"/>
              </a:rPr>
              <a:t>.</a:t>
            </a:r>
          </a:p>
          <a:p>
            <a:r>
              <a:rPr lang="en-US" sz="2400" dirty="0">
                <a:latin typeface="Cambria" panose="02040503050406030204" pitchFamily="18" charset="0"/>
                <a:ea typeface="Cambria" panose="02040503050406030204" pitchFamily="18" charset="0"/>
              </a:rPr>
              <a:t>Basic Elements of First-order logic:</a:t>
            </a:r>
          </a:p>
          <a:p>
            <a:r>
              <a:rPr lang="en-US" sz="2400" dirty="0">
                <a:latin typeface="Cambria" panose="02040503050406030204" pitchFamily="18" charset="0"/>
                <a:ea typeface="Cambria" panose="02040503050406030204" pitchFamily="18" charset="0"/>
              </a:rPr>
              <a:t>Following are the basic elements of FOL syntax:</a:t>
            </a:r>
          </a:p>
          <a:p>
            <a:endParaRPr lang="en-US" dirty="0"/>
          </a:p>
          <a:p>
            <a:endParaRPr lang="en-US" dirty="0"/>
          </a:p>
        </p:txBody>
      </p:sp>
      <p:pic>
        <p:nvPicPr>
          <p:cNvPr id="4" name="Picture 3"/>
          <p:cNvPicPr>
            <a:picLocks noChangeAspect="1"/>
          </p:cNvPicPr>
          <p:nvPr/>
        </p:nvPicPr>
        <p:blipFill>
          <a:blip r:embed="rId2"/>
          <a:stretch>
            <a:fillRect/>
          </a:stretch>
        </p:blipFill>
        <p:spPr>
          <a:xfrm>
            <a:off x="2881621" y="3104400"/>
            <a:ext cx="5334123" cy="3587345"/>
          </a:xfrm>
          <a:prstGeom prst="rect">
            <a:avLst/>
          </a:prstGeom>
        </p:spPr>
      </p:pic>
    </p:spTree>
    <p:extLst>
      <p:ext uri="{BB962C8B-B14F-4D97-AF65-F5344CB8AC3E}">
        <p14:creationId xmlns:p14="http://schemas.microsoft.com/office/powerpoint/2010/main" val="270051137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3456" y="467879"/>
            <a:ext cx="10903526" cy="5849794"/>
          </a:xfrm>
        </p:spPr>
        <p:txBody>
          <a:bodyPr>
            <a:normAutofit fontScale="92500" lnSpcReduction="20000"/>
          </a:bodyPr>
          <a:lstStyle/>
          <a:p>
            <a:pPr marL="0" indent="0" algn="just">
              <a:buNone/>
            </a:pPr>
            <a:r>
              <a:rPr lang="en-US" dirty="0">
                <a:latin typeface="Cambria" panose="02040503050406030204" pitchFamily="18" charset="0"/>
                <a:ea typeface="Cambria" panose="02040503050406030204" pitchFamily="18" charset="0"/>
              </a:rPr>
              <a:t>Atomic sentences:</a:t>
            </a:r>
          </a:p>
          <a:p>
            <a:pPr algn="just"/>
            <a:r>
              <a:rPr lang="en-US" dirty="0">
                <a:latin typeface="Cambria" panose="02040503050406030204" pitchFamily="18" charset="0"/>
                <a:ea typeface="Cambria" panose="02040503050406030204" pitchFamily="18" charset="0"/>
              </a:rPr>
              <a:t>Atomic sentences are the most basic sentences of first-order logic. These sentences are formed from a predicate symbol followed by a parenthesis with a sequence of terms.</a:t>
            </a:r>
          </a:p>
          <a:p>
            <a:pPr algn="just"/>
            <a:r>
              <a:rPr lang="en-US" dirty="0">
                <a:latin typeface="Cambria" panose="02040503050406030204" pitchFamily="18" charset="0"/>
                <a:ea typeface="Cambria" panose="02040503050406030204" pitchFamily="18" charset="0"/>
              </a:rPr>
              <a:t>We can represent atomic sentences as </a:t>
            </a:r>
            <a:r>
              <a:rPr lang="en-US" b="1" dirty="0">
                <a:latin typeface="Cambria" panose="02040503050406030204" pitchFamily="18" charset="0"/>
                <a:ea typeface="Cambria" panose="02040503050406030204" pitchFamily="18" charset="0"/>
              </a:rPr>
              <a:t>Predicate (term1, term2, ......, term n)</a:t>
            </a:r>
            <a:r>
              <a:rPr lang="en-US" dirty="0">
                <a:latin typeface="Cambria" panose="02040503050406030204" pitchFamily="18" charset="0"/>
                <a:ea typeface="Cambria" panose="02040503050406030204" pitchFamily="18" charset="0"/>
              </a:rPr>
              <a:t>.</a:t>
            </a:r>
          </a:p>
          <a:p>
            <a:pPr algn="just"/>
            <a:r>
              <a:rPr lang="en-US" b="1" dirty="0">
                <a:latin typeface="Cambria" panose="02040503050406030204" pitchFamily="18" charset="0"/>
                <a:ea typeface="Cambria" panose="02040503050406030204" pitchFamily="18" charset="0"/>
              </a:rPr>
              <a:t>Example: Ravi and Ajay are brothers: =&gt; Brothers(Ravi, Ajay).</a:t>
            </a:r>
            <a:br>
              <a:rPr lang="en-US" b="1" dirty="0">
                <a:latin typeface="Cambria" panose="02040503050406030204" pitchFamily="18" charset="0"/>
                <a:ea typeface="Cambria" panose="02040503050406030204" pitchFamily="18" charset="0"/>
              </a:rPr>
            </a:br>
            <a:r>
              <a:rPr lang="en-US" b="1" dirty="0">
                <a:latin typeface="Cambria" panose="02040503050406030204" pitchFamily="18" charset="0"/>
                <a:ea typeface="Cambria" panose="02040503050406030204" pitchFamily="18" charset="0"/>
              </a:rPr>
              <a:t>                </a:t>
            </a:r>
            <a:r>
              <a:rPr lang="en-US" b="1" dirty="0" err="1">
                <a:latin typeface="Cambria" panose="02040503050406030204" pitchFamily="18" charset="0"/>
                <a:ea typeface="Cambria" panose="02040503050406030204" pitchFamily="18" charset="0"/>
              </a:rPr>
              <a:t>Chinky</a:t>
            </a:r>
            <a:r>
              <a:rPr lang="en-US" b="1" dirty="0">
                <a:latin typeface="Cambria" panose="02040503050406030204" pitchFamily="18" charset="0"/>
                <a:ea typeface="Cambria" panose="02040503050406030204" pitchFamily="18" charset="0"/>
              </a:rPr>
              <a:t> is a cat: =&gt; cat (</a:t>
            </a:r>
            <a:r>
              <a:rPr lang="en-US" b="1" dirty="0" err="1">
                <a:latin typeface="Cambria" panose="02040503050406030204" pitchFamily="18" charset="0"/>
                <a:ea typeface="Cambria" panose="02040503050406030204" pitchFamily="18" charset="0"/>
              </a:rPr>
              <a:t>Chinky</a:t>
            </a:r>
            <a:r>
              <a:rPr lang="en-US" b="1" dirty="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a:t>
            </a:r>
          </a:p>
          <a:p>
            <a:pPr marL="0" indent="0" algn="just">
              <a:buNone/>
            </a:pP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Complex </a:t>
            </a:r>
            <a:r>
              <a:rPr lang="en-US" dirty="0">
                <a:latin typeface="Cambria" panose="02040503050406030204" pitchFamily="18" charset="0"/>
                <a:ea typeface="Cambria" panose="02040503050406030204" pitchFamily="18" charset="0"/>
              </a:rPr>
              <a:t>Sentences:</a:t>
            </a:r>
          </a:p>
          <a:p>
            <a:pPr algn="just"/>
            <a:r>
              <a:rPr lang="en-US" dirty="0">
                <a:latin typeface="Cambria" panose="02040503050406030204" pitchFamily="18" charset="0"/>
                <a:ea typeface="Cambria" panose="02040503050406030204" pitchFamily="18" charset="0"/>
              </a:rPr>
              <a:t>Complex sentences are made by combining atomic sentences using connectives.</a:t>
            </a:r>
          </a:p>
          <a:p>
            <a:pPr algn="just"/>
            <a:r>
              <a:rPr lang="en-US" b="1" dirty="0">
                <a:latin typeface="Cambria" panose="02040503050406030204" pitchFamily="18" charset="0"/>
                <a:ea typeface="Cambria" panose="02040503050406030204" pitchFamily="18" charset="0"/>
              </a:rPr>
              <a:t>First-order logic statements can be divided into two parts:</a:t>
            </a:r>
            <a:endParaRPr lang="en-US" dirty="0">
              <a:latin typeface="Cambria" panose="02040503050406030204" pitchFamily="18" charset="0"/>
              <a:ea typeface="Cambria" panose="02040503050406030204" pitchFamily="18" charset="0"/>
            </a:endParaRPr>
          </a:p>
          <a:p>
            <a:pPr algn="just"/>
            <a:r>
              <a:rPr lang="en-US" b="1" dirty="0">
                <a:latin typeface="Cambria" panose="02040503050406030204" pitchFamily="18" charset="0"/>
                <a:ea typeface="Cambria" panose="02040503050406030204" pitchFamily="18" charset="0"/>
              </a:rPr>
              <a:t>Subject:</a:t>
            </a:r>
            <a:r>
              <a:rPr lang="en-US" dirty="0">
                <a:latin typeface="Cambria" panose="02040503050406030204" pitchFamily="18" charset="0"/>
                <a:ea typeface="Cambria" panose="02040503050406030204" pitchFamily="18" charset="0"/>
              </a:rPr>
              <a:t> Subject is the main part of the statement.</a:t>
            </a:r>
          </a:p>
          <a:p>
            <a:pPr algn="just"/>
            <a:r>
              <a:rPr lang="en-US" b="1" dirty="0">
                <a:latin typeface="Cambria" panose="02040503050406030204" pitchFamily="18" charset="0"/>
                <a:ea typeface="Cambria" panose="02040503050406030204" pitchFamily="18" charset="0"/>
              </a:rPr>
              <a:t>Predicate:</a:t>
            </a:r>
            <a:r>
              <a:rPr lang="en-US" dirty="0">
                <a:latin typeface="Cambria" panose="02040503050406030204" pitchFamily="18" charset="0"/>
                <a:ea typeface="Cambria" panose="02040503050406030204" pitchFamily="18" charset="0"/>
              </a:rPr>
              <a:t> A predicate can be defined as a relation, which binds two atoms together in a statement.</a:t>
            </a:r>
          </a:p>
          <a:p>
            <a:endParaRPr lang="en-US" dirty="0"/>
          </a:p>
        </p:txBody>
      </p:sp>
    </p:spTree>
    <p:extLst>
      <p:ext uri="{BB962C8B-B14F-4D97-AF65-F5344CB8AC3E}">
        <p14:creationId xmlns:p14="http://schemas.microsoft.com/office/powerpoint/2010/main" val="23324250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689552"/>
            <a:ext cx="10515600" cy="4351338"/>
          </a:xfrm>
        </p:spPr>
        <p:txBody>
          <a:bodyPr/>
          <a:lstStyle/>
          <a:p>
            <a:r>
              <a:rPr lang="en-US" b="1" dirty="0"/>
              <a:t>Consider the statement: "x is an integer."</a:t>
            </a:r>
            <a:r>
              <a:rPr lang="en-US" dirty="0"/>
              <a:t>, it consists of two parts, the first part x is the subject of the statement and second part "is an integer," is known as a predicate.</a:t>
            </a:r>
          </a:p>
        </p:txBody>
      </p:sp>
      <p:pic>
        <p:nvPicPr>
          <p:cNvPr id="4" name="Picture 3"/>
          <p:cNvPicPr>
            <a:picLocks noChangeAspect="1"/>
          </p:cNvPicPr>
          <p:nvPr/>
        </p:nvPicPr>
        <p:blipFill>
          <a:blip r:embed="rId2"/>
          <a:stretch>
            <a:fillRect/>
          </a:stretch>
        </p:blipFill>
        <p:spPr>
          <a:xfrm>
            <a:off x="2922332" y="2051188"/>
            <a:ext cx="4083082" cy="1628065"/>
          </a:xfrm>
          <a:prstGeom prst="rect">
            <a:avLst/>
          </a:prstGeom>
        </p:spPr>
      </p:pic>
    </p:spTree>
    <p:extLst>
      <p:ext uri="{BB962C8B-B14F-4D97-AF65-F5344CB8AC3E}">
        <p14:creationId xmlns:p14="http://schemas.microsoft.com/office/powerpoint/2010/main" val="2765768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6" y="301625"/>
            <a:ext cx="11180618" cy="6182302"/>
          </a:xfrm>
        </p:spPr>
        <p:txBody>
          <a:bodyPr>
            <a:normAutofit fontScale="85000" lnSpcReduction="20000"/>
          </a:bodyPr>
          <a:lstStyle/>
          <a:p>
            <a:pPr marL="0" indent="0" algn="just">
              <a:lnSpc>
                <a:spcPct val="120000"/>
              </a:lnSpc>
              <a:buNone/>
            </a:pPr>
            <a:r>
              <a:rPr lang="en-US" dirty="0">
                <a:latin typeface="Cambria" panose="02040503050406030204" pitchFamily="18" charset="0"/>
                <a:ea typeface="Cambria" panose="02040503050406030204" pitchFamily="18" charset="0"/>
              </a:rPr>
              <a:t>Quantifiers in First-order logic:</a:t>
            </a:r>
          </a:p>
          <a:p>
            <a:pPr algn="just">
              <a:lnSpc>
                <a:spcPct val="120000"/>
              </a:lnSpc>
            </a:pPr>
            <a:r>
              <a:rPr lang="en-US" dirty="0">
                <a:latin typeface="Cambria" panose="02040503050406030204" pitchFamily="18" charset="0"/>
                <a:ea typeface="Cambria" panose="02040503050406030204" pitchFamily="18" charset="0"/>
              </a:rPr>
              <a:t>A quantifier is a language element which generates quantification, and quantification specifies the quantity of specimen in the universe of discourse.</a:t>
            </a:r>
          </a:p>
          <a:p>
            <a:pPr algn="just">
              <a:lnSpc>
                <a:spcPct val="120000"/>
              </a:lnSpc>
            </a:pPr>
            <a:r>
              <a:rPr lang="en-US" dirty="0">
                <a:latin typeface="Cambria" panose="02040503050406030204" pitchFamily="18" charset="0"/>
                <a:ea typeface="Cambria" panose="02040503050406030204" pitchFamily="18" charset="0"/>
              </a:rPr>
              <a:t>These are the symbols that permit to determine or identify the range and scope of the variable in the logical expression. There are two types of quantifier:</a:t>
            </a:r>
          </a:p>
          <a:p>
            <a:pPr lvl="1" algn="just">
              <a:lnSpc>
                <a:spcPct val="120000"/>
              </a:lnSpc>
            </a:pPr>
            <a:r>
              <a:rPr lang="en-US" b="1" dirty="0">
                <a:latin typeface="Cambria" panose="02040503050406030204" pitchFamily="18" charset="0"/>
                <a:ea typeface="Cambria" panose="02040503050406030204" pitchFamily="18" charset="0"/>
              </a:rPr>
              <a:t>Universal Quantifier, (for all, everyone, everything)</a:t>
            </a:r>
            <a:endParaRPr lang="en-US" dirty="0">
              <a:latin typeface="Cambria" panose="02040503050406030204" pitchFamily="18" charset="0"/>
              <a:ea typeface="Cambria" panose="02040503050406030204" pitchFamily="18" charset="0"/>
            </a:endParaRPr>
          </a:p>
          <a:p>
            <a:pPr lvl="1" algn="just">
              <a:lnSpc>
                <a:spcPct val="120000"/>
              </a:lnSpc>
            </a:pPr>
            <a:r>
              <a:rPr lang="en-US" b="1" dirty="0">
                <a:latin typeface="Cambria" panose="02040503050406030204" pitchFamily="18" charset="0"/>
                <a:ea typeface="Cambria" panose="02040503050406030204" pitchFamily="18" charset="0"/>
              </a:rPr>
              <a:t>Existential quantifier, (for some, at least one</a:t>
            </a:r>
            <a:r>
              <a:rPr lang="en-US" b="1" dirty="0" smtClean="0">
                <a:latin typeface="Cambria" panose="02040503050406030204" pitchFamily="18" charset="0"/>
                <a:ea typeface="Cambria" panose="02040503050406030204" pitchFamily="18" charset="0"/>
              </a:rPr>
              <a:t>).</a:t>
            </a:r>
          </a:p>
          <a:p>
            <a:pPr marL="0" indent="0" algn="just">
              <a:lnSpc>
                <a:spcPct val="120000"/>
              </a:lnSpc>
              <a:buNone/>
            </a:pPr>
            <a:endParaRPr lang="en-US" dirty="0" smtClean="0">
              <a:latin typeface="Cambria" panose="02040503050406030204" pitchFamily="18" charset="0"/>
              <a:ea typeface="Cambria" panose="02040503050406030204" pitchFamily="18" charset="0"/>
            </a:endParaRPr>
          </a:p>
          <a:p>
            <a:pPr marL="0" indent="0" algn="just">
              <a:lnSpc>
                <a:spcPct val="120000"/>
              </a:lnSpc>
              <a:buNone/>
            </a:pPr>
            <a:r>
              <a:rPr lang="en-US" dirty="0" smtClean="0">
                <a:latin typeface="Cambria" panose="02040503050406030204" pitchFamily="18" charset="0"/>
                <a:ea typeface="Cambria" panose="02040503050406030204" pitchFamily="18" charset="0"/>
              </a:rPr>
              <a:t>Universal </a:t>
            </a:r>
            <a:r>
              <a:rPr lang="en-US" dirty="0">
                <a:latin typeface="Cambria" panose="02040503050406030204" pitchFamily="18" charset="0"/>
                <a:ea typeface="Cambria" panose="02040503050406030204" pitchFamily="18" charset="0"/>
              </a:rPr>
              <a:t>Quantifier:</a:t>
            </a:r>
          </a:p>
          <a:p>
            <a:pPr algn="just">
              <a:lnSpc>
                <a:spcPct val="120000"/>
              </a:lnSpc>
            </a:pPr>
            <a:r>
              <a:rPr lang="en-US" dirty="0">
                <a:latin typeface="Cambria" panose="02040503050406030204" pitchFamily="18" charset="0"/>
                <a:ea typeface="Cambria" panose="02040503050406030204" pitchFamily="18" charset="0"/>
              </a:rPr>
              <a:t>Universal quantifier is a symbol of logical representation, which specifies that the statement within its range is true for everything or every instance of a particular thing.</a:t>
            </a:r>
          </a:p>
          <a:p>
            <a:pPr algn="just">
              <a:lnSpc>
                <a:spcPct val="120000"/>
              </a:lnSpc>
            </a:pPr>
            <a:r>
              <a:rPr lang="en-US" dirty="0">
                <a:latin typeface="Cambria" panose="02040503050406030204" pitchFamily="18" charset="0"/>
                <a:ea typeface="Cambria" panose="02040503050406030204" pitchFamily="18" charset="0"/>
              </a:rPr>
              <a:t>The Universal quantifier is represented by a symbol ∀, which resembles an inverted A.</a:t>
            </a:r>
          </a:p>
          <a:p>
            <a:pPr lvl="1"/>
            <a:endParaRPr lang="en-US" dirty="0"/>
          </a:p>
          <a:p>
            <a:endParaRPr lang="en-US" dirty="0"/>
          </a:p>
        </p:txBody>
      </p:sp>
    </p:spTree>
    <p:extLst>
      <p:ext uri="{BB962C8B-B14F-4D97-AF65-F5344CB8AC3E}">
        <p14:creationId xmlns:p14="http://schemas.microsoft.com/office/powerpoint/2010/main" val="25218109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1946" y="329334"/>
            <a:ext cx="10515600" cy="4351338"/>
          </a:xfrm>
        </p:spPr>
        <p:txBody>
          <a:bodyPr/>
          <a:lstStyle/>
          <a:p>
            <a:pPr marL="0" indent="0">
              <a:buNone/>
            </a:pPr>
            <a:r>
              <a:rPr lang="en-US" dirty="0"/>
              <a:t>If x is a variable, then ∀x is read as</a:t>
            </a:r>
            <a:r>
              <a:rPr lang="en-US" dirty="0" smtClean="0"/>
              <a:t>:</a:t>
            </a:r>
          </a:p>
          <a:p>
            <a:r>
              <a:rPr lang="en-US" b="1" dirty="0"/>
              <a:t>For all x</a:t>
            </a:r>
            <a:endParaRPr lang="en-US" dirty="0"/>
          </a:p>
          <a:p>
            <a:r>
              <a:rPr lang="en-US" b="1" dirty="0"/>
              <a:t>For each x</a:t>
            </a:r>
            <a:endParaRPr lang="en-US" dirty="0"/>
          </a:p>
          <a:p>
            <a:r>
              <a:rPr lang="en-US" b="1" dirty="0"/>
              <a:t>For every x.</a:t>
            </a:r>
            <a:endParaRPr lang="en-US" dirty="0"/>
          </a:p>
          <a:p>
            <a:pPr marL="0" indent="0">
              <a:buNone/>
            </a:pPr>
            <a:endParaRPr lang="en-US" dirty="0" smtClean="0"/>
          </a:p>
          <a:p>
            <a:pPr marL="0" indent="0">
              <a:buNone/>
            </a:pPr>
            <a:r>
              <a:rPr lang="en-US" dirty="0" smtClean="0"/>
              <a:t>Example</a:t>
            </a:r>
            <a:r>
              <a:rPr lang="en-US" dirty="0"/>
              <a:t>:</a:t>
            </a:r>
          </a:p>
          <a:p>
            <a:r>
              <a:rPr lang="en-US" b="1" dirty="0"/>
              <a:t>All man drink coffee.</a:t>
            </a:r>
            <a:endParaRPr lang="en-US" dirty="0"/>
          </a:p>
          <a:p>
            <a:endParaRPr lang="en-US" dirty="0"/>
          </a:p>
        </p:txBody>
      </p:sp>
      <p:pic>
        <p:nvPicPr>
          <p:cNvPr id="4" name="Picture 3"/>
          <p:cNvPicPr>
            <a:picLocks noChangeAspect="1"/>
          </p:cNvPicPr>
          <p:nvPr/>
        </p:nvPicPr>
        <p:blipFill>
          <a:blip r:embed="rId2"/>
          <a:stretch>
            <a:fillRect/>
          </a:stretch>
        </p:blipFill>
        <p:spPr>
          <a:xfrm>
            <a:off x="5929746" y="663839"/>
            <a:ext cx="5998492" cy="5432161"/>
          </a:xfrm>
          <a:prstGeom prst="rect">
            <a:avLst/>
          </a:prstGeom>
        </p:spPr>
      </p:pic>
    </p:spTree>
    <p:extLst>
      <p:ext uri="{BB962C8B-B14F-4D97-AF65-F5344CB8AC3E}">
        <p14:creationId xmlns:p14="http://schemas.microsoft.com/office/powerpoint/2010/main" val="387258041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88819" y="495589"/>
            <a:ext cx="10515600" cy="4351338"/>
          </a:xfrm>
        </p:spPr>
        <p:txBody>
          <a:bodyPr/>
          <a:lstStyle/>
          <a:p>
            <a:pPr marL="0" indent="0">
              <a:buNone/>
            </a:pPr>
            <a:r>
              <a:rPr lang="en-US" dirty="0"/>
              <a:t>Existential Quantifier:</a:t>
            </a:r>
          </a:p>
          <a:p>
            <a:r>
              <a:rPr lang="en-US" dirty="0"/>
              <a:t>Existential quantifiers are the type of quantifiers, which express that the statement within its scope is true for at least one instance of something.</a:t>
            </a:r>
          </a:p>
          <a:p>
            <a:r>
              <a:rPr lang="en-US" dirty="0"/>
              <a:t>It is denoted by the logical operator ∃, which resembles as inverted E. When it is used with a predicate variable then it is called as an existential quantifier</a:t>
            </a:r>
            <a:r>
              <a:rPr lang="en-US" dirty="0" smtClean="0"/>
              <a:t>.</a:t>
            </a:r>
          </a:p>
          <a:p>
            <a:r>
              <a:rPr lang="en-US" dirty="0"/>
              <a:t>If x is a variable, then existential quantifier will be ∃x or ∃(x). And it will be read as:</a:t>
            </a:r>
          </a:p>
          <a:p>
            <a:endParaRPr lang="en-US" dirty="0"/>
          </a:p>
        </p:txBody>
      </p:sp>
    </p:spTree>
    <p:extLst>
      <p:ext uri="{BB962C8B-B14F-4D97-AF65-F5344CB8AC3E}">
        <p14:creationId xmlns:p14="http://schemas.microsoft.com/office/powerpoint/2010/main" val="30521877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328073" y="279303"/>
            <a:ext cx="5278072" cy="5493904"/>
          </a:xfrm>
          <a:prstGeom prst="rect">
            <a:avLst/>
          </a:prstGeom>
        </p:spPr>
      </p:pic>
      <p:sp>
        <p:nvSpPr>
          <p:cNvPr id="5" name="Rectangle 4"/>
          <p:cNvSpPr/>
          <p:nvPr/>
        </p:nvSpPr>
        <p:spPr>
          <a:xfrm>
            <a:off x="1607127" y="5973726"/>
            <a:ext cx="8589817" cy="369332"/>
          </a:xfrm>
          <a:prstGeom prst="rect">
            <a:avLst/>
          </a:prstGeom>
        </p:spPr>
        <p:txBody>
          <a:bodyPr wrap="square">
            <a:spAutoFit/>
          </a:bodyPr>
          <a:lstStyle/>
          <a:p>
            <a:r>
              <a:rPr lang="en-US" dirty="0">
                <a:solidFill>
                  <a:srgbClr val="333333"/>
                </a:solidFill>
                <a:latin typeface="inter-regular"/>
              </a:rPr>
              <a:t>If x is a variable, then existential quantifier will be ∃x or ∃(x). And it will be read as:</a:t>
            </a:r>
            <a:endParaRPr lang="en-US" dirty="0"/>
          </a:p>
        </p:txBody>
      </p:sp>
    </p:spTree>
    <p:extLst>
      <p:ext uri="{BB962C8B-B14F-4D97-AF65-F5344CB8AC3E}">
        <p14:creationId xmlns:p14="http://schemas.microsoft.com/office/powerpoint/2010/main" val="421788375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t>Rule Based Expert Systems</a:t>
            </a:r>
            <a:endParaRPr lang="en-US" dirty="0"/>
          </a:p>
        </p:txBody>
      </p:sp>
      <p:sp>
        <p:nvSpPr>
          <p:cNvPr id="3" name="Content Placeholder 2"/>
          <p:cNvSpPr>
            <a:spLocks noGrp="1"/>
          </p:cNvSpPr>
          <p:nvPr>
            <p:ph idx="1"/>
          </p:nvPr>
        </p:nvSpPr>
        <p:spPr>
          <a:xfrm>
            <a:off x="665017" y="1325563"/>
            <a:ext cx="10903527" cy="5324619"/>
          </a:xfrm>
        </p:spPr>
        <p:txBody>
          <a:bodyPr>
            <a:normAutofit fontScale="92500" lnSpcReduction="10000"/>
          </a:bodyPr>
          <a:lstStyle/>
          <a:p>
            <a:pPr marL="0" indent="0">
              <a:buNone/>
            </a:pPr>
            <a:r>
              <a:rPr lang="en-US" sz="3000" dirty="0" smtClean="0">
                <a:latin typeface="Cambria" panose="02040503050406030204" pitchFamily="18" charset="0"/>
                <a:ea typeface="Cambria" panose="02040503050406030204" pitchFamily="18" charset="0"/>
              </a:rPr>
              <a:t>What is knowledge? </a:t>
            </a:r>
          </a:p>
          <a:p>
            <a:pPr algn="just"/>
            <a:r>
              <a:rPr lang="en-US" dirty="0" smtClean="0">
                <a:latin typeface="Cambria" panose="02040503050406030204" pitchFamily="18" charset="0"/>
                <a:ea typeface="Cambria" panose="02040503050406030204" pitchFamily="18" charset="0"/>
              </a:rPr>
              <a:t>It is a theoretical or practical understanding of a subject or a domain. </a:t>
            </a:r>
          </a:p>
          <a:p>
            <a:pPr algn="just"/>
            <a:r>
              <a:rPr lang="en-US" dirty="0" smtClean="0">
                <a:latin typeface="Cambria" panose="02040503050406030204" pitchFamily="18" charset="0"/>
                <a:ea typeface="Cambria" panose="02040503050406030204" pitchFamily="18" charset="0"/>
              </a:rPr>
              <a:t>It is also the sum of what is currently known, and apparently knowledge is power. Those who possess knowledge are called experts. </a:t>
            </a:r>
          </a:p>
          <a:p>
            <a:pPr algn="just"/>
            <a:r>
              <a:rPr lang="en-US" dirty="0" smtClean="0">
                <a:latin typeface="Cambria" panose="02040503050406030204" pitchFamily="18" charset="0"/>
                <a:ea typeface="Cambria" panose="02040503050406030204" pitchFamily="18" charset="0"/>
              </a:rPr>
              <a:t>It anyone can be considered a domain expert if he or she has deep knowledge and strong practical experience in a particular domain. </a:t>
            </a:r>
          </a:p>
          <a:p>
            <a:pPr algn="just"/>
            <a:r>
              <a:rPr lang="en-US" dirty="0" smtClean="0">
                <a:latin typeface="Cambria" panose="02040503050406030204" pitchFamily="18" charset="0"/>
                <a:ea typeface="Cambria" panose="02040503050406030204" pitchFamily="18" charset="0"/>
              </a:rPr>
              <a:t>It is the human mental process is internal, and it is too complex to be represented as an algorithm </a:t>
            </a:r>
          </a:p>
          <a:p>
            <a:pPr algn="just"/>
            <a:r>
              <a:rPr lang="en-US" dirty="0" smtClean="0">
                <a:latin typeface="Cambria" panose="02040503050406030204" pitchFamily="18" charset="0"/>
                <a:ea typeface="Cambria" panose="02040503050406030204" pitchFamily="18" charset="0"/>
              </a:rPr>
              <a:t>However</a:t>
            </a:r>
            <a:r>
              <a:rPr lang="en-US" dirty="0" smtClean="0">
                <a:latin typeface="Cambria" panose="02040503050406030204" pitchFamily="18" charset="0"/>
                <a:ea typeface="Cambria" panose="02040503050406030204" pitchFamily="18" charset="0"/>
              </a:rPr>
              <a:t>, most experts are capable of expressing their knowledge in the form of rules for problem solving. </a:t>
            </a:r>
          </a:p>
          <a:p>
            <a:pPr marL="457200" lvl="1" indent="0">
              <a:buNone/>
            </a:pPr>
            <a:r>
              <a:rPr lang="en-US" dirty="0" smtClean="0"/>
              <a:t>IF the ‘traffic light’ is ‘green’ </a:t>
            </a:r>
          </a:p>
          <a:p>
            <a:pPr marL="457200" lvl="1" indent="0">
              <a:buNone/>
            </a:pPr>
            <a:r>
              <a:rPr lang="en-US" dirty="0" smtClean="0"/>
              <a:t>THEN the action is go </a:t>
            </a:r>
          </a:p>
          <a:p>
            <a:pPr marL="457200" lvl="1" indent="0">
              <a:buNone/>
            </a:pPr>
            <a:r>
              <a:rPr lang="en-US" dirty="0" smtClean="0"/>
              <a:t>IF the ‘traffic light’ is ‘red’ </a:t>
            </a:r>
          </a:p>
          <a:p>
            <a:pPr marL="457200" lvl="1" indent="0">
              <a:buNone/>
            </a:pPr>
            <a:r>
              <a:rPr lang="en-US" dirty="0" smtClean="0"/>
              <a:t>THEN the action is stop</a:t>
            </a:r>
            <a:endParaRPr lang="en-US" dirty="0"/>
          </a:p>
        </p:txBody>
      </p:sp>
    </p:spTree>
    <p:extLst>
      <p:ext uri="{BB962C8B-B14F-4D97-AF65-F5344CB8AC3E}">
        <p14:creationId xmlns:p14="http://schemas.microsoft.com/office/powerpoint/2010/main" val="1280546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6136" y="0"/>
            <a:ext cx="10515600" cy="1325563"/>
          </a:xfrm>
        </p:spPr>
        <p:txBody>
          <a:bodyPr/>
          <a:lstStyle/>
          <a:p>
            <a:r>
              <a:rPr lang="en-US" dirty="0" smtClean="0">
                <a:latin typeface="Cambria" panose="02040503050406030204" pitchFamily="18" charset="0"/>
                <a:ea typeface="Cambria" panose="02040503050406030204" pitchFamily="18" charset="0"/>
              </a:rPr>
              <a:t>Rules as a Knowledge Representation Technique</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74073" y="1325563"/>
            <a:ext cx="10979727" cy="5227637"/>
          </a:xfrm>
        </p:spPr>
        <p:txBody>
          <a:bodyPr>
            <a:normAutofit fontScale="92500"/>
          </a:bodyPr>
          <a:lstStyle/>
          <a:p>
            <a:pPr algn="just">
              <a:lnSpc>
                <a:spcPct val="120000"/>
              </a:lnSpc>
            </a:pPr>
            <a:r>
              <a:rPr lang="en-US" dirty="0" smtClean="0">
                <a:latin typeface="Cambria" panose="02040503050406030204" pitchFamily="18" charset="0"/>
                <a:ea typeface="Cambria" panose="02040503050406030204" pitchFamily="18" charset="0"/>
              </a:rPr>
              <a:t>The term rule in AI, which is the most commonly used type of knowledge representation, can be defined as an IF-THEN structure that relates given information or facts in the IF part to some action in the THEN part. </a:t>
            </a:r>
          </a:p>
          <a:p>
            <a:pPr algn="just">
              <a:lnSpc>
                <a:spcPct val="120000"/>
              </a:lnSpc>
            </a:pPr>
            <a:r>
              <a:rPr lang="en-US" dirty="0" smtClean="0">
                <a:latin typeface="Cambria" panose="02040503050406030204" pitchFamily="18" charset="0"/>
                <a:ea typeface="Cambria" panose="02040503050406030204" pitchFamily="18" charset="0"/>
              </a:rPr>
              <a:t>A rule provides some description of how to solve a problem. </a:t>
            </a:r>
          </a:p>
          <a:p>
            <a:pPr algn="just">
              <a:lnSpc>
                <a:spcPct val="120000"/>
              </a:lnSpc>
            </a:pPr>
            <a:r>
              <a:rPr lang="en-US" dirty="0" smtClean="0">
                <a:latin typeface="Cambria" panose="02040503050406030204" pitchFamily="18" charset="0"/>
                <a:ea typeface="Cambria" panose="02040503050406030204" pitchFamily="18" charset="0"/>
              </a:rPr>
              <a:t>Rule are relatively easy to create and understand </a:t>
            </a:r>
          </a:p>
          <a:p>
            <a:pPr algn="just">
              <a:lnSpc>
                <a:spcPct val="120000"/>
              </a:lnSpc>
            </a:pPr>
            <a:r>
              <a:rPr lang="en-US" dirty="0" smtClean="0">
                <a:latin typeface="Cambria" panose="02040503050406030204" pitchFamily="18" charset="0"/>
                <a:ea typeface="Cambria" panose="02040503050406030204" pitchFamily="18" charset="0"/>
              </a:rPr>
              <a:t>Any rules consists of two parts: the IF part, called the antecedent (premise or condition) and the THEN part called the consequent (conclusion or action) </a:t>
            </a:r>
          </a:p>
          <a:p>
            <a:pPr marL="457200" lvl="1" indent="0" algn="just">
              <a:lnSpc>
                <a:spcPct val="120000"/>
              </a:lnSpc>
              <a:buNone/>
            </a:pPr>
            <a:r>
              <a:rPr lang="en-US" dirty="0" smtClean="0">
                <a:latin typeface="Cambria" panose="02040503050406030204" pitchFamily="18" charset="0"/>
                <a:ea typeface="Cambria" panose="02040503050406030204" pitchFamily="18" charset="0"/>
              </a:rPr>
              <a:t>		IF  &lt; antecedent&gt;</a:t>
            </a:r>
          </a:p>
          <a:p>
            <a:pPr marL="457200" lvl="1" indent="0" algn="just">
              <a:lnSpc>
                <a:spcPct val="120000"/>
              </a:lnSpc>
              <a:buNone/>
            </a:pPr>
            <a:r>
              <a:rPr lang="en-US" dirty="0" smtClean="0">
                <a:latin typeface="Cambria" panose="02040503050406030204" pitchFamily="18" charset="0"/>
                <a:ea typeface="Cambria" panose="02040503050406030204" pitchFamily="18" charset="0"/>
              </a:rPr>
              <a:t>		THEN   &lt; consequent &gt;</a:t>
            </a:r>
          </a:p>
          <a:p>
            <a:pPr marL="228600" lvl="1" algn="just">
              <a:spcBef>
                <a:spcPts val="1000"/>
              </a:spcBef>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70746534"/>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9491" y="218499"/>
            <a:ext cx="10647218" cy="5794374"/>
          </a:xfrm>
        </p:spPr>
        <p:txBody>
          <a:bodyPr>
            <a:normAutofit fontScale="92500" lnSpcReduction="10000"/>
          </a:bodyPr>
          <a:lstStyle/>
          <a:p>
            <a:pPr algn="just">
              <a:lnSpc>
                <a:spcPct val="120000"/>
              </a:lnSpc>
            </a:pPr>
            <a:r>
              <a:rPr lang="en-US" dirty="0" smtClean="0">
                <a:latin typeface="Cambria" panose="02040503050406030204" pitchFamily="18" charset="0"/>
                <a:ea typeface="Cambria" panose="02040503050406030204" pitchFamily="18" charset="0"/>
              </a:rPr>
              <a:t>A rule can have multiple antecedents joined by the keywords AND (conjunction), OR (disjunction) or a combination of both. </a:t>
            </a:r>
          </a:p>
          <a:p>
            <a:pPr marL="457200" lvl="2" indent="0" algn="just">
              <a:lnSpc>
                <a:spcPct val="100000"/>
              </a:lnSpc>
              <a:spcBef>
                <a:spcPts val="1000"/>
              </a:spcBef>
              <a:buNone/>
            </a:pPr>
            <a:r>
              <a:rPr lang="en-US" sz="2100" dirty="0" smtClean="0">
                <a:latin typeface="Cambria" panose="02040503050406030204" pitchFamily="18" charset="0"/>
                <a:ea typeface="Cambria" panose="02040503050406030204" pitchFamily="18" charset="0"/>
              </a:rPr>
              <a:t>	IF &lt; antecedent1&gt; IF </a:t>
            </a:r>
          </a:p>
          <a:p>
            <a:pPr marL="457200" lvl="2" indent="0" algn="just">
              <a:lnSpc>
                <a:spcPct val="100000"/>
              </a:lnSpc>
              <a:spcBef>
                <a:spcPts val="1000"/>
              </a:spcBef>
              <a:buNone/>
            </a:pPr>
            <a:r>
              <a:rPr lang="en-US" sz="2100" dirty="0" smtClean="0">
                <a:latin typeface="Cambria" panose="02040503050406030204" pitchFamily="18" charset="0"/>
                <a:ea typeface="Cambria" panose="02040503050406030204" pitchFamily="18" charset="0"/>
              </a:rPr>
              <a:t>	AND &lt; antecedent2&gt; OR &lt; antecedent2&gt; </a:t>
            </a:r>
          </a:p>
          <a:p>
            <a:pPr marL="457200" lvl="2" indent="0" algn="just">
              <a:lnSpc>
                <a:spcPct val="100000"/>
              </a:lnSpc>
              <a:spcBef>
                <a:spcPts val="1000"/>
              </a:spcBef>
              <a:buNone/>
            </a:pPr>
            <a:r>
              <a:rPr lang="en-US" sz="2100" dirty="0" smtClean="0">
                <a:latin typeface="Cambria" panose="02040503050406030204" pitchFamily="18" charset="0"/>
                <a:ea typeface="Cambria" panose="02040503050406030204" pitchFamily="18" charset="0"/>
              </a:rPr>
              <a:t>	AND &lt; </a:t>
            </a:r>
            <a:r>
              <a:rPr lang="en-US" sz="2100" dirty="0" err="1" smtClean="0">
                <a:latin typeface="Cambria" panose="02040503050406030204" pitchFamily="18" charset="0"/>
                <a:ea typeface="Cambria" panose="02040503050406030204" pitchFamily="18" charset="0"/>
              </a:rPr>
              <a:t>antecedentn</a:t>
            </a:r>
            <a:r>
              <a:rPr lang="en-US" sz="2100" dirty="0" smtClean="0">
                <a:latin typeface="Cambria" panose="02040503050406030204" pitchFamily="18" charset="0"/>
                <a:ea typeface="Cambria" panose="02040503050406030204" pitchFamily="18" charset="0"/>
              </a:rPr>
              <a:t>&gt; OR &lt; </a:t>
            </a:r>
            <a:r>
              <a:rPr lang="en-US" sz="2100" dirty="0" err="1" smtClean="0">
                <a:latin typeface="Cambria" panose="02040503050406030204" pitchFamily="18" charset="0"/>
                <a:ea typeface="Cambria" panose="02040503050406030204" pitchFamily="18" charset="0"/>
              </a:rPr>
              <a:t>antecedentn</a:t>
            </a:r>
            <a:r>
              <a:rPr lang="en-US" sz="2100" dirty="0" smtClean="0">
                <a:latin typeface="Cambria" panose="02040503050406030204" pitchFamily="18" charset="0"/>
                <a:ea typeface="Cambria" panose="02040503050406030204" pitchFamily="18" charset="0"/>
              </a:rPr>
              <a:t>&gt; </a:t>
            </a:r>
          </a:p>
          <a:p>
            <a:pPr marL="457200" lvl="2" indent="0" algn="just">
              <a:lnSpc>
                <a:spcPct val="100000"/>
              </a:lnSpc>
              <a:spcBef>
                <a:spcPts val="1000"/>
              </a:spcBef>
              <a:buNone/>
            </a:pPr>
            <a:r>
              <a:rPr lang="en-US" sz="2100" dirty="0" smtClean="0">
                <a:latin typeface="Cambria" panose="02040503050406030204" pitchFamily="18" charset="0"/>
                <a:ea typeface="Cambria" panose="02040503050406030204" pitchFamily="18" charset="0"/>
              </a:rPr>
              <a:t>	THEN &lt; consequent &gt; THEN &lt; consequent &gt;</a:t>
            </a:r>
            <a:endParaRPr lang="en-US" dirty="0" smtClean="0">
              <a:latin typeface="Cambria" panose="02040503050406030204" pitchFamily="18" charset="0"/>
              <a:ea typeface="Cambria" panose="02040503050406030204" pitchFamily="18" charset="0"/>
            </a:endParaRPr>
          </a:p>
          <a:p>
            <a:pPr algn="just">
              <a:lnSpc>
                <a:spcPct val="100000"/>
              </a:lnSpc>
            </a:pPr>
            <a:r>
              <a:rPr lang="en-US" dirty="0">
                <a:latin typeface="Cambria" panose="02040503050406030204" pitchFamily="18" charset="0"/>
                <a:ea typeface="Cambria" panose="02040503050406030204" pitchFamily="18" charset="0"/>
              </a:rPr>
              <a:t>The antecedent of a rule incorporates two parts: an object (linguistic object) and its value. The object and its value are linked by an operator. </a:t>
            </a:r>
          </a:p>
          <a:p>
            <a:pPr algn="just">
              <a:lnSpc>
                <a:spcPct val="100000"/>
              </a:lnSpc>
            </a:pPr>
            <a:r>
              <a:rPr lang="en-US" dirty="0">
                <a:latin typeface="Cambria" panose="02040503050406030204" pitchFamily="18" charset="0"/>
                <a:ea typeface="Cambria" panose="02040503050406030204" pitchFamily="18" charset="0"/>
              </a:rPr>
              <a:t>The operator identifies the object and assigns the value. Operators such as is, are, is not, are not are used to assign a symbolic value to a linguistic object.</a:t>
            </a:r>
          </a:p>
          <a:p>
            <a:pPr algn="just">
              <a:lnSpc>
                <a:spcPct val="100000"/>
              </a:lnSpc>
            </a:pPr>
            <a:r>
              <a:rPr lang="en-US" dirty="0">
                <a:latin typeface="Cambria" panose="02040503050406030204" pitchFamily="18" charset="0"/>
                <a:ea typeface="Cambria" panose="02040503050406030204" pitchFamily="18" charset="0"/>
              </a:rPr>
              <a:t> Expert systems can also used mathematical operators to define an object as numerical and assign it to the numerical value.</a:t>
            </a:r>
          </a:p>
        </p:txBody>
      </p:sp>
      <p:pic>
        <p:nvPicPr>
          <p:cNvPr id="4" name="Content Placeholder 3"/>
          <p:cNvPicPr>
            <a:picLocks noChangeAspect="1"/>
          </p:cNvPicPr>
          <p:nvPr/>
        </p:nvPicPr>
        <p:blipFill>
          <a:blip r:embed="rId2"/>
          <a:stretch>
            <a:fillRect/>
          </a:stretch>
        </p:blipFill>
        <p:spPr>
          <a:xfrm>
            <a:off x="1700703" y="5591023"/>
            <a:ext cx="5382376" cy="1143160"/>
          </a:xfrm>
          <a:prstGeom prst="rect">
            <a:avLst/>
          </a:prstGeom>
        </p:spPr>
      </p:pic>
    </p:spTree>
    <p:extLst>
      <p:ext uri="{BB962C8B-B14F-4D97-AF65-F5344CB8AC3E}">
        <p14:creationId xmlns:p14="http://schemas.microsoft.com/office/powerpoint/2010/main" val="31406416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92728" y="804437"/>
            <a:ext cx="11014363" cy="4524315"/>
          </a:xfrm>
          <a:prstGeom prst="rect">
            <a:avLst/>
          </a:prstGeom>
          <a:noFill/>
        </p:spPr>
        <p:txBody>
          <a:bodyPr wrap="square" rtlCol="0">
            <a:spAutoFit/>
          </a:bodyPr>
          <a:lstStyle/>
          <a:p>
            <a:r>
              <a:rPr lang="en-US" sz="2800" dirty="0" smtClean="0">
                <a:latin typeface="Cambria" panose="02040503050406030204" pitchFamily="18" charset="0"/>
                <a:ea typeface="Cambria" panose="02040503050406030204" pitchFamily="18" charset="0"/>
              </a:rPr>
              <a:t>Rules can represent:</a:t>
            </a:r>
          </a:p>
          <a:p>
            <a:endParaRPr lang="en-US" sz="2000" dirty="0" smtClean="0">
              <a:latin typeface="Cambria" panose="02040503050406030204" pitchFamily="18" charset="0"/>
              <a:ea typeface="Cambria" panose="02040503050406030204" pitchFamily="18" charset="0"/>
            </a:endParaRPr>
          </a:p>
          <a:p>
            <a:pPr marL="342900" indent="-342900">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Relation: IF the ‘fuel tank’ is empty THEN the car is dead </a:t>
            </a:r>
          </a:p>
          <a:p>
            <a:pPr marL="342900" indent="-342900">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Recommendation: IF the season is autumn AND the sky is cloudy AND the forecast is drizzle THEN the advice is ‘take an umbrella’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Directive: IF the car is dead AND the ‘fuel tank’ is empty THEN the action is ‘refuel the car’</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Strategy: IF the car is dead THEN the action is ‘check the fuel tank’; step1 complete IF step1 is complete AND the ‘fuel tank’ is full THEN the action is ‘check the battery’; step2 is complete </a:t>
            </a:r>
          </a:p>
          <a:p>
            <a:pPr marL="342900" indent="-342900">
              <a:buFont typeface="Arial" panose="020B0604020202020204" pitchFamily="34" charset="0"/>
              <a:buChar char="•"/>
            </a:pPr>
            <a:r>
              <a:rPr lang="en-US" sz="2400" dirty="0">
                <a:latin typeface="Cambria" panose="02040503050406030204" pitchFamily="18" charset="0"/>
                <a:ea typeface="Cambria" panose="02040503050406030204" pitchFamily="18" charset="0"/>
              </a:rPr>
              <a:t>Heuristic: IF the spill is liquid AND the ‘spill pH’ &lt; 6 AND the ‘spill smell’ is vinegar THEN the ‘spill material’ is ‘acetic acid’ </a:t>
            </a:r>
          </a:p>
        </p:txBody>
      </p:sp>
    </p:spTree>
    <p:extLst>
      <p:ext uri="{BB962C8B-B14F-4D97-AF65-F5344CB8AC3E}">
        <p14:creationId xmlns:p14="http://schemas.microsoft.com/office/powerpoint/2010/main" val="19861736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85015"/>
            <a:ext cx="10515600" cy="1325563"/>
          </a:xfrm>
        </p:spPr>
        <p:txBody>
          <a:bodyPr/>
          <a:lstStyle/>
          <a:p>
            <a:r>
              <a:rPr lang="en-US" dirty="0" smtClean="0">
                <a:latin typeface="Cambria" panose="02040503050406030204" pitchFamily="18" charset="0"/>
                <a:ea typeface="Cambria" panose="02040503050406030204" pitchFamily="18" charset="0"/>
              </a:rPr>
              <a:t>The main players in the development team</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85800" y="1649123"/>
            <a:ext cx="10515600" cy="4351338"/>
          </a:xfrm>
        </p:spPr>
        <p:txBody>
          <a:bodyPr/>
          <a:lstStyle/>
          <a:p>
            <a:pPr marL="0" indent="0">
              <a:lnSpc>
                <a:spcPct val="100000"/>
              </a:lnSpc>
              <a:buNone/>
            </a:pPr>
            <a:r>
              <a:rPr lang="en-US" dirty="0" smtClean="0">
                <a:latin typeface="Cambria" panose="02040503050406030204" pitchFamily="18" charset="0"/>
                <a:ea typeface="Cambria" panose="02040503050406030204" pitchFamily="18" charset="0"/>
              </a:rPr>
              <a:t>There are five members of the expert system development team: </a:t>
            </a:r>
          </a:p>
          <a:p>
            <a:pPr marL="514350" indent="-514350">
              <a:lnSpc>
                <a:spcPct val="100000"/>
              </a:lnSpc>
              <a:buAutoNum type="arabicPeriod"/>
            </a:pPr>
            <a:r>
              <a:rPr lang="en-US" dirty="0" smtClean="0">
                <a:latin typeface="Cambria" panose="02040503050406030204" pitchFamily="18" charset="0"/>
                <a:ea typeface="Cambria" panose="02040503050406030204" pitchFamily="18" charset="0"/>
              </a:rPr>
              <a:t>domain expert </a:t>
            </a:r>
          </a:p>
          <a:p>
            <a:pPr marL="514350" indent="-514350">
              <a:lnSpc>
                <a:spcPct val="100000"/>
              </a:lnSpc>
              <a:buAutoNum type="arabicPeriod"/>
            </a:pPr>
            <a:r>
              <a:rPr lang="en-US" dirty="0" smtClean="0">
                <a:latin typeface="Cambria" panose="02040503050406030204" pitchFamily="18" charset="0"/>
                <a:ea typeface="Cambria" panose="02040503050406030204" pitchFamily="18" charset="0"/>
              </a:rPr>
              <a:t>knowledge engineer </a:t>
            </a:r>
          </a:p>
          <a:p>
            <a:pPr marL="514350" indent="-514350">
              <a:lnSpc>
                <a:spcPct val="100000"/>
              </a:lnSpc>
              <a:buAutoNum type="arabicPeriod"/>
            </a:pPr>
            <a:r>
              <a:rPr lang="en-US" dirty="0" smtClean="0">
                <a:latin typeface="Cambria" panose="02040503050406030204" pitchFamily="18" charset="0"/>
                <a:ea typeface="Cambria" panose="02040503050406030204" pitchFamily="18" charset="0"/>
              </a:rPr>
              <a:t>programmer </a:t>
            </a:r>
          </a:p>
          <a:p>
            <a:pPr marL="514350" indent="-514350">
              <a:lnSpc>
                <a:spcPct val="100000"/>
              </a:lnSpc>
              <a:buAutoNum type="arabicPeriod"/>
            </a:pPr>
            <a:r>
              <a:rPr lang="en-US" dirty="0" smtClean="0">
                <a:latin typeface="Cambria" panose="02040503050406030204" pitchFamily="18" charset="0"/>
                <a:ea typeface="Cambria" panose="02040503050406030204" pitchFamily="18" charset="0"/>
              </a:rPr>
              <a:t>project manager </a:t>
            </a:r>
          </a:p>
          <a:p>
            <a:pPr marL="514350" indent="-514350">
              <a:lnSpc>
                <a:spcPct val="100000"/>
              </a:lnSpc>
              <a:buAutoNum type="arabicPeriod"/>
            </a:pPr>
            <a:r>
              <a:rPr lang="en-US" dirty="0" smtClean="0">
                <a:latin typeface="Cambria" panose="02040503050406030204" pitchFamily="18" charset="0"/>
                <a:ea typeface="Cambria" panose="02040503050406030204" pitchFamily="18" charset="0"/>
              </a:rPr>
              <a:t>end-user</a:t>
            </a:r>
            <a:endParaRPr lang="en-US"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4957669" y="2385781"/>
            <a:ext cx="6396131" cy="4042727"/>
          </a:xfrm>
          <a:prstGeom prst="rect">
            <a:avLst/>
          </a:prstGeom>
        </p:spPr>
      </p:pic>
    </p:spTree>
    <p:extLst>
      <p:ext uri="{BB962C8B-B14F-4D97-AF65-F5344CB8AC3E}">
        <p14:creationId xmlns:p14="http://schemas.microsoft.com/office/powerpoint/2010/main" val="344792125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Domain Expert</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algn="just"/>
            <a:r>
              <a:rPr lang="en-US" dirty="0" smtClean="0">
                <a:latin typeface="Cambria" panose="02040503050406030204" pitchFamily="18" charset="0"/>
                <a:ea typeface="Cambria" panose="02040503050406030204" pitchFamily="18" charset="0"/>
              </a:rPr>
              <a:t>It is a knowledgeable and skilled person capable of solving problems in a specific area or domain</a:t>
            </a:r>
          </a:p>
          <a:p>
            <a:pPr algn="just"/>
            <a:r>
              <a:rPr lang="en-US" dirty="0" smtClean="0">
                <a:latin typeface="Cambria" panose="02040503050406030204" pitchFamily="18" charset="0"/>
                <a:ea typeface="Cambria" panose="02040503050406030204" pitchFamily="18" charset="0"/>
              </a:rPr>
              <a:t>the person’s expertise is to be captured in the expert system </a:t>
            </a:r>
          </a:p>
          <a:p>
            <a:pPr algn="just"/>
            <a:r>
              <a:rPr lang="en-US" dirty="0" smtClean="0">
                <a:latin typeface="Cambria" panose="02040503050406030204" pitchFamily="18" charset="0"/>
                <a:ea typeface="Cambria" panose="02040503050406030204" pitchFamily="18" charset="0"/>
              </a:rPr>
              <a:t>could be more than one expert that contribute to an expert system </a:t>
            </a:r>
          </a:p>
          <a:p>
            <a:pPr algn="just"/>
            <a:r>
              <a:rPr lang="en-US" dirty="0" smtClean="0">
                <a:latin typeface="Cambria" panose="02040503050406030204" pitchFamily="18" charset="0"/>
                <a:ea typeface="Cambria" panose="02040503050406030204" pitchFamily="18" charset="0"/>
              </a:rPr>
              <a:t>the expert must be able to communicate his or her knowledge, be willing to participate in the expert system development and commit a substantial amount of time to the project </a:t>
            </a:r>
          </a:p>
          <a:p>
            <a:pPr algn="just"/>
            <a:r>
              <a:rPr lang="en-US" dirty="0" smtClean="0">
                <a:latin typeface="Cambria" panose="02040503050406030204" pitchFamily="18" charset="0"/>
                <a:ea typeface="Cambria" panose="02040503050406030204" pitchFamily="18" charset="0"/>
              </a:rPr>
              <a:t>It is the most important person in the expert system development team</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723551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15743"/>
            <a:ext cx="10515600" cy="1325563"/>
          </a:xfrm>
        </p:spPr>
        <p:txBody>
          <a:bodyPr/>
          <a:lstStyle/>
          <a:p>
            <a:r>
              <a:rPr lang="en-US" dirty="0" smtClean="0">
                <a:latin typeface="Cambria" panose="02040503050406030204" pitchFamily="18" charset="0"/>
                <a:ea typeface="Cambria" panose="02040503050406030204" pitchFamily="18" charset="0"/>
              </a:rPr>
              <a:t>Knowledge Engineer</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41218" y="1562389"/>
            <a:ext cx="10515600" cy="4351338"/>
          </a:xfrm>
        </p:spPr>
        <p:txBody>
          <a:bodyPr>
            <a:normAutofit fontScale="92500"/>
          </a:bodyPr>
          <a:lstStyle/>
          <a:p>
            <a:pPr algn="just"/>
            <a:r>
              <a:rPr lang="en-US" dirty="0" smtClean="0">
                <a:latin typeface="Cambria" panose="02040503050406030204" pitchFamily="18" charset="0"/>
                <a:ea typeface="Cambria" panose="02040503050406030204" pitchFamily="18" charset="0"/>
              </a:rPr>
              <a:t>It is someone who is capable of designing, building and testing an expert system </a:t>
            </a:r>
          </a:p>
          <a:p>
            <a:pPr algn="just"/>
            <a:r>
              <a:rPr lang="en-US" dirty="0" smtClean="0">
                <a:latin typeface="Cambria" panose="02040503050406030204" pitchFamily="18" charset="0"/>
                <a:ea typeface="Cambria" panose="02040503050406030204" pitchFamily="18" charset="0"/>
              </a:rPr>
              <a:t> interviews the domain expert to find out how a particular problem is solved </a:t>
            </a:r>
          </a:p>
          <a:p>
            <a:pPr algn="just"/>
            <a:r>
              <a:rPr lang="en-US" dirty="0" smtClean="0">
                <a:latin typeface="Cambria" panose="02040503050406030204" pitchFamily="18" charset="0"/>
                <a:ea typeface="Cambria" panose="02040503050406030204" pitchFamily="18" charset="0"/>
              </a:rPr>
              <a:t> establishes what reasoning methods the expert uses to handle facts and rules and decides how to represent them in the expert system </a:t>
            </a:r>
          </a:p>
          <a:p>
            <a:pPr algn="just"/>
            <a:r>
              <a:rPr lang="en-US" dirty="0" smtClean="0">
                <a:latin typeface="Cambria" panose="02040503050406030204" pitchFamily="18" charset="0"/>
                <a:ea typeface="Cambria" panose="02040503050406030204" pitchFamily="18" charset="0"/>
              </a:rPr>
              <a:t>choose some development software or an expert systems shell, or look at programming languages for encoding the knowledge </a:t>
            </a:r>
          </a:p>
          <a:p>
            <a:pPr algn="just"/>
            <a:r>
              <a:rPr lang="en-US" dirty="0" smtClean="0">
                <a:latin typeface="Cambria" panose="02040503050406030204" pitchFamily="18" charset="0"/>
                <a:ea typeface="Cambria" panose="02040503050406030204" pitchFamily="18" charset="0"/>
              </a:rPr>
              <a:t>responsible for testing, revising and integrating the expert system into the workplace</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8508217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3455" y="384751"/>
            <a:ext cx="10813473" cy="6099176"/>
          </a:xfrm>
        </p:spPr>
        <p:txBody>
          <a:bodyPr>
            <a:normAutofit/>
          </a:bodyPr>
          <a:lstStyle/>
          <a:p>
            <a:pPr marL="0" indent="0" algn="just">
              <a:buNone/>
            </a:pPr>
            <a:r>
              <a:rPr lang="en-US" dirty="0" smtClean="0">
                <a:latin typeface="Cambria" panose="02040503050406030204" pitchFamily="18" charset="0"/>
                <a:ea typeface="Cambria" panose="02040503050406030204" pitchFamily="18" charset="0"/>
              </a:rPr>
              <a:t>Programmer: </a:t>
            </a:r>
          </a:p>
          <a:p>
            <a:pPr algn="just"/>
            <a:r>
              <a:rPr lang="en-US" dirty="0" smtClean="0">
                <a:latin typeface="Cambria" panose="02040503050406030204" pitchFamily="18" charset="0"/>
                <a:ea typeface="Cambria" panose="02040503050406030204" pitchFamily="18" charset="0"/>
              </a:rPr>
              <a:t> It is the person responsible for the actual programming, describing the domain knowledge in terms that a computer can understand. </a:t>
            </a:r>
          </a:p>
          <a:p>
            <a:pPr algn="just"/>
            <a:r>
              <a:rPr lang="en-US" dirty="0" smtClean="0">
                <a:latin typeface="Cambria" panose="02040503050406030204" pitchFamily="18" charset="0"/>
                <a:ea typeface="Cambria" panose="02040503050406030204" pitchFamily="18" charset="0"/>
              </a:rPr>
              <a:t>needs to have the skills in symbolic programming in such AI language such as Prolog. </a:t>
            </a:r>
          </a:p>
          <a:p>
            <a:pPr algn="just"/>
            <a:r>
              <a:rPr lang="en-US" dirty="0" smtClean="0">
                <a:latin typeface="Cambria" panose="02040503050406030204" pitchFamily="18" charset="0"/>
                <a:ea typeface="Cambria" panose="02040503050406030204" pitchFamily="18" charset="0"/>
              </a:rPr>
              <a:t>It should also know conventional programming language like C, Pascal, FORTRAN and Basic </a:t>
            </a:r>
            <a:r>
              <a:rPr lang="en-US" dirty="0" smtClean="0">
                <a:latin typeface="Cambria" panose="02040503050406030204" pitchFamily="18" charset="0"/>
                <a:ea typeface="Cambria" panose="02040503050406030204" pitchFamily="18" charset="0"/>
              </a:rPr>
              <a:t>Project </a:t>
            </a:r>
            <a:endParaRPr lang="en-US" dirty="0" smtClean="0">
              <a:latin typeface="Cambria" panose="02040503050406030204" pitchFamily="18" charset="0"/>
              <a:ea typeface="Cambria" panose="02040503050406030204" pitchFamily="18" charset="0"/>
            </a:endParaRPr>
          </a:p>
          <a:p>
            <a:pPr marL="0" indent="0" algn="just">
              <a:buNone/>
            </a:pPr>
            <a:endParaRPr lang="en-US" dirty="0" smtClean="0">
              <a:latin typeface="Cambria" panose="02040503050406030204" pitchFamily="18" charset="0"/>
              <a:ea typeface="Cambria" panose="02040503050406030204" pitchFamily="18" charset="0"/>
            </a:endParaRPr>
          </a:p>
          <a:p>
            <a:pPr marL="0" indent="0" algn="just">
              <a:buNone/>
            </a:pPr>
            <a:r>
              <a:rPr lang="en-US" dirty="0" smtClean="0">
                <a:latin typeface="Cambria" panose="02040503050406030204" pitchFamily="18" charset="0"/>
                <a:ea typeface="Cambria" panose="02040503050406030204" pitchFamily="18" charset="0"/>
              </a:rPr>
              <a:t>Manager: </a:t>
            </a:r>
          </a:p>
          <a:p>
            <a:pPr algn="just"/>
            <a:r>
              <a:rPr lang="en-US" dirty="0" smtClean="0">
                <a:latin typeface="Cambria" panose="02040503050406030204" pitchFamily="18" charset="0"/>
                <a:ea typeface="Cambria" panose="02040503050406030204" pitchFamily="18" charset="0"/>
              </a:rPr>
              <a:t>It is the leader of the expert system development team, responsible for keeping the project on track </a:t>
            </a:r>
          </a:p>
          <a:p>
            <a:pPr algn="just"/>
            <a:r>
              <a:rPr lang="en-US" dirty="0" smtClean="0">
                <a:latin typeface="Cambria" panose="02040503050406030204" pitchFamily="18" charset="0"/>
                <a:ea typeface="Cambria" panose="02040503050406030204" pitchFamily="18" charset="0"/>
              </a:rPr>
              <a:t>It makes sure that all deliverables and milestones are met, interacts with the expert, knowledge engineer, programmer and end-user</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0089912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13509" y="731116"/>
            <a:ext cx="10515600" cy="4351338"/>
          </a:xfrm>
        </p:spPr>
        <p:txBody>
          <a:bodyPr/>
          <a:lstStyle/>
          <a:p>
            <a:pPr marL="0" indent="0">
              <a:buNone/>
            </a:pPr>
            <a:r>
              <a:rPr lang="en-US" dirty="0" smtClean="0">
                <a:latin typeface="Cambria" panose="02040503050406030204" pitchFamily="18" charset="0"/>
                <a:ea typeface="Cambria" panose="02040503050406030204" pitchFamily="18" charset="0"/>
              </a:rPr>
              <a:t>End-user:  </a:t>
            </a:r>
          </a:p>
          <a:p>
            <a:pPr algn="just"/>
            <a:r>
              <a:rPr lang="en-US" dirty="0" smtClean="0">
                <a:latin typeface="Cambria" panose="02040503050406030204" pitchFamily="18" charset="0"/>
                <a:ea typeface="Cambria" panose="02040503050406030204" pitchFamily="18" charset="0"/>
              </a:rPr>
              <a:t>often called the user</a:t>
            </a:r>
          </a:p>
          <a:p>
            <a:pPr algn="just"/>
            <a:r>
              <a:rPr lang="en-US" dirty="0" smtClean="0">
                <a:latin typeface="Cambria" panose="02040503050406030204" pitchFamily="18" charset="0"/>
                <a:ea typeface="Cambria" panose="02040503050406030204" pitchFamily="18" charset="0"/>
              </a:rPr>
              <a:t>It is a person who uses the expert system when it is developed </a:t>
            </a:r>
          </a:p>
          <a:p>
            <a:pPr algn="just"/>
            <a:r>
              <a:rPr lang="en-US" dirty="0" smtClean="0">
                <a:latin typeface="Cambria" panose="02040503050406030204" pitchFamily="18" charset="0"/>
                <a:ea typeface="Cambria" panose="02040503050406030204" pitchFamily="18" charset="0"/>
              </a:rPr>
              <a:t>It must not only be confident in the expert system performance but also feel comfortable using it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07734650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a:latin typeface="Times New Roman" panose="02020603050405020304" pitchFamily="18" charset="0"/>
                <a:cs typeface="Times New Roman" panose="02020603050405020304" pitchFamily="18" charset="0"/>
              </a:rPr>
              <a:t>Reasoning and Planning</a:t>
            </a:r>
          </a:p>
        </p:txBody>
      </p:sp>
      <p:sp>
        <p:nvSpPr>
          <p:cNvPr id="3" name="Content Placeholder 2"/>
          <p:cNvSpPr>
            <a:spLocks noGrp="1"/>
          </p:cNvSpPr>
          <p:nvPr>
            <p:ph idx="1"/>
          </p:nvPr>
        </p:nvSpPr>
        <p:spPr>
          <a:xfrm>
            <a:off x="727362" y="1216025"/>
            <a:ext cx="10910455" cy="4351338"/>
          </a:xfrm>
        </p:spPr>
        <p:txBody>
          <a:bodyPr/>
          <a:lstStyle/>
          <a:p>
            <a:pPr marL="0" indent="0" algn="just">
              <a:buNone/>
            </a:pPr>
            <a:r>
              <a:rPr lang="en-US" dirty="0">
                <a:latin typeface="Times New Roman" panose="02020603050405020304" pitchFamily="18" charset="0"/>
                <a:cs typeface="Times New Roman" panose="02020603050405020304" pitchFamily="18" charset="0"/>
              </a:rPr>
              <a:t>Reasoning:</a:t>
            </a:r>
          </a:p>
          <a:p>
            <a:pPr algn="just"/>
            <a:r>
              <a:rPr lang="en-US" dirty="0">
                <a:latin typeface="Times New Roman" panose="02020603050405020304" pitchFamily="18" charset="0"/>
                <a:cs typeface="Times New Roman" panose="02020603050405020304" pitchFamily="18" charset="0"/>
              </a:rPr>
              <a:t>The reasoning is the mental process of deriving logical conclusion and making predictions from available knowledge, facts, and beliefs. Or we can say, "</a:t>
            </a:r>
            <a:r>
              <a:rPr lang="en-US" b="1" dirty="0">
                <a:latin typeface="Times New Roman" panose="02020603050405020304" pitchFamily="18" charset="0"/>
                <a:cs typeface="Times New Roman" panose="02020603050405020304" pitchFamily="18" charset="0"/>
              </a:rPr>
              <a:t>Reasoning is a way to infer facts from existing data</a:t>
            </a:r>
            <a:r>
              <a:rPr lang="en-US" dirty="0">
                <a:latin typeface="Times New Roman" panose="02020603050405020304" pitchFamily="18" charset="0"/>
                <a:cs typeface="Times New Roman" panose="02020603050405020304" pitchFamily="18" charset="0"/>
              </a:rPr>
              <a:t>." </a:t>
            </a:r>
            <a:endParaRPr lang="en-US" dirty="0" smtClean="0">
              <a:latin typeface="Times New Roman" panose="02020603050405020304" pitchFamily="18" charset="0"/>
              <a:cs typeface="Times New Roman" panose="02020603050405020304" pitchFamily="18" charset="0"/>
            </a:endParaRPr>
          </a:p>
          <a:p>
            <a:pPr algn="just"/>
            <a:r>
              <a:rPr lang="en-US" dirty="0" smtClean="0">
                <a:latin typeface="Times New Roman" panose="02020603050405020304" pitchFamily="18" charset="0"/>
                <a:cs typeface="Times New Roman" panose="02020603050405020304" pitchFamily="18" charset="0"/>
              </a:rPr>
              <a:t>It </a:t>
            </a:r>
            <a:r>
              <a:rPr lang="en-US" dirty="0">
                <a:latin typeface="Times New Roman" panose="02020603050405020304" pitchFamily="18" charset="0"/>
                <a:cs typeface="Times New Roman" panose="02020603050405020304" pitchFamily="18" charset="0"/>
              </a:rPr>
              <a:t>is a general process of thinking rationally, to find valid conclusions.</a:t>
            </a:r>
          </a:p>
          <a:p>
            <a:pPr algn="just"/>
            <a:r>
              <a:rPr lang="en-US" dirty="0">
                <a:latin typeface="Times New Roman" panose="02020603050405020304" pitchFamily="18" charset="0"/>
                <a:cs typeface="Times New Roman" panose="02020603050405020304" pitchFamily="18" charset="0"/>
              </a:rPr>
              <a:t>In artificial intelligence, the reasoning is essential so that the machine can also think rationally as a human brain, and can perform like a human.</a:t>
            </a:r>
          </a:p>
          <a:p>
            <a:endParaRPr lang="en-US" dirty="0"/>
          </a:p>
        </p:txBody>
      </p:sp>
    </p:spTree>
    <p:extLst>
      <p:ext uri="{BB962C8B-B14F-4D97-AF65-F5344CB8AC3E}">
        <p14:creationId xmlns:p14="http://schemas.microsoft.com/office/powerpoint/2010/main" val="60873895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1218" y="651163"/>
            <a:ext cx="10515600" cy="1325563"/>
          </a:xfrm>
        </p:spPr>
        <p:txBody>
          <a:bodyPr>
            <a:noAutofit/>
          </a:bodyPr>
          <a:lstStyle/>
          <a:p>
            <a:r>
              <a:rPr lang="en-US" sz="3600" dirty="0">
                <a:latin typeface="Cambria" panose="02040503050406030204" pitchFamily="18" charset="0"/>
                <a:ea typeface="Cambria" panose="02040503050406030204" pitchFamily="18" charset="0"/>
              </a:rPr>
              <a:t>Types of Reasoning</a:t>
            </a:r>
            <a:br>
              <a:rPr lang="en-US" sz="3600" dirty="0">
                <a:latin typeface="Cambria" panose="02040503050406030204" pitchFamily="18" charset="0"/>
                <a:ea typeface="Cambria" panose="02040503050406030204" pitchFamily="18" charset="0"/>
              </a:rPr>
            </a:br>
            <a:r>
              <a:rPr lang="en-US" sz="3600" dirty="0" smtClean="0">
                <a:latin typeface="Cambria" panose="02040503050406030204" pitchFamily="18" charset="0"/>
                <a:ea typeface="Cambria" panose="02040503050406030204" pitchFamily="18" charset="0"/>
              </a:rPr>
              <a:t/>
            </a:r>
            <a:br>
              <a:rPr lang="en-US" sz="3600" dirty="0" smtClean="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41218" y="1491818"/>
            <a:ext cx="10515600" cy="4351338"/>
          </a:xfrm>
        </p:spPr>
        <p:txBody>
          <a:bodyPr/>
          <a:lstStyle/>
          <a:p>
            <a:pPr marL="0" indent="0">
              <a:buNone/>
            </a:pPr>
            <a:r>
              <a:rPr lang="en-US" dirty="0" smtClean="0">
                <a:latin typeface="Cambria" panose="02040503050406030204" pitchFamily="18" charset="0"/>
                <a:ea typeface="Cambria" panose="02040503050406030204" pitchFamily="18" charset="0"/>
              </a:rPr>
              <a:t>In artificial intelligence, reasoning can be divided into the following categories:</a:t>
            </a:r>
            <a:br>
              <a:rPr lang="en-US" dirty="0" smtClean="0">
                <a:latin typeface="Cambria" panose="02040503050406030204" pitchFamily="18" charset="0"/>
                <a:ea typeface="Cambria" panose="02040503050406030204" pitchFamily="18" charset="0"/>
              </a:rPr>
            </a:br>
            <a:endParaRPr lang="en-US" dirty="0" smtClean="0">
              <a:latin typeface="Cambria" panose="02040503050406030204" pitchFamily="18" charset="0"/>
              <a:ea typeface="Cambria" panose="02040503050406030204" pitchFamily="18" charset="0"/>
            </a:endParaRPr>
          </a:p>
          <a:p>
            <a:r>
              <a:rPr lang="en-US" dirty="0" smtClean="0">
                <a:latin typeface="Cambria" panose="02040503050406030204" pitchFamily="18" charset="0"/>
                <a:ea typeface="Cambria" panose="02040503050406030204" pitchFamily="18" charset="0"/>
              </a:rPr>
              <a:t>Deductive </a:t>
            </a:r>
            <a:r>
              <a:rPr lang="en-US" dirty="0">
                <a:latin typeface="Cambria" panose="02040503050406030204" pitchFamily="18" charset="0"/>
                <a:ea typeface="Cambria" panose="02040503050406030204" pitchFamily="18" charset="0"/>
              </a:rPr>
              <a:t>reasoning</a:t>
            </a:r>
          </a:p>
          <a:p>
            <a:r>
              <a:rPr lang="en-US" dirty="0">
                <a:latin typeface="Cambria" panose="02040503050406030204" pitchFamily="18" charset="0"/>
                <a:ea typeface="Cambria" panose="02040503050406030204" pitchFamily="18" charset="0"/>
              </a:rPr>
              <a:t>Inductive reasoning</a:t>
            </a:r>
          </a:p>
          <a:p>
            <a:r>
              <a:rPr lang="en-US" dirty="0" err="1">
                <a:latin typeface="Cambria" panose="02040503050406030204" pitchFamily="18" charset="0"/>
                <a:ea typeface="Cambria" panose="02040503050406030204" pitchFamily="18" charset="0"/>
              </a:rPr>
              <a:t>Abductive</a:t>
            </a:r>
            <a:r>
              <a:rPr lang="en-US" dirty="0">
                <a:latin typeface="Cambria" panose="02040503050406030204" pitchFamily="18" charset="0"/>
                <a:ea typeface="Cambria" panose="02040503050406030204" pitchFamily="18" charset="0"/>
              </a:rPr>
              <a:t> reasoning</a:t>
            </a:r>
          </a:p>
          <a:p>
            <a:r>
              <a:rPr lang="en-US" dirty="0">
                <a:latin typeface="Cambria" panose="02040503050406030204" pitchFamily="18" charset="0"/>
                <a:ea typeface="Cambria" panose="02040503050406030204" pitchFamily="18" charset="0"/>
              </a:rPr>
              <a:t>Common Sense Reasoning</a:t>
            </a:r>
          </a:p>
          <a:p>
            <a:r>
              <a:rPr lang="en-US" dirty="0">
                <a:latin typeface="Cambria" panose="02040503050406030204" pitchFamily="18" charset="0"/>
                <a:ea typeface="Cambria" panose="02040503050406030204" pitchFamily="18" charset="0"/>
              </a:rPr>
              <a:t>Monotonic Reasoning</a:t>
            </a:r>
          </a:p>
          <a:p>
            <a:r>
              <a:rPr lang="en-US" dirty="0">
                <a:latin typeface="Cambria" panose="02040503050406030204" pitchFamily="18" charset="0"/>
                <a:ea typeface="Cambria" panose="02040503050406030204" pitchFamily="18" charset="0"/>
              </a:rPr>
              <a:t>Non-monotonic Reasoning</a:t>
            </a:r>
          </a:p>
        </p:txBody>
      </p:sp>
    </p:spTree>
    <p:extLst>
      <p:ext uri="{BB962C8B-B14F-4D97-AF65-F5344CB8AC3E}">
        <p14:creationId xmlns:p14="http://schemas.microsoft.com/office/powerpoint/2010/main" val="342037827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Deductive reasoning:</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493116"/>
            <a:ext cx="10515600" cy="4351338"/>
          </a:xfrm>
        </p:spPr>
        <p:txBody>
          <a:bodyPr>
            <a:normAutofit lnSpcReduction="10000"/>
          </a:bodyPr>
          <a:lstStyle/>
          <a:p>
            <a:pPr algn="just"/>
            <a:r>
              <a:rPr lang="en-US" dirty="0" smtClean="0">
                <a:latin typeface="Cambria" panose="02040503050406030204" pitchFamily="18" charset="0"/>
                <a:ea typeface="Cambria" panose="02040503050406030204" pitchFamily="18" charset="0"/>
              </a:rPr>
              <a:t>Deductive </a:t>
            </a:r>
            <a:r>
              <a:rPr lang="en-US" dirty="0">
                <a:latin typeface="Cambria" panose="02040503050406030204" pitchFamily="18" charset="0"/>
                <a:ea typeface="Cambria" panose="02040503050406030204" pitchFamily="18" charset="0"/>
              </a:rPr>
              <a:t>reasoning is deducing new information from logically related known information. It is the form of valid reasoning, which means the argument's conclusion must be true when the premises are true.</a:t>
            </a:r>
          </a:p>
          <a:p>
            <a:pPr algn="just"/>
            <a:r>
              <a:rPr lang="en-US" dirty="0">
                <a:latin typeface="Cambria" panose="02040503050406030204" pitchFamily="18" charset="0"/>
                <a:ea typeface="Cambria" panose="02040503050406030204" pitchFamily="18" charset="0"/>
              </a:rPr>
              <a:t>Deductive reasoning is a type of propositional logic in AI, and it requires various rules and facts. It is sometimes referred to as top-down reasoning, and contradictory to inductive reasoning.</a:t>
            </a:r>
          </a:p>
          <a:p>
            <a:pPr algn="just"/>
            <a:r>
              <a:rPr lang="en-US" dirty="0">
                <a:latin typeface="Cambria" panose="02040503050406030204" pitchFamily="18" charset="0"/>
                <a:ea typeface="Cambria" panose="02040503050406030204" pitchFamily="18" charset="0"/>
              </a:rPr>
              <a:t>In deductive reasoning, the truth of the premises guarantees the truth of the conclusion.</a:t>
            </a:r>
          </a:p>
          <a:p>
            <a:pPr algn="just"/>
            <a:r>
              <a:rPr lang="en-US" dirty="0">
                <a:latin typeface="Cambria" panose="02040503050406030204" pitchFamily="18" charset="0"/>
                <a:ea typeface="Cambria" panose="02040503050406030204" pitchFamily="18" charset="0"/>
              </a:rPr>
              <a:t>Deductive reasoning mostly starts from the general premises to the specific conclusion, which can be explained as below example.</a:t>
            </a:r>
          </a:p>
          <a:p>
            <a:endParaRPr lang="en-US" dirty="0"/>
          </a:p>
        </p:txBody>
      </p:sp>
    </p:spTree>
    <p:extLst>
      <p:ext uri="{BB962C8B-B14F-4D97-AF65-F5344CB8AC3E}">
        <p14:creationId xmlns:p14="http://schemas.microsoft.com/office/powerpoint/2010/main" val="200672378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55807"/>
            <a:ext cx="10515600" cy="4351338"/>
          </a:xfrm>
        </p:spPr>
        <p:txBody>
          <a:bodyPr/>
          <a:lstStyle/>
          <a:p>
            <a:r>
              <a:rPr lang="en-US" b="1" dirty="0"/>
              <a:t>Example:</a:t>
            </a:r>
            <a:endParaRPr lang="en-US" dirty="0"/>
          </a:p>
          <a:p>
            <a:r>
              <a:rPr lang="en-US" b="1" dirty="0"/>
              <a:t>Premise-1: All the human eats </a:t>
            </a:r>
            <a:r>
              <a:rPr lang="en-US" b="1" dirty="0" smtClean="0"/>
              <a:t>veggies</a:t>
            </a:r>
          </a:p>
          <a:p>
            <a:r>
              <a:rPr lang="en-US" b="1" dirty="0" smtClean="0"/>
              <a:t>Premise-2</a:t>
            </a:r>
            <a:r>
              <a:rPr lang="en-US" b="1" dirty="0"/>
              <a:t>: Suresh is human.</a:t>
            </a:r>
            <a:endParaRPr lang="en-US" dirty="0"/>
          </a:p>
          <a:p>
            <a:r>
              <a:rPr lang="en-US" b="1" dirty="0"/>
              <a:t>Conclusion: Suresh eats veggies.</a:t>
            </a:r>
            <a:endParaRPr lang="en-US" dirty="0"/>
          </a:p>
          <a:p>
            <a:r>
              <a:rPr lang="en-US" dirty="0"/>
              <a:t>The general process of deductive reasoning is given below:</a:t>
            </a:r>
          </a:p>
          <a:p>
            <a:endParaRPr lang="en-US" dirty="0"/>
          </a:p>
        </p:txBody>
      </p:sp>
      <p:pic>
        <p:nvPicPr>
          <p:cNvPr id="4" name="Picture 3"/>
          <p:cNvPicPr>
            <a:picLocks noChangeAspect="1"/>
          </p:cNvPicPr>
          <p:nvPr/>
        </p:nvPicPr>
        <p:blipFill>
          <a:blip r:embed="rId2"/>
          <a:stretch>
            <a:fillRect/>
          </a:stretch>
        </p:blipFill>
        <p:spPr>
          <a:xfrm>
            <a:off x="1785092" y="3597344"/>
            <a:ext cx="7704171" cy="1404147"/>
          </a:xfrm>
          <a:prstGeom prst="rect">
            <a:avLst/>
          </a:prstGeom>
        </p:spPr>
      </p:pic>
    </p:spTree>
    <p:extLst>
      <p:ext uri="{BB962C8B-B14F-4D97-AF65-F5344CB8AC3E}">
        <p14:creationId xmlns:p14="http://schemas.microsoft.com/office/powerpoint/2010/main" val="143809422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lstStyle/>
          <a:p>
            <a:r>
              <a:rPr lang="en-US" dirty="0" smtClean="0">
                <a:latin typeface="Cambria" panose="02040503050406030204" pitchFamily="18" charset="0"/>
                <a:ea typeface="Cambria" panose="02040503050406030204" pitchFamily="18" charset="0"/>
              </a:rPr>
              <a:t>Inductive Reasoning:</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68036" y="761999"/>
            <a:ext cx="10785764" cy="5126181"/>
          </a:xfrm>
        </p:spPr>
        <p:txBody>
          <a:bodyPr>
            <a:normAutofit fontScale="85000" lnSpcReduction="20000"/>
          </a:bodyPr>
          <a:lstStyle/>
          <a:p>
            <a:pPr algn="just">
              <a:lnSpc>
                <a:spcPct val="120000"/>
              </a:lnSpc>
            </a:pPr>
            <a:r>
              <a:rPr lang="en-US" dirty="0" smtClean="0">
                <a:latin typeface="Cambria" panose="02040503050406030204" pitchFamily="18" charset="0"/>
                <a:ea typeface="Cambria" panose="02040503050406030204" pitchFamily="18" charset="0"/>
              </a:rPr>
              <a:t>Inductive reasoning is a form of reasoning to arrive at a conclusion using limited sets of facts by the process of generalization. It starts with the series of specific facts or data and reaches to a general statement or conclusion.</a:t>
            </a:r>
          </a:p>
          <a:p>
            <a:pPr algn="just">
              <a:lnSpc>
                <a:spcPct val="120000"/>
              </a:lnSpc>
            </a:pPr>
            <a:r>
              <a:rPr lang="en-US" dirty="0" smtClean="0">
                <a:latin typeface="Cambria" panose="02040503050406030204" pitchFamily="18" charset="0"/>
                <a:ea typeface="Cambria" panose="02040503050406030204" pitchFamily="18" charset="0"/>
              </a:rPr>
              <a:t>Inductive reasoning is a type of propositional logic, which is also known as cause-effect reasoning or bottom-up reasoning.</a:t>
            </a:r>
          </a:p>
          <a:p>
            <a:pPr algn="just">
              <a:lnSpc>
                <a:spcPct val="120000"/>
              </a:lnSpc>
            </a:pPr>
            <a:r>
              <a:rPr lang="en-US" dirty="0" smtClean="0">
                <a:latin typeface="Cambria" panose="02040503050406030204" pitchFamily="18" charset="0"/>
                <a:ea typeface="Cambria" panose="02040503050406030204" pitchFamily="18" charset="0"/>
              </a:rPr>
              <a:t>In inductive reasoning, we use historical data or various premises to generate a generic rule, for which premises support the conclusion.</a:t>
            </a:r>
          </a:p>
          <a:p>
            <a:pPr>
              <a:lnSpc>
                <a:spcPct val="120000"/>
              </a:lnSpc>
            </a:pPr>
            <a:r>
              <a:rPr lang="en-US" dirty="0" smtClean="0">
                <a:latin typeface="Cambria" panose="02040503050406030204" pitchFamily="18" charset="0"/>
                <a:ea typeface="Cambria" panose="02040503050406030204" pitchFamily="18" charset="0"/>
              </a:rPr>
              <a:t>In inductive reasoning, premises provide probable supports to the conclusion, so the truth of premises does not guarantee the truth of the conclusion.</a:t>
            </a:r>
            <a:r>
              <a:rPr lang="en-US" dirty="0">
                <a:latin typeface="Cambria" panose="02040503050406030204" pitchFamily="18" charset="0"/>
                <a:ea typeface="Cambria" panose="02040503050406030204" pitchFamily="18" charset="0"/>
              </a:rPr>
              <a:t/>
            </a:r>
            <a:br>
              <a:rPr lang="en-US" dirty="0">
                <a:latin typeface="Cambria" panose="02040503050406030204" pitchFamily="18" charset="0"/>
                <a:ea typeface="Cambria" panose="02040503050406030204" pitchFamily="18" charset="0"/>
              </a:rPr>
            </a:br>
            <a:r>
              <a:rPr lang="en-US" b="1" dirty="0"/>
              <a:t>Example:</a:t>
            </a:r>
            <a:endParaRPr lang="en-US" dirty="0"/>
          </a:p>
          <a:p>
            <a:pPr>
              <a:lnSpc>
                <a:spcPct val="120000"/>
              </a:lnSpc>
            </a:pPr>
            <a:r>
              <a:rPr lang="en-US" b="1" dirty="0"/>
              <a:t>Premise: All of the pigeons we have seen in the zoo are white.</a:t>
            </a:r>
            <a:endParaRPr lang="en-US" dirty="0"/>
          </a:p>
          <a:p>
            <a:pPr>
              <a:lnSpc>
                <a:spcPct val="120000"/>
              </a:lnSpc>
            </a:pPr>
            <a:r>
              <a:rPr lang="en-US" b="1" dirty="0"/>
              <a:t>Conclusion: Therefore, we can expect all the pigeons to be white.</a:t>
            </a:r>
            <a:endParaRPr lang="en-US" dirty="0"/>
          </a:p>
          <a:p>
            <a:pPr algn="just">
              <a:lnSpc>
                <a:spcPct val="120000"/>
              </a:lnSpc>
            </a:pPr>
            <a:endParaRPr lang="en-US" dirty="0">
              <a:latin typeface="Cambria" panose="02040503050406030204" pitchFamily="18" charset="0"/>
              <a:ea typeface="Cambria" panose="02040503050406030204" pitchFamily="18" charset="0"/>
            </a:endParaRPr>
          </a:p>
        </p:txBody>
      </p:sp>
      <p:pic>
        <p:nvPicPr>
          <p:cNvPr id="4" name="Picture 3"/>
          <p:cNvPicPr>
            <a:picLocks noChangeAspect="1"/>
          </p:cNvPicPr>
          <p:nvPr/>
        </p:nvPicPr>
        <p:blipFill>
          <a:blip r:embed="rId2"/>
          <a:stretch>
            <a:fillRect/>
          </a:stretch>
        </p:blipFill>
        <p:spPr>
          <a:xfrm>
            <a:off x="2928043" y="5888180"/>
            <a:ext cx="5864860" cy="725487"/>
          </a:xfrm>
          <a:prstGeom prst="rect">
            <a:avLst/>
          </a:prstGeom>
        </p:spPr>
      </p:pic>
    </p:spTree>
    <p:extLst>
      <p:ext uri="{BB962C8B-B14F-4D97-AF65-F5344CB8AC3E}">
        <p14:creationId xmlns:p14="http://schemas.microsoft.com/office/powerpoint/2010/main" val="22382058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734291" y="509442"/>
            <a:ext cx="10550236" cy="5087793"/>
          </a:xfrm>
        </p:spPr>
        <p:txBody>
          <a:bodyPr>
            <a:normAutofit fontScale="92500" lnSpcReduction="20000"/>
          </a:bodyPr>
          <a:lstStyle/>
          <a:p>
            <a:pPr marL="0" indent="0" algn="just">
              <a:lnSpc>
                <a:spcPct val="110000"/>
              </a:lnSpc>
              <a:buNone/>
            </a:pPr>
            <a:r>
              <a:rPr lang="en-US" sz="3200" dirty="0" err="1">
                <a:latin typeface="Cambria" panose="02040503050406030204" pitchFamily="18" charset="0"/>
                <a:ea typeface="Cambria" panose="02040503050406030204" pitchFamily="18" charset="0"/>
              </a:rPr>
              <a:t>Abductive</a:t>
            </a:r>
            <a:r>
              <a:rPr lang="en-US" sz="3200" dirty="0">
                <a:latin typeface="Cambria" panose="02040503050406030204" pitchFamily="18" charset="0"/>
                <a:ea typeface="Cambria" panose="02040503050406030204" pitchFamily="18" charset="0"/>
              </a:rPr>
              <a:t> reasoning:</a:t>
            </a:r>
          </a:p>
          <a:p>
            <a:pPr algn="just">
              <a:lnSpc>
                <a:spcPct val="110000"/>
              </a:lnSpc>
            </a:pPr>
            <a:r>
              <a:rPr lang="en-US" dirty="0" err="1">
                <a:latin typeface="Cambria" panose="02040503050406030204" pitchFamily="18" charset="0"/>
                <a:ea typeface="Cambria" panose="02040503050406030204" pitchFamily="18" charset="0"/>
              </a:rPr>
              <a:t>Abductive</a:t>
            </a:r>
            <a:r>
              <a:rPr lang="en-US" dirty="0">
                <a:latin typeface="Cambria" panose="02040503050406030204" pitchFamily="18" charset="0"/>
                <a:ea typeface="Cambria" panose="02040503050406030204" pitchFamily="18" charset="0"/>
              </a:rPr>
              <a:t> reasoning is a form of logical reasoning which starts with single or multiple observations then seeks to find the most likely explanation or conclusion for the observation.</a:t>
            </a:r>
          </a:p>
          <a:p>
            <a:pPr algn="just">
              <a:lnSpc>
                <a:spcPct val="110000"/>
              </a:lnSpc>
            </a:pPr>
            <a:r>
              <a:rPr lang="en-US" dirty="0" err="1">
                <a:latin typeface="Cambria" panose="02040503050406030204" pitchFamily="18" charset="0"/>
                <a:ea typeface="Cambria" panose="02040503050406030204" pitchFamily="18" charset="0"/>
              </a:rPr>
              <a:t>Abductive</a:t>
            </a:r>
            <a:r>
              <a:rPr lang="en-US" dirty="0">
                <a:latin typeface="Cambria" panose="02040503050406030204" pitchFamily="18" charset="0"/>
                <a:ea typeface="Cambria" panose="02040503050406030204" pitchFamily="18" charset="0"/>
              </a:rPr>
              <a:t> reasoning is an extension of deductive reasoning, but in </a:t>
            </a:r>
            <a:r>
              <a:rPr lang="en-US" dirty="0" err="1">
                <a:latin typeface="Cambria" panose="02040503050406030204" pitchFamily="18" charset="0"/>
                <a:ea typeface="Cambria" panose="02040503050406030204" pitchFamily="18" charset="0"/>
              </a:rPr>
              <a:t>abductive</a:t>
            </a:r>
            <a:r>
              <a:rPr lang="en-US" dirty="0">
                <a:latin typeface="Cambria" panose="02040503050406030204" pitchFamily="18" charset="0"/>
                <a:ea typeface="Cambria" panose="02040503050406030204" pitchFamily="18" charset="0"/>
              </a:rPr>
              <a:t> reasoning, the premises do not guarantee the conclusion.</a:t>
            </a:r>
          </a:p>
          <a:p>
            <a:pPr marL="0" indent="0">
              <a:lnSpc>
                <a:spcPct val="110000"/>
              </a:lnSpc>
              <a:buNone/>
            </a:pPr>
            <a:endParaRPr lang="en-US" b="1" dirty="0" smtClean="0">
              <a:latin typeface="Cambria" panose="02040503050406030204" pitchFamily="18" charset="0"/>
              <a:ea typeface="Cambria" panose="02040503050406030204" pitchFamily="18" charset="0"/>
            </a:endParaRPr>
          </a:p>
          <a:p>
            <a:pPr marL="0" indent="0">
              <a:lnSpc>
                <a:spcPct val="110000"/>
              </a:lnSpc>
              <a:buNone/>
            </a:pPr>
            <a:r>
              <a:rPr lang="en-US" b="1" dirty="0" smtClean="0">
                <a:latin typeface="Cambria" panose="02040503050406030204" pitchFamily="18" charset="0"/>
                <a:ea typeface="Cambria" panose="02040503050406030204" pitchFamily="18" charset="0"/>
              </a:rPr>
              <a:t>Example</a:t>
            </a:r>
            <a:r>
              <a:rPr lang="en-US" b="1" dirty="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a:p>
            <a:pPr>
              <a:lnSpc>
                <a:spcPct val="110000"/>
              </a:lnSpc>
            </a:pPr>
            <a:r>
              <a:rPr lang="en-US" b="1" dirty="0">
                <a:latin typeface="Cambria" panose="02040503050406030204" pitchFamily="18" charset="0"/>
                <a:ea typeface="Cambria" panose="02040503050406030204" pitchFamily="18" charset="0"/>
                <a:cs typeface="Times New Roman" panose="02020603050405020304" pitchFamily="18" charset="0"/>
              </a:rPr>
              <a:t>Implication:</a:t>
            </a:r>
            <a:r>
              <a:rPr lang="en-US" dirty="0">
                <a:latin typeface="Cambria" panose="02040503050406030204" pitchFamily="18" charset="0"/>
                <a:ea typeface="Cambria" panose="02040503050406030204" pitchFamily="18" charset="0"/>
                <a:cs typeface="Times New Roman" panose="02020603050405020304" pitchFamily="18" charset="0"/>
              </a:rPr>
              <a:t> Cricket ground is wet if it is raining</a:t>
            </a:r>
          </a:p>
          <a:p>
            <a:pPr>
              <a:lnSpc>
                <a:spcPct val="110000"/>
              </a:lnSpc>
            </a:pPr>
            <a:r>
              <a:rPr lang="en-US" b="1" dirty="0">
                <a:latin typeface="Cambria" panose="02040503050406030204" pitchFamily="18" charset="0"/>
                <a:ea typeface="Cambria" panose="02040503050406030204" pitchFamily="18" charset="0"/>
                <a:cs typeface="Times New Roman" panose="02020603050405020304" pitchFamily="18" charset="0"/>
              </a:rPr>
              <a:t>Axiom:</a:t>
            </a:r>
            <a:r>
              <a:rPr lang="en-US" dirty="0">
                <a:latin typeface="Cambria" panose="02040503050406030204" pitchFamily="18" charset="0"/>
                <a:ea typeface="Cambria" panose="02040503050406030204" pitchFamily="18" charset="0"/>
                <a:cs typeface="Times New Roman" panose="02020603050405020304" pitchFamily="18" charset="0"/>
              </a:rPr>
              <a:t> Cricket ground is wet.</a:t>
            </a:r>
          </a:p>
          <a:p>
            <a:pPr>
              <a:lnSpc>
                <a:spcPct val="110000"/>
              </a:lnSpc>
            </a:pPr>
            <a:r>
              <a:rPr lang="en-US" dirty="0">
                <a:latin typeface="Cambria" panose="02040503050406030204" pitchFamily="18" charset="0"/>
                <a:ea typeface="Cambria" panose="02040503050406030204" pitchFamily="18" charset="0"/>
                <a:cs typeface="Times New Roman" panose="02020603050405020304" pitchFamily="18" charset="0"/>
              </a:rPr>
              <a:t>Conclusion It is raining.</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75078034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Common Sense Reasoning</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396135"/>
            <a:ext cx="10515600" cy="4727574"/>
          </a:xfrm>
        </p:spPr>
        <p:txBody>
          <a:bodyPr>
            <a:normAutofit fontScale="92500" lnSpcReduction="10000"/>
          </a:bodyPr>
          <a:lstStyle/>
          <a:p>
            <a:pPr algn="just"/>
            <a:r>
              <a:rPr lang="en-US" dirty="0" smtClean="0">
                <a:latin typeface="Cambria" panose="02040503050406030204" pitchFamily="18" charset="0"/>
                <a:ea typeface="Cambria" panose="02040503050406030204" pitchFamily="18" charset="0"/>
              </a:rPr>
              <a:t>Common </a:t>
            </a:r>
            <a:r>
              <a:rPr lang="en-US" dirty="0">
                <a:latin typeface="Cambria" panose="02040503050406030204" pitchFamily="18" charset="0"/>
                <a:ea typeface="Cambria" panose="02040503050406030204" pitchFamily="18" charset="0"/>
              </a:rPr>
              <a:t>sense reasoning is an informal form of reasoning, which can be gained through experiences.</a:t>
            </a:r>
          </a:p>
          <a:p>
            <a:pPr algn="just"/>
            <a:r>
              <a:rPr lang="en-US" dirty="0">
                <a:latin typeface="Cambria" panose="02040503050406030204" pitchFamily="18" charset="0"/>
                <a:ea typeface="Cambria" panose="02040503050406030204" pitchFamily="18" charset="0"/>
              </a:rPr>
              <a:t>Common Sense reasoning simulates the human ability to make presumptions about events which occurs on every day.</a:t>
            </a:r>
          </a:p>
          <a:p>
            <a:r>
              <a:rPr lang="en-US" dirty="0">
                <a:latin typeface="Cambria" panose="02040503050406030204" pitchFamily="18" charset="0"/>
                <a:ea typeface="Cambria" panose="02040503050406030204" pitchFamily="18" charset="0"/>
              </a:rPr>
              <a:t>It relies on good judgment rather than exact logic and operates on </a:t>
            </a:r>
            <a:r>
              <a:rPr lang="en-US" b="1" dirty="0">
                <a:latin typeface="Cambria" panose="02040503050406030204" pitchFamily="18" charset="0"/>
                <a:ea typeface="Cambria" panose="02040503050406030204" pitchFamily="18" charset="0"/>
              </a:rPr>
              <a:t>heuristic knowledge</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heuristic rules</a:t>
            </a:r>
            <a:r>
              <a:rPr lang="en-US" dirty="0">
                <a:latin typeface="Cambria" panose="02040503050406030204" pitchFamily="18" charset="0"/>
                <a:ea typeface="Cambria" panose="02040503050406030204" pitchFamily="18" charset="0"/>
              </a:rPr>
              <a:t>.</a:t>
            </a:r>
          </a:p>
          <a:p>
            <a:pPr marL="0" indent="0">
              <a:buNone/>
            </a:pPr>
            <a:r>
              <a:rPr lang="en-US" b="1" dirty="0">
                <a:latin typeface="Cambria" panose="02040503050406030204" pitchFamily="18" charset="0"/>
                <a:ea typeface="Cambria" panose="02040503050406030204" pitchFamily="18" charset="0"/>
              </a:rPr>
              <a:t>Example:</a:t>
            </a: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One person can be at one place at a time.</a:t>
            </a: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If I put my hand in a fire, then it will burn.</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The above two statements are the examples of common sense reasoning which a human mind can easily understand and assume.</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69238821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Monotonic Reasoning:</a:t>
            </a:r>
            <a:r>
              <a:rPr lang="en-US" dirty="0" smtClean="0"/>
              <a:t/>
            </a:r>
            <a:br>
              <a:rPr lang="en-US" dirty="0" smtClean="0"/>
            </a:br>
            <a:endParaRPr lang="en-US" dirty="0"/>
          </a:p>
        </p:txBody>
      </p:sp>
      <p:sp>
        <p:nvSpPr>
          <p:cNvPr id="3" name="Content Placeholder 2"/>
          <p:cNvSpPr>
            <a:spLocks noGrp="1"/>
          </p:cNvSpPr>
          <p:nvPr>
            <p:ph idx="1"/>
          </p:nvPr>
        </p:nvSpPr>
        <p:spPr>
          <a:xfrm>
            <a:off x="838200" y="1368424"/>
            <a:ext cx="10515600" cy="4838411"/>
          </a:xfrm>
        </p:spPr>
        <p:txBody>
          <a:bodyPr>
            <a:normAutofit fontScale="92500" lnSpcReduction="10000"/>
          </a:bodyPr>
          <a:lstStyle/>
          <a:p>
            <a:pPr algn="just">
              <a:lnSpc>
                <a:spcPct val="110000"/>
              </a:lnSpc>
            </a:pPr>
            <a:r>
              <a:rPr lang="en-US" dirty="0" smtClean="0">
                <a:latin typeface="Cambria" panose="02040503050406030204" pitchFamily="18" charset="0"/>
                <a:ea typeface="Cambria" panose="02040503050406030204" pitchFamily="18" charset="0"/>
              </a:rPr>
              <a:t>In </a:t>
            </a:r>
            <a:r>
              <a:rPr lang="en-US" dirty="0">
                <a:latin typeface="Cambria" panose="02040503050406030204" pitchFamily="18" charset="0"/>
                <a:ea typeface="Cambria" panose="02040503050406030204" pitchFamily="18" charset="0"/>
              </a:rPr>
              <a:t>monotonic reasoning, once the conclusion is taken, then it will remain the same even if we add some other information to existing information in our knowledge base. In monotonic reasoning, adding knowledge does not decrease the set of prepositions that can be derived.</a:t>
            </a:r>
          </a:p>
          <a:p>
            <a:pPr algn="just">
              <a:lnSpc>
                <a:spcPct val="110000"/>
              </a:lnSpc>
            </a:pPr>
            <a:r>
              <a:rPr lang="en-US" dirty="0">
                <a:latin typeface="Cambria" panose="02040503050406030204" pitchFamily="18" charset="0"/>
                <a:ea typeface="Cambria" panose="02040503050406030204" pitchFamily="18" charset="0"/>
              </a:rPr>
              <a:t>To solve monotonic problems, we can derive the valid conclusion from the available facts only, and it will not be affected by new facts.</a:t>
            </a:r>
          </a:p>
          <a:p>
            <a:pPr algn="just">
              <a:lnSpc>
                <a:spcPct val="110000"/>
              </a:lnSpc>
            </a:pPr>
            <a:r>
              <a:rPr lang="en-US" dirty="0">
                <a:latin typeface="Cambria" panose="02040503050406030204" pitchFamily="18" charset="0"/>
                <a:ea typeface="Cambria" panose="02040503050406030204" pitchFamily="18" charset="0"/>
              </a:rPr>
              <a:t>Monotonic reasoning is not useful for the real-time systems, as in real time, facts get changed, so we cannot use monotonic reasoning.</a:t>
            </a:r>
          </a:p>
          <a:p>
            <a:pPr algn="just">
              <a:lnSpc>
                <a:spcPct val="110000"/>
              </a:lnSpc>
            </a:pPr>
            <a:r>
              <a:rPr lang="en-US" dirty="0">
                <a:latin typeface="Cambria" panose="02040503050406030204" pitchFamily="18" charset="0"/>
                <a:ea typeface="Cambria" panose="02040503050406030204" pitchFamily="18" charset="0"/>
              </a:rPr>
              <a:t>Monotonic reasoning is used in conventional reasoning systems, and a logic-based system is monotonic.</a:t>
            </a:r>
          </a:p>
          <a:p>
            <a:pPr>
              <a:lnSpc>
                <a:spcPct val="110000"/>
              </a:lnSpc>
            </a:pPr>
            <a:endParaRPr lang="en-US" dirty="0"/>
          </a:p>
        </p:txBody>
      </p:sp>
    </p:spTree>
    <p:extLst>
      <p:ext uri="{BB962C8B-B14F-4D97-AF65-F5344CB8AC3E}">
        <p14:creationId xmlns:p14="http://schemas.microsoft.com/office/powerpoint/2010/main" val="316863140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75855" y="537151"/>
            <a:ext cx="10605654" cy="5794375"/>
          </a:xfrm>
        </p:spPr>
        <p:txBody>
          <a:bodyPr>
            <a:normAutofit fontScale="77500" lnSpcReduction="20000"/>
          </a:bodyPr>
          <a:lstStyle/>
          <a:p>
            <a:r>
              <a:rPr lang="en-US" dirty="0">
                <a:latin typeface="Cambria" panose="02040503050406030204" pitchFamily="18" charset="0"/>
                <a:ea typeface="Cambria" panose="02040503050406030204" pitchFamily="18" charset="0"/>
              </a:rPr>
              <a:t>Any theorem proving is an example of monotonic reasoning.</a:t>
            </a:r>
          </a:p>
          <a:p>
            <a:pPr marL="0" indent="0">
              <a:buNone/>
            </a:pPr>
            <a:r>
              <a:rPr lang="en-US" b="1" dirty="0">
                <a:latin typeface="Cambria" panose="02040503050406030204" pitchFamily="18" charset="0"/>
                <a:ea typeface="Cambria" panose="02040503050406030204" pitchFamily="18" charset="0"/>
              </a:rPr>
              <a:t>Example:</a:t>
            </a:r>
            <a:endParaRPr lang="en-US" dirty="0">
              <a:latin typeface="Cambria" panose="02040503050406030204" pitchFamily="18" charset="0"/>
              <a:ea typeface="Cambria" panose="02040503050406030204" pitchFamily="18" charset="0"/>
            </a:endParaRPr>
          </a:p>
          <a:p>
            <a:r>
              <a:rPr lang="en-US" b="1" dirty="0">
                <a:latin typeface="Cambria" panose="02040503050406030204" pitchFamily="18" charset="0"/>
                <a:ea typeface="Cambria" panose="02040503050406030204" pitchFamily="18" charset="0"/>
              </a:rPr>
              <a:t>Earth revolves around the Sun.</a:t>
            </a:r>
            <a:endParaRPr lang="en-US" dirty="0">
              <a:latin typeface="Cambria" panose="02040503050406030204" pitchFamily="18" charset="0"/>
              <a:ea typeface="Cambria" panose="02040503050406030204" pitchFamily="18" charset="0"/>
            </a:endParaRPr>
          </a:p>
          <a:p>
            <a:r>
              <a:rPr lang="en-US" dirty="0">
                <a:latin typeface="Cambria" panose="02040503050406030204" pitchFamily="18" charset="0"/>
                <a:ea typeface="Cambria" panose="02040503050406030204" pitchFamily="18" charset="0"/>
              </a:rPr>
              <a:t>It is a true fact, and it cannot be changed even if we add another sentence in knowledge base like, "The moon revolves around the earth" Or "Earth is not round," etc.</a:t>
            </a:r>
          </a:p>
          <a:p>
            <a:pPr marL="0" indent="0">
              <a:buNone/>
            </a:pPr>
            <a:endParaRPr lang="en-US" dirty="0" smtClean="0">
              <a:latin typeface="Cambria" panose="02040503050406030204" pitchFamily="18" charset="0"/>
              <a:ea typeface="Cambria" panose="02040503050406030204" pitchFamily="18" charset="0"/>
            </a:endParaRPr>
          </a:p>
          <a:p>
            <a:pPr marL="0" indent="0">
              <a:buNone/>
            </a:pPr>
            <a:r>
              <a:rPr lang="en-US" dirty="0" smtClean="0">
                <a:latin typeface="Cambria" panose="02040503050406030204" pitchFamily="18" charset="0"/>
                <a:ea typeface="Cambria" panose="02040503050406030204" pitchFamily="18" charset="0"/>
              </a:rPr>
              <a:t>Advantages </a:t>
            </a:r>
            <a:r>
              <a:rPr lang="en-US" dirty="0">
                <a:latin typeface="Cambria" panose="02040503050406030204" pitchFamily="18" charset="0"/>
                <a:ea typeface="Cambria" panose="02040503050406030204" pitchFamily="18" charset="0"/>
              </a:rPr>
              <a:t>of Monotonic Reasoning:</a:t>
            </a:r>
          </a:p>
          <a:p>
            <a:r>
              <a:rPr lang="en-US" dirty="0">
                <a:latin typeface="Cambria" panose="02040503050406030204" pitchFamily="18" charset="0"/>
                <a:ea typeface="Cambria" panose="02040503050406030204" pitchFamily="18" charset="0"/>
              </a:rPr>
              <a:t>In monotonic reasoning, each old proof will always remain valid.</a:t>
            </a:r>
          </a:p>
          <a:p>
            <a:r>
              <a:rPr lang="en-US" dirty="0">
                <a:latin typeface="Cambria" panose="02040503050406030204" pitchFamily="18" charset="0"/>
                <a:ea typeface="Cambria" panose="02040503050406030204" pitchFamily="18" charset="0"/>
              </a:rPr>
              <a:t>If we deduce some facts from available facts, then it will remain valid for always.</a:t>
            </a:r>
          </a:p>
          <a:p>
            <a:pPr marL="0" indent="0">
              <a:buNone/>
            </a:pPr>
            <a:endParaRPr lang="en-US" dirty="0" smtClean="0">
              <a:latin typeface="Cambria" panose="02040503050406030204" pitchFamily="18" charset="0"/>
              <a:ea typeface="Cambria" panose="02040503050406030204" pitchFamily="18" charset="0"/>
            </a:endParaRPr>
          </a:p>
          <a:p>
            <a:pPr marL="0" indent="0">
              <a:buNone/>
            </a:pPr>
            <a:r>
              <a:rPr lang="en-US" dirty="0" smtClean="0">
                <a:latin typeface="Cambria" panose="02040503050406030204" pitchFamily="18" charset="0"/>
                <a:ea typeface="Cambria" panose="02040503050406030204" pitchFamily="18" charset="0"/>
              </a:rPr>
              <a:t>Disadvantages </a:t>
            </a:r>
            <a:r>
              <a:rPr lang="en-US" dirty="0">
                <a:latin typeface="Cambria" panose="02040503050406030204" pitchFamily="18" charset="0"/>
                <a:ea typeface="Cambria" panose="02040503050406030204" pitchFamily="18" charset="0"/>
              </a:rPr>
              <a:t>of Monotonic Reasoning:</a:t>
            </a:r>
          </a:p>
          <a:p>
            <a:r>
              <a:rPr lang="en-US" dirty="0">
                <a:latin typeface="Cambria" panose="02040503050406030204" pitchFamily="18" charset="0"/>
                <a:ea typeface="Cambria" panose="02040503050406030204" pitchFamily="18" charset="0"/>
              </a:rPr>
              <a:t>We cannot represent the real world scenarios using Monotonic reasoning.</a:t>
            </a:r>
          </a:p>
          <a:p>
            <a:r>
              <a:rPr lang="en-US" dirty="0">
                <a:latin typeface="Cambria" panose="02040503050406030204" pitchFamily="18" charset="0"/>
                <a:ea typeface="Cambria" panose="02040503050406030204" pitchFamily="18" charset="0"/>
              </a:rPr>
              <a:t>Hypothesis knowledge cannot be expressed with monotonic reasoning, which means facts should be true.</a:t>
            </a:r>
          </a:p>
          <a:p>
            <a:r>
              <a:rPr lang="en-US" dirty="0">
                <a:latin typeface="Cambria" panose="02040503050406030204" pitchFamily="18" charset="0"/>
                <a:ea typeface="Cambria" panose="02040503050406030204" pitchFamily="18" charset="0"/>
              </a:rPr>
              <a:t>Since we can only derive conclusions from the old proofs, so new knowledge from the real world cannot be added.</a:t>
            </a:r>
          </a:p>
          <a:p>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4755468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491" y="0"/>
            <a:ext cx="10515600" cy="1325563"/>
          </a:xfrm>
        </p:spPr>
        <p:txBody>
          <a:bodyPr/>
          <a:lstStyle/>
          <a:p>
            <a:r>
              <a:rPr lang="en-US" dirty="0" smtClean="0">
                <a:latin typeface="Cambria" panose="02040503050406030204" pitchFamily="18" charset="0"/>
                <a:ea typeface="Cambria" panose="02040503050406030204" pitchFamily="18" charset="0"/>
              </a:rPr>
              <a:t>Non-monotonic Reasoning</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29491" y="662781"/>
            <a:ext cx="11277600" cy="5184776"/>
          </a:xfrm>
        </p:spPr>
        <p:txBody>
          <a:bodyPr>
            <a:noAutofit/>
          </a:bodyPr>
          <a:lstStyle/>
          <a:p>
            <a:pPr algn="just">
              <a:lnSpc>
                <a:spcPct val="120000"/>
              </a:lnSpc>
            </a:pPr>
            <a:r>
              <a:rPr lang="en-US" sz="2000" dirty="0" smtClean="0">
                <a:latin typeface="Cambria" panose="02040503050406030204" pitchFamily="18" charset="0"/>
                <a:ea typeface="Cambria" panose="02040503050406030204" pitchFamily="18" charset="0"/>
              </a:rPr>
              <a:t>In </a:t>
            </a:r>
            <a:r>
              <a:rPr lang="en-US" sz="2000" dirty="0">
                <a:latin typeface="Cambria" panose="02040503050406030204" pitchFamily="18" charset="0"/>
                <a:ea typeface="Cambria" panose="02040503050406030204" pitchFamily="18" charset="0"/>
              </a:rPr>
              <a:t>Non-monotonic reasoning, some conclusions may be invalidated if we add some more information to our knowledge base.</a:t>
            </a:r>
          </a:p>
          <a:p>
            <a:pPr algn="just">
              <a:lnSpc>
                <a:spcPct val="120000"/>
              </a:lnSpc>
            </a:pPr>
            <a:r>
              <a:rPr lang="en-US" sz="2000" dirty="0">
                <a:latin typeface="Cambria" panose="02040503050406030204" pitchFamily="18" charset="0"/>
                <a:ea typeface="Cambria" panose="02040503050406030204" pitchFamily="18" charset="0"/>
              </a:rPr>
              <a:t>Logic will be said as non-monotonic if some conclusions can be invalidated by adding more knowledge into our knowledge base.</a:t>
            </a:r>
          </a:p>
          <a:p>
            <a:pPr algn="just">
              <a:lnSpc>
                <a:spcPct val="120000"/>
              </a:lnSpc>
            </a:pPr>
            <a:r>
              <a:rPr lang="en-US" sz="2000" dirty="0">
                <a:latin typeface="Cambria" panose="02040503050406030204" pitchFamily="18" charset="0"/>
                <a:ea typeface="Cambria" panose="02040503050406030204" pitchFamily="18" charset="0"/>
              </a:rPr>
              <a:t>Non-monotonic reasoning deals with incomplete and uncertain models.</a:t>
            </a:r>
          </a:p>
          <a:p>
            <a:pPr>
              <a:lnSpc>
                <a:spcPct val="120000"/>
              </a:lnSpc>
            </a:pPr>
            <a:r>
              <a:rPr lang="en-US" sz="2000" dirty="0">
                <a:latin typeface="Cambria" panose="02040503050406030204" pitchFamily="18" charset="0"/>
                <a:ea typeface="Cambria" panose="02040503050406030204" pitchFamily="18" charset="0"/>
              </a:rPr>
              <a:t>Human perceptions for various things in daily life, "is a general example of non-monotonic reasoning.</a:t>
            </a:r>
          </a:p>
          <a:p>
            <a:pPr marL="0" indent="0">
              <a:lnSpc>
                <a:spcPct val="120000"/>
              </a:lnSpc>
              <a:buNone/>
            </a:pPr>
            <a:r>
              <a:rPr lang="en-US" sz="2000" b="1" dirty="0"/>
              <a:t>Example:</a:t>
            </a:r>
            <a:r>
              <a:rPr lang="en-US" sz="2000" dirty="0"/>
              <a:t> Let suppose the knowledge base contains the following knowledge:</a:t>
            </a:r>
          </a:p>
          <a:p>
            <a:pPr>
              <a:lnSpc>
                <a:spcPct val="120000"/>
              </a:lnSpc>
            </a:pPr>
            <a:r>
              <a:rPr lang="en-US" sz="2000" b="1" dirty="0"/>
              <a:t>Birds can fly</a:t>
            </a:r>
            <a:endParaRPr lang="en-US" sz="2000" dirty="0"/>
          </a:p>
          <a:p>
            <a:pPr>
              <a:lnSpc>
                <a:spcPct val="120000"/>
              </a:lnSpc>
            </a:pPr>
            <a:r>
              <a:rPr lang="en-US" sz="2000" b="1" dirty="0"/>
              <a:t>Penguins cannot fly</a:t>
            </a:r>
            <a:endParaRPr lang="en-US" sz="2000" dirty="0"/>
          </a:p>
          <a:p>
            <a:pPr>
              <a:lnSpc>
                <a:spcPct val="120000"/>
              </a:lnSpc>
            </a:pPr>
            <a:r>
              <a:rPr lang="en-US" sz="2000" b="1" dirty="0" err="1"/>
              <a:t>Pitty</a:t>
            </a:r>
            <a:r>
              <a:rPr lang="en-US" sz="2000" b="1" dirty="0"/>
              <a:t> is a bird</a:t>
            </a:r>
            <a:endParaRPr lang="en-US" sz="2000" dirty="0"/>
          </a:p>
          <a:p>
            <a:pPr>
              <a:lnSpc>
                <a:spcPct val="120000"/>
              </a:lnSpc>
            </a:pPr>
            <a:r>
              <a:rPr lang="en-US" sz="2000" dirty="0"/>
              <a:t>So from the above sentences, we can conclude that </a:t>
            </a:r>
            <a:r>
              <a:rPr lang="en-US" sz="2000" b="1" dirty="0" err="1"/>
              <a:t>Pitty</a:t>
            </a:r>
            <a:r>
              <a:rPr lang="en-US" sz="2000" b="1" dirty="0"/>
              <a:t> can fly</a:t>
            </a:r>
            <a:r>
              <a:rPr lang="en-US" sz="2000" dirty="0" smtClean="0"/>
              <a:t>. However</a:t>
            </a:r>
            <a:r>
              <a:rPr lang="en-US" sz="2000" dirty="0"/>
              <a:t>, if we add one another sentence into knowledge base "</a:t>
            </a:r>
            <a:r>
              <a:rPr lang="en-US" sz="2000" b="1" dirty="0" err="1"/>
              <a:t>Pitty</a:t>
            </a:r>
            <a:r>
              <a:rPr lang="en-US" sz="2000" b="1" dirty="0"/>
              <a:t> is a penguin</a:t>
            </a:r>
            <a:r>
              <a:rPr lang="en-US" sz="2000" dirty="0"/>
              <a:t>", which concludes "</a:t>
            </a:r>
            <a:r>
              <a:rPr lang="en-US" sz="2000" b="1" dirty="0" err="1"/>
              <a:t>Pitty</a:t>
            </a:r>
            <a:r>
              <a:rPr lang="en-US" sz="2000" b="1" dirty="0"/>
              <a:t> cannot fly</a:t>
            </a:r>
            <a:r>
              <a:rPr lang="en-US" sz="2000" dirty="0"/>
              <a:t>", so it invalidates the above conclusion.</a:t>
            </a:r>
          </a:p>
          <a:p>
            <a:endParaRPr lang="en-US" sz="2000" dirty="0"/>
          </a:p>
        </p:txBody>
      </p:sp>
    </p:spTree>
    <p:extLst>
      <p:ext uri="{BB962C8B-B14F-4D97-AF65-F5344CB8AC3E}">
        <p14:creationId xmlns:p14="http://schemas.microsoft.com/office/powerpoint/2010/main" val="135902912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0436" y="634135"/>
            <a:ext cx="10633364" cy="5337174"/>
          </a:xfrm>
        </p:spPr>
        <p:txBody>
          <a:bodyPr>
            <a:normAutofit fontScale="62500" lnSpcReduction="20000"/>
          </a:bodyPr>
          <a:lstStyle/>
          <a:p>
            <a:pPr marL="0" indent="0">
              <a:lnSpc>
                <a:spcPct val="120000"/>
              </a:lnSpc>
              <a:buNone/>
            </a:pPr>
            <a:r>
              <a:rPr lang="en-US" sz="3800" dirty="0">
                <a:latin typeface="Cambria" panose="02040503050406030204" pitchFamily="18" charset="0"/>
                <a:ea typeface="Cambria" panose="02040503050406030204" pitchFamily="18" charset="0"/>
              </a:rPr>
              <a:t>Advantages of Non-monotonic reasoning:</a:t>
            </a:r>
          </a:p>
          <a:p>
            <a:pPr>
              <a:lnSpc>
                <a:spcPct val="120000"/>
              </a:lnSpc>
            </a:pPr>
            <a:r>
              <a:rPr lang="en-US" sz="3800" dirty="0">
                <a:latin typeface="Cambria" panose="02040503050406030204" pitchFamily="18" charset="0"/>
                <a:ea typeface="Cambria" panose="02040503050406030204" pitchFamily="18" charset="0"/>
              </a:rPr>
              <a:t>For real-world systems such as Robot navigation, we can use non-monotonic reasoning.</a:t>
            </a:r>
          </a:p>
          <a:p>
            <a:pPr>
              <a:lnSpc>
                <a:spcPct val="120000"/>
              </a:lnSpc>
            </a:pPr>
            <a:r>
              <a:rPr lang="en-US" sz="3800" dirty="0">
                <a:latin typeface="Cambria" panose="02040503050406030204" pitchFamily="18" charset="0"/>
                <a:ea typeface="Cambria" panose="02040503050406030204" pitchFamily="18" charset="0"/>
              </a:rPr>
              <a:t>In Non-monotonic reasoning, we can choose probabilistic facts or can make assumptions.</a:t>
            </a:r>
          </a:p>
          <a:p>
            <a:pPr>
              <a:lnSpc>
                <a:spcPct val="120000"/>
              </a:lnSpc>
            </a:pPr>
            <a:endParaRPr lang="en-US" sz="3800" dirty="0" smtClean="0">
              <a:latin typeface="Cambria" panose="02040503050406030204" pitchFamily="18" charset="0"/>
              <a:ea typeface="Cambria" panose="02040503050406030204" pitchFamily="18" charset="0"/>
            </a:endParaRPr>
          </a:p>
          <a:p>
            <a:pPr marL="0" indent="0">
              <a:lnSpc>
                <a:spcPct val="120000"/>
              </a:lnSpc>
              <a:buNone/>
            </a:pPr>
            <a:r>
              <a:rPr lang="en-US" sz="3800" dirty="0" smtClean="0">
                <a:latin typeface="Cambria" panose="02040503050406030204" pitchFamily="18" charset="0"/>
                <a:ea typeface="Cambria" panose="02040503050406030204" pitchFamily="18" charset="0"/>
              </a:rPr>
              <a:t>Disadvantages </a:t>
            </a:r>
            <a:r>
              <a:rPr lang="en-US" sz="3800" dirty="0">
                <a:latin typeface="Cambria" panose="02040503050406030204" pitchFamily="18" charset="0"/>
                <a:ea typeface="Cambria" panose="02040503050406030204" pitchFamily="18" charset="0"/>
              </a:rPr>
              <a:t>of Non-monotonic Reasoning:</a:t>
            </a:r>
          </a:p>
          <a:p>
            <a:pPr>
              <a:lnSpc>
                <a:spcPct val="120000"/>
              </a:lnSpc>
            </a:pPr>
            <a:r>
              <a:rPr lang="en-US" sz="3800" dirty="0">
                <a:latin typeface="Cambria" panose="02040503050406030204" pitchFamily="18" charset="0"/>
                <a:ea typeface="Cambria" panose="02040503050406030204" pitchFamily="18" charset="0"/>
              </a:rPr>
              <a:t>In non-monotonic reasoning, the old facts may be invalidated by adding new sentences.</a:t>
            </a:r>
          </a:p>
          <a:p>
            <a:pPr>
              <a:lnSpc>
                <a:spcPct val="120000"/>
              </a:lnSpc>
            </a:pPr>
            <a:r>
              <a:rPr lang="en-US" sz="3800" dirty="0">
                <a:latin typeface="Cambria" panose="02040503050406030204" pitchFamily="18" charset="0"/>
                <a:ea typeface="Cambria" panose="02040503050406030204" pitchFamily="18" charset="0"/>
              </a:rPr>
              <a:t>It cannot be used for theorem </a:t>
            </a:r>
            <a:r>
              <a:rPr lang="en-US" sz="3800" b="1" dirty="0">
                <a:latin typeface="Cambria" panose="02040503050406030204" pitchFamily="18" charset="0"/>
                <a:ea typeface="Cambria" panose="02040503050406030204" pitchFamily="18" charset="0"/>
              </a:rPr>
              <a:t>proving</a:t>
            </a:r>
            <a:r>
              <a:rPr lang="en-US" sz="3800" dirty="0">
                <a:latin typeface="Cambria" panose="02040503050406030204" pitchFamily="18" charset="0"/>
                <a:ea typeface="Cambria" panose="02040503050406030204" pitchFamily="18" charset="0"/>
              </a:rPr>
              <a:t>.</a:t>
            </a:r>
          </a:p>
          <a:p>
            <a:pPr marL="0" indent="0">
              <a:buNone/>
            </a:pPr>
            <a:r>
              <a:rPr lang="en-US" dirty="0" smtClean="0"/>
              <a:t/>
            </a:r>
            <a:br>
              <a:rPr lang="en-US" dirty="0" smtClean="0"/>
            </a:br>
            <a:endParaRPr lang="en-US" dirty="0"/>
          </a:p>
        </p:txBody>
      </p:sp>
    </p:spTree>
    <p:extLst>
      <p:ext uri="{BB962C8B-B14F-4D97-AF65-F5344CB8AC3E}">
        <p14:creationId xmlns:p14="http://schemas.microsoft.com/office/powerpoint/2010/main" val="1748428710"/>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4563" y="0"/>
            <a:ext cx="10515600" cy="1325563"/>
          </a:xfrm>
        </p:spPr>
        <p:txBody>
          <a:bodyPr/>
          <a:lstStyle/>
          <a:p>
            <a:r>
              <a:rPr lang="en-US" dirty="0" smtClean="0">
                <a:latin typeface="Cambria" panose="02040503050406030204" pitchFamily="18" charset="0"/>
                <a:ea typeface="Cambria" panose="02040503050406030204" pitchFamily="18" charset="0"/>
              </a:rPr>
              <a:t>Planning</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20436" y="1177636"/>
            <a:ext cx="10633364" cy="5140037"/>
          </a:xfrm>
        </p:spPr>
        <p:txBody>
          <a:bodyPr>
            <a:normAutofit fontScale="85000" lnSpcReduction="20000"/>
          </a:bodyPr>
          <a:lstStyle/>
          <a:p>
            <a:pPr algn="just">
              <a:lnSpc>
                <a:spcPct val="110000"/>
              </a:lnSpc>
            </a:pPr>
            <a:r>
              <a:rPr lang="en-US" dirty="0">
                <a:latin typeface="Cambria" panose="02040503050406030204" pitchFamily="18" charset="0"/>
                <a:ea typeface="Cambria" panose="02040503050406030204" pitchFamily="18" charset="0"/>
              </a:rPr>
              <a:t>Artificial intelligence is an important technology in the future. Whether it is intelligent robots, self-driving cars, or smart cities, they will all use different aspects of artificial intelligence!!! But Planning is very important to make any such AI project.</a:t>
            </a:r>
          </a:p>
          <a:p>
            <a:pPr algn="just">
              <a:lnSpc>
                <a:spcPct val="110000"/>
              </a:lnSpc>
            </a:pPr>
            <a:r>
              <a:rPr lang="en-US" dirty="0">
                <a:latin typeface="Cambria" panose="02040503050406030204" pitchFamily="18" charset="0"/>
                <a:ea typeface="Cambria" panose="02040503050406030204" pitchFamily="18" charset="0"/>
              </a:rPr>
              <a:t>Even Planning is an important part of Artificial Intelligence which deals with the tasks and domains of a particular problem. Planning is considered the logical side of acting.</a:t>
            </a:r>
          </a:p>
          <a:p>
            <a:pPr algn="just">
              <a:lnSpc>
                <a:spcPct val="110000"/>
              </a:lnSpc>
            </a:pPr>
            <a:r>
              <a:rPr lang="en-US" dirty="0">
                <a:latin typeface="Cambria" panose="02040503050406030204" pitchFamily="18" charset="0"/>
                <a:ea typeface="Cambria" panose="02040503050406030204" pitchFamily="18" charset="0"/>
              </a:rPr>
              <a:t>Everything we humans do is with a definite goal in mind, and all our actions are oriented towards achieving our goal. Similarly, Planning is also done for Artificial Intelligence.</a:t>
            </a:r>
          </a:p>
          <a:p>
            <a:pPr algn="just">
              <a:lnSpc>
                <a:spcPct val="110000"/>
              </a:lnSpc>
            </a:pPr>
            <a:r>
              <a:rPr lang="en-US" b="1" dirty="0">
                <a:latin typeface="Cambria" panose="02040503050406030204" pitchFamily="18" charset="0"/>
                <a:ea typeface="Cambria" panose="02040503050406030204" pitchFamily="18" charset="0"/>
              </a:rPr>
              <a:t>For example</a:t>
            </a:r>
            <a:r>
              <a:rPr lang="en-US" dirty="0">
                <a:latin typeface="Cambria" panose="02040503050406030204" pitchFamily="18" charset="0"/>
                <a:ea typeface="Cambria" panose="02040503050406030204" pitchFamily="18" charset="0"/>
              </a:rPr>
              <a:t>, Planning is required to reach a particular destination. It is necessary to find the best route in Planning, but the tasks to be done at a particular time and why they are done are also very important.</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4008723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a Plan?</a:t>
            </a:r>
            <a:br>
              <a:rPr lang="en-US" dirty="0" smtClean="0"/>
            </a:br>
            <a:endParaRPr lang="en-US" dirty="0"/>
          </a:p>
        </p:txBody>
      </p:sp>
      <p:sp>
        <p:nvSpPr>
          <p:cNvPr id="3" name="Content Placeholder 2"/>
          <p:cNvSpPr>
            <a:spLocks noGrp="1"/>
          </p:cNvSpPr>
          <p:nvPr>
            <p:ph idx="1"/>
          </p:nvPr>
        </p:nvSpPr>
        <p:spPr>
          <a:xfrm>
            <a:off x="671945" y="1354570"/>
            <a:ext cx="10515600" cy="4351338"/>
          </a:xfrm>
        </p:spPr>
        <p:txBody>
          <a:bodyPr/>
          <a:lstStyle/>
          <a:p>
            <a:pPr algn="just"/>
            <a:r>
              <a:rPr lang="en-US" dirty="0" smtClean="0">
                <a:latin typeface="Cambria" panose="02040503050406030204" pitchFamily="18" charset="0"/>
                <a:ea typeface="Cambria" panose="02040503050406030204" pitchFamily="18" charset="0"/>
              </a:rPr>
              <a:t>We </a:t>
            </a:r>
            <a:r>
              <a:rPr lang="en-US" dirty="0">
                <a:latin typeface="Cambria" panose="02040503050406030204" pitchFamily="18" charset="0"/>
                <a:ea typeface="Cambria" panose="02040503050406030204" pitchFamily="18" charset="0"/>
              </a:rPr>
              <a:t>require domain description, task specification, and goal description for any planning system. A plan is considered a sequence of actions, and each action has its preconditions that must be satisfied before it can act and some effects that can be positive or negative.</a:t>
            </a:r>
          </a:p>
          <a:p>
            <a:pPr algn="just"/>
            <a:r>
              <a:rPr lang="en-US" dirty="0">
                <a:latin typeface="Cambria" panose="02040503050406030204" pitchFamily="18" charset="0"/>
                <a:ea typeface="Cambria" panose="02040503050406030204" pitchFamily="18" charset="0"/>
              </a:rPr>
              <a:t>So, we have </a:t>
            </a:r>
            <a:r>
              <a:rPr lang="en-US" b="1" dirty="0">
                <a:latin typeface="Cambria" panose="02040503050406030204" pitchFamily="18" charset="0"/>
                <a:ea typeface="Cambria" panose="02040503050406030204" pitchFamily="18" charset="0"/>
              </a:rPr>
              <a:t>Forward State Space Planning (FSSP)</a:t>
            </a:r>
            <a:r>
              <a:rPr lang="en-US" dirty="0">
                <a:latin typeface="Cambria" panose="02040503050406030204" pitchFamily="18" charset="0"/>
                <a:ea typeface="Cambria" panose="02040503050406030204" pitchFamily="18" charset="0"/>
              </a:rPr>
              <a:t> and </a:t>
            </a:r>
            <a:r>
              <a:rPr lang="en-US" b="1" dirty="0">
                <a:latin typeface="Cambria" panose="02040503050406030204" pitchFamily="18" charset="0"/>
                <a:ea typeface="Cambria" panose="02040503050406030204" pitchFamily="18" charset="0"/>
              </a:rPr>
              <a:t>Backward State Space Planning (BSSP)</a:t>
            </a:r>
            <a:r>
              <a:rPr lang="en-US" dirty="0">
                <a:latin typeface="Cambria" panose="02040503050406030204" pitchFamily="18" charset="0"/>
                <a:ea typeface="Cambria" panose="02040503050406030204" pitchFamily="18" charset="0"/>
              </a:rPr>
              <a:t> at the basic level.</a:t>
            </a:r>
          </a:p>
          <a:p>
            <a:endParaRPr lang="en-US" dirty="0"/>
          </a:p>
        </p:txBody>
      </p:sp>
      <p:pic>
        <p:nvPicPr>
          <p:cNvPr id="4" name="Picture 3"/>
          <p:cNvPicPr>
            <a:picLocks noChangeAspect="1"/>
          </p:cNvPicPr>
          <p:nvPr/>
        </p:nvPicPr>
        <p:blipFill>
          <a:blip r:embed="rId2"/>
          <a:stretch>
            <a:fillRect/>
          </a:stretch>
        </p:blipFill>
        <p:spPr>
          <a:xfrm>
            <a:off x="2600399" y="4606508"/>
            <a:ext cx="5134692" cy="1829055"/>
          </a:xfrm>
          <a:prstGeom prst="rect">
            <a:avLst/>
          </a:prstGeom>
        </p:spPr>
      </p:pic>
    </p:spTree>
    <p:extLst>
      <p:ext uri="{BB962C8B-B14F-4D97-AF65-F5344CB8AC3E}">
        <p14:creationId xmlns:p14="http://schemas.microsoft.com/office/powerpoint/2010/main" val="162841561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Forward State Space Planning (FSSP)</a:t>
            </a:r>
            <a:br>
              <a:rPr lang="en-US" dirty="0"/>
            </a:br>
            <a:endParaRPr lang="en-US" dirty="0"/>
          </a:p>
        </p:txBody>
      </p:sp>
      <p:sp>
        <p:nvSpPr>
          <p:cNvPr id="3" name="Content Placeholder 2"/>
          <p:cNvSpPr>
            <a:spLocks noGrp="1"/>
          </p:cNvSpPr>
          <p:nvPr>
            <p:ph idx="1"/>
          </p:nvPr>
        </p:nvSpPr>
        <p:spPr/>
        <p:txBody>
          <a:bodyPr/>
          <a:lstStyle/>
          <a:p>
            <a:pPr>
              <a:lnSpc>
                <a:spcPct val="100000"/>
              </a:lnSpc>
            </a:pPr>
            <a:r>
              <a:rPr lang="en-US" dirty="0"/>
              <a:t>FSSP behaves in the same way as forwarding state-space search. It says that given an initial state S in any domain, we perform some necessary actions and obtain a new state S' (which also contains some new terms), called a progression. It continues until we reach the target position. Action </a:t>
            </a:r>
            <a:r>
              <a:rPr lang="en-US" dirty="0" smtClean="0"/>
              <a:t>should </a:t>
            </a:r>
            <a:r>
              <a:rPr lang="en-US" dirty="0"/>
              <a:t>be taken in this matter</a:t>
            </a:r>
            <a:r>
              <a:rPr lang="en-US" dirty="0" smtClean="0"/>
              <a:t>.</a:t>
            </a:r>
          </a:p>
          <a:p>
            <a:pPr>
              <a:lnSpc>
                <a:spcPct val="100000"/>
              </a:lnSpc>
            </a:pPr>
            <a:r>
              <a:rPr lang="en-US" b="1" dirty="0"/>
              <a:t>Disadvantage</a:t>
            </a:r>
            <a:r>
              <a:rPr lang="en-US" dirty="0"/>
              <a:t>: Large branching factor</a:t>
            </a:r>
          </a:p>
          <a:p>
            <a:pPr>
              <a:lnSpc>
                <a:spcPct val="100000"/>
              </a:lnSpc>
            </a:pPr>
            <a:r>
              <a:rPr lang="en-US" b="1" dirty="0"/>
              <a:t>Advantage</a:t>
            </a:r>
            <a:r>
              <a:rPr lang="en-US" dirty="0"/>
              <a:t>: The algorithm is Sound</a:t>
            </a:r>
          </a:p>
          <a:p>
            <a:pPr marL="0" indent="0">
              <a:buNone/>
            </a:pPr>
            <a:endParaRPr lang="en-US" dirty="0"/>
          </a:p>
        </p:txBody>
      </p:sp>
    </p:spTree>
    <p:extLst>
      <p:ext uri="{BB962C8B-B14F-4D97-AF65-F5344CB8AC3E}">
        <p14:creationId xmlns:p14="http://schemas.microsoft.com/office/powerpoint/2010/main" val="3212683968"/>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Backward State Space Planning (BSSP)</a:t>
            </a:r>
            <a:br>
              <a:rPr lang="en-US" dirty="0"/>
            </a:br>
            <a:endParaRPr lang="en-US" dirty="0"/>
          </a:p>
        </p:txBody>
      </p:sp>
      <p:sp>
        <p:nvSpPr>
          <p:cNvPr id="3" name="Content Placeholder 2"/>
          <p:cNvSpPr>
            <a:spLocks noGrp="1"/>
          </p:cNvSpPr>
          <p:nvPr>
            <p:ph idx="1"/>
          </p:nvPr>
        </p:nvSpPr>
        <p:spPr>
          <a:xfrm>
            <a:off x="838200" y="1524000"/>
            <a:ext cx="10515600" cy="4652963"/>
          </a:xfrm>
        </p:spPr>
        <p:txBody>
          <a:bodyPr>
            <a:normAutofit fontScale="92500" lnSpcReduction="20000"/>
          </a:bodyPr>
          <a:lstStyle/>
          <a:p>
            <a:pPr algn="just">
              <a:lnSpc>
                <a:spcPct val="110000"/>
              </a:lnSpc>
            </a:pPr>
            <a:r>
              <a:rPr lang="en-US" dirty="0">
                <a:latin typeface="Cambria" panose="02040503050406030204" pitchFamily="18" charset="0"/>
                <a:ea typeface="Cambria" panose="02040503050406030204" pitchFamily="18" charset="0"/>
              </a:rPr>
              <a:t>BSSP behaves similarly to backward state-space search. In this, we move from the target state g to the sub-goal g, tracing the previous action to achieve that goal. This process is called regression (going back to the previous goal or sub-goal). These sub-goals should also be checked for consistency. The action should be relevant in this case.</a:t>
            </a:r>
          </a:p>
          <a:p>
            <a:pPr algn="just">
              <a:lnSpc>
                <a:spcPct val="110000"/>
              </a:lnSpc>
            </a:pPr>
            <a:r>
              <a:rPr lang="en-US" b="1" dirty="0">
                <a:latin typeface="Cambria" panose="02040503050406030204" pitchFamily="18" charset="0"/>
                <a:ea typeface="Cambria" panose="02040503050406030204" pitchFamily="18" charset="0"/>
              </a:rPr>
              <a:t>Disadvantages</a:t>
            </a:r>
            <a:r>
              <a:rPr lang="en-US" dirty="0">
                <a:latin typeface="Cambria" panose="02040503050406030204" pitchFamily="18" charset="0"/>
                <a:ea typeface="Cambria" panose="02040503050406030204" pitchFamily="18" charset="0"/>
              </a:rPr>
              <a:t>: not sound algorithm (sometimes inconsistency can be found)</a:t>
            </a:r>
          </a:p>
          <a:p>
            <a:pPr algn="just">
              <a:lnSpc>
                <a:spcPct val="110000"/>
              </a:lnSpc>
            </a:pPr>
            <a:r>
              <a:rPr lang="en-US" b="1" dirty="0">
                <a:latin typeface="Cambria" panose="02040503050406030204" pitchFamily="18" charset="0"/>
                <a:ea typeface="Cambria" panose="02040503050406030204" pitchFamily="18" charset="0"/>
              </a:rPr>
              <a:t>Advantage</a:t>
            </a:r>
            <a:r>
              <a:rPr lang="en-US" dirty="0">
                <a:latin typeface="Cambria" panose="02040503050406030204" pitchFamily="18" charset="0"/>
                <a:ea typeface="Cambria" panose="02040503050406030204" pitchFamily="18" charset="0"/>
              </a:rPr>
              <a:t>: Small branching factor (much smaller than FSSP)</a:t>
            </a:r>
          </a:p>
          <a:p>
            <a:pPr marL="0" indent="0" algn="just">
              <a:lnSpc>
                <a:spcPct val="110000"/>
              </a:lnSpc>
              <a:buNone/>
            </a:pPr>
            <a:r>
              <a:rPr lang="en-US" dirty="0">
                <a:latin typeface="Cambria" panose="02040503050406030204" pitchFamily="18" charset="0"/>
                <a:ea typeface="Cambria" panose="02040503050406030204" pitchFamily="18" charset="0"/>
              </a:rPr>
              <a:t>So for an efficient planning system, we need to combine the features of FSSP and BSSP, which gives rise to target stack planning which will be discussed in the next article.</a:t>
            </a:r>
          </a:p>
          <a:p>
            <a:endParaRPr lang="en-US" dirty="0"/>
          </a:p>
        </p:txBody>
      </p:sp>
    </p:spTree>
    <p:extLst>
      <p:ext uri="{BB962C8B-B14F-4D97-AF65-F5344CB8AC3E}">
        <p14:creationId xmlns:p14="http://schemas.microsoft.com/office/powerpoint/2010/main" val="139896029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581" y="600652"/>
            <a:ext cx="10515600" cy="1325563"/>
          </a:xfrm>
        </p:spPr>
        <p:txBody>
          <a:bodyPr/>
          <a:lstStyle/>
          <a:p>
            <a:r>
              <a:rPr lang="en-US" dirty="0" smtClean="0"/>
              <a:t>What is planning in AI?</a:t>
            </a:r>
            <a:br>
              <a:rPr lang="en-US" dirty="0" smtClean="0"/>
            </a:br>
            <a:endParaRPr lang="en-US" dirty="0"/>
          </a:p>
        </p:txBody>
      </p:sp>
      <p:sp>
        <p:nvSpPr>
          <p:cNvPr id="3" name="Content Placeholder 2"/>
          <p:cNvSpPr>
            <a:spLocks noGrp="1"/>
          </p:cNvSpPr>
          <p:nvPr>
            <p:ph idx="1"/>
          </p:nvPr>
        </p:nvSpPr>
        <p:spPr/>
        <p:txBody>
          <a:bodyPr/>
          <a:lstStyle/>
          <a:p>
            <a:pPr>
              <a:lnSpc>
                <a:spcPct val="100000"/>
              </a:lnSpc>
            </a:pPr>
            <a:r>
              <a:rPr lang="en-US" dirty="0" smtClean="0">
                <a:latin typeface="Cambria" panose="02040503050406030204" pitchFamily="18" charset="0"/>
                <a:ea typeface="Cambria" panose="02040503050406030204" pitchFamily="18" charset="0"/>
              </a:rPr>
              <a:t>Planning </a:t>
            </a:r>
            <a:r>
              <a:rPr lang="en-US" dirty="0">
                <a:latin typeface="Cambria" panose="02040503050406030204" pitchFamily="18" charset="0"/>
                <a:ea typeface="Cambria" panose="02040503050406030204" pitchFamily="18" charset="0"/>
              </a:rPr>
              <a:t>in artificial intelligence is about decision-making actions performed by robots or computer programs to achieve a specific goal.</a:t>
            </a:r>
          </a:p>
          <a:p>
            <a:pPr>
              <a:lnSpc>
                <a:spcPct val="100000"/>
              </a:lnSpc>
            </a:pPr>
            <a:r>
              <a:rPr lang="en-US" dirty="0">
                <a:latin typeface="Cambria" panose="02040503050406030204" pitchFamily="18" charset="0"/>
                <a:ea typeface="Cambria" panose="02040503050406030204" pitchFamily="18" charset="0"/>
              </a:rPr>
              <a:t>Execution of the plan is about choosing a sequence of tasks with a high probability of accomplishing a specific task.</a:t>
            </a:r>
          </a:p>
          <a:p>
            <a:endParaRPr lang="en-US" dirty="0"/>
          </a:p>
        </p:txBody>
      </p:sp>
    </p:spTree>
    <p:extLst>
      <p:ext uri="{BB962C8B-B14F-4D97-AF65-F5344CB8AC3E}">
        <p14:creationId xmlns:p14="http://schemas.microsoft.com/office/powerpoint/2010/main" val="171469959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728" y="500062"/>
            <a:ext cx="10515600" cy="1325563"/>
          </a:xfrm>
        </p:spPr>
        <p:txBody>
          <a:bodyPr/>
          <a:lstStyle/>
          <a:p>
            <a:r>
              <a:rPr lang="en-US" dirty="0" smtClean="0">
                <a:latin typeface="Cambria" panose="02040503050406030204" pitchFamily="18" charset="0"/>
                <a:ea typeface="Cambria" panose="02040503050406030204" pitchFamily="18" charset="0"/>
              </a:rPr>
              <a:t>Block-world planning problem</a:t>
            </a:r>
            <a:r>
              <a:rPr lang="en-US" dirty="0" smtClean="0"/>
              <a:t/>
            </a:r>
            <a:br>
              <a:rPr lang="en-US" dirty="0" smtClean="0"/>
            </a:br>
            <a:endParaRPr lang="en-US" dirty="0"/>
          </a:p>
        </p:txBody>
      </p:sp>
      <p:sp>
        <p:nvSpPr>
          <p:cNvPr id="3" name="Content Placeholder 2"/>
          <p:cNvSpPr>
            <a:spLocks noGrp="1"/>
          </p:cNvSpPr>
          <p:nvPr>
            <p:ph idx="1"/>
          </p:nvPr>
        </p:nvSpPr>
        <p:spPr/>
        <p:txBody>
          <a:bodyPr>
            <a:normAutofit/>
          </a:bodyPr>
          <a:lstStyle/>
          <a:p>
            <a:pPr algn="just"/>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block-world problem is known as the </a:t>
            </a:r>
            <a:r>
              <a:rPr lang="en-US" dirty="0" err="1">
                <a:latin typeface="Cambria" panose="02040503050406030204" pitchFamily="18" charset="0"/>
                <a:ea typeface="Cambria" panose="02040503050406030204" pitchFamily="18" charset="0"/>
              </a:rPr>
              <a:t>Sussmann</a:t>
            </a:r>
            <a:r>
              <a:rPr lang="en-US" dirty="0">
                <a:latin typeface="Cambria" panose="02040503050406030204" pitchFamily="18" charset="0"/>
                <a:ea typeface="Cambria" panose="02040503050406030204" pitchFamily="18" charset="0"/>
              </a:rPr>
              <a:t> anomaly.</a:t>
            </a:r>
          </a:p>
          <a:p>
            <a:pPr algn="just"/>
            <a:r>
              <a:rPr lang="en-US" dirty="0">
                <a:latin typeface="Cambria" panose="02040503050406030204" pitchFamily="18" charset="0"/>
                <a:ea typeface="Cambria" panose="02040503050406030204" pitchFamily="18" charset="0"/>
              </a:rPr>
              <a:t>The non-interlaced planners of the early 1970s were unable to solve this problem. Therefore it is considered odd.</a:t>
            </a:r>
          </a:p>
          <a:p>
            <a:pPr algn="just"/>
            <a:r>
              <a:rPr lang="en-US" dirty="0">
                <a:latin typeface="Cambria" panose="02040503050406030204" pitchFamily="18" charset="0"/>
                <a:ea typeface="Cambria" panose="02040503050406030204" pitchFamily="18" charset="0"/>
              </a:rPr>
              <a:t>When two sub-goals, G1 and G2, are given, a non-interleaved planner either produces a plan for G1 that is combined with a plan for </a:t>
            </a:r>
            <a:r>
              <a:rPr lang="en-US" b="1" dirty="0">
                <a:latin typeface="Cambria" panose="02040503050406030204" pitchFamily="18" charset="0"/>
                <a:ea typeface="Cambria" panose="02040503050406030204" pitchFamily="18" charset="0"/>
              </a:rPr>
              <a:t>G2</a:t>
            </a:r>
            <a:r>
              <a:rPr lang="en-US" dirty="0">
                <a:latin typeface="Cambria" panose="02040503050406030204" pitchFamily="18" charset="0"/>
                <a:ea typeface="Cambria" panose="02040503050406030204" pitchFamily="18" charset="0"/>
              </a:rPr>
              <a:t> or vice versa.</a:t>
            </a:r>
          </a:p>
          <a:p>
            <a:pPr algn="just"/>
            <a:r>
              <a:rPr lang="en-US" dirty="0">
                <a:latin typeface="Cambria" panose="02040503050406030204" pitchFamily="18" charset="0"/>
                <a:ea typeface="Cambria" panose="02040503050406030204" pitchFamily="18" charset="0"/>
              </a:rPr>
              <a:t>In the block-world problem, three blocks labeled 'A', 'B', and 'C' are allowed to rest on a flat surface. The given condition is that only one block can be moved at a time to achieve the target.</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89159746"/>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507209" y="900546"/>
            <a:ext cx="8937085" cy="5237018"/>
          </a:xfrm>
          <a:prstGeom prst="rect">
            <a:avLst/>
          </a:prstGeom>
        </p:spPr>
      </p:pic>
    </p:spTree>
    <p:extLst>
      <p:ext uri="{BB962C8B-B14F-4D97-AF65-F5344CB8AC3E}">
        <p14:creationId xmlns:p14="http://schemas.microsoft.com/office/powerpoint/2010/main" val="35639079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5127" y="620279"/>
            <a:ext cx="10425546" cy="5087794"/>
          </a:xfrm>
        </p:spPr>
        <p:txBody>
          <a:bodyPr>
            <a:normAutofit/>
          </a:bodyPr>
          <a:lstStyle/>
          <a:p>
            <a:pPr marL="0" indent="0">
              <a:buNone/>
            </a:pPr>
            <a:r>
              <a:rPr lang="en-US" b="1" dirty="0">
                <a:latin typeface="Cambria" panose="02040503050406030204" pitchFamily="18" charset="0"/>
                <a:ea typeface="Cambria" panose="02040503050406030204" pitchFamily="18" charset="0"/>
              </a:rPr>
              <a:t>Components of the planning </a:t>
            </a:r>
            <a:r>
              <a:rPr lang="en-US" b="1" dirty="0" smtClean="0">
                <a:latin typeface="Cambria" panose="02040503050406030204" pitchFamily="18" charset="0"/>
                <a:ea typeface="Cambria" panose="02040503050406030204" pitchFamily="18" charset="0"/>
              </a:rPr>
              <a:t>system</a:t>
            </a: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The plan includes the following important steps:</a:t>
            </a:r>
          </a:p>
          <a:p>
            <a:r>
              <a:rPr lang="en-US" dirty="0">
                <a:latin typeface="Cambria" panose="02040503050406030204" pitchFamily="18" charset="0"/>
                <a:ea typeface="Cambria" panose="02040503050406030204" pitchFamily="18" charset="0"/>
              </a:rPr>
              <a:t>Choose the best rule to apply the next rule based on the best available guess.</a:t>
            </a:r>
          </a:p>
          <a:p>
            <a:r>
              <a:rPr lang="en-US" dirty="0">
                <a:latin typeface="Cambria" panose="02040503050406030204" pitchFamily="18" charset="0"/>
                <a:ea typeface="Cambria" panose="02040503050406030204" pitchFamily="18" charset="0"/>
              </a:rPr>
              <a:t>Apply the chosen rule to calculate the new problem condition.</a:t>
            </a:r>
          </a:p>
          <a:p>
            <a:r>
              <a:rPr lang="en-US" dirty="0">
                <a:latin typeface="Cambria" panose="02040503050406030204" pitchFamily="18" charset="0"/>
                <a:ea typeface="Cambria" panose="02040503050406030204" pitchFamily="18" charset="0"/>
              </a:rPr>
              <a:t>Find out when a solution has been found.</a:t>
            </a:r>
          </a:p>
          <a:p>
            <a:r>
              <a:rPr lang="en-US" dirty="0">
                <a:latin typeface="Cambria" panose="02040503050406030204" pitchFamily="18" charset="0"/>
                <a:ea typeface="Cambria" panose="02040503050406030204" pitchFamily="18" charset="0"/>
              </a:rPr>
              <a:t>Detect dead ends so they can be discarded and direct system effort in more useful directions.</a:t>
            </a:r>
          </a:p>
          <a:p>
            <a:r>
              <a:rPr lang="en-US" dirty="0">
                <a:latin typeface="Cambria" panose="02040503050406030204" pitchFamily="18" charset="0"/>
                <a:ea typeface="Cambria" panose="02040503050406030204" pitchFamily="18" charset="0"/>
              </a:rPr>
              <a:t>Find out when a near-perfect solution is found.</a:t>
            </a:r>
          </a:p>
          <a:p>
            <a:endParaRPr lang="en-US" dirty="0"/>
          </a:p>
        </p:txBody>
      </p:sp>
    </p:spTree>
    <p:extLst>
      <p:ext uri="{BB962C8B-B14F-4D97-AF65-F5344CB8AC3E}">
        <p14:creationId xmlns:p14="http://schemas.microsoft.com/office/powerpoint/2010/main" val="139438576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9199"/>
            <a:ext cx="10515600" cy="937202"/>
          </a:xfrm>
        </p:spPr>
        <p:txBody>
          <a:bodyPr>
            <a:normAutofit fontScale="90000"/>
          </a:bodyPr>
          <a:lstStyle/>
          <a:p>
            <a:r>
              <a:rPr lang="en-US" dirty="0" smtClean="0"/>
              <a:t>Target stack plan</a:t>
            </a:r>
            <a:br>
              <a:rPr lang="en-US" dirty="0" smtClean="0"/>
            </a:br>
            <a:endParaRPr lang="en-US" dirty="0"/>
          </a:p>
        </p:txBody>
      </p:sp>
      <p:sp>
        <p:nvSpPr>
          <p:cNvPr id="3" name="Content Placeholder 2"/>
          <p:cNvSpPr>
            <a:spLocks noGrp="1"/>
          </p:cNvSpPr>
          <p:nvPr>
            <p:ph idx="1"/>
          </p:nvPr>
        </p:nvSpPr>
        <p:spPr/>
        <p:txBody>
          <a:bodyPr/>
          <a:lstStyle/>
          <a:p>
            <a:pPr algn="just"/>
            <a:r>
              <a:rPr lang="en-US" dirty="0" smtClean="0">
                <a:latin typeface="Cambria" panose="02040503050406030204" pitchFamily="18" charset="0"/>
                <a:ea typeface="Cambria" panose="02040503050406030204" pitchFamily="18" charset="0"/>
              </a:rPr>
              <a:t>It </a:t>
            </a:r>
            <a:r>
              <a:rPr lang="en-US" dirty="0">
                <a:latin typeface="Cambria" panose="02040503050406030204" pitchFamily="18" charset="0"/>
                <a:ea typeface="Cambria" panose="02040503050406030204" pitchFamily="18" charset="0"/>
              </a:rPr>
              <a:t>is one of the most important planning algorithms used by STRIPS.</a:t>
            </a:r>
          </a:p>
          <a:p>
            <a:pPr algn="just"/>
            <a:r>
              <a:rPr lang="en-US" dirty="0">
                <a:latin typeface="Cambria" panose="02040503050406030204" pitchFamily="18" charset="0"/>
                <a:ea typeface="Cambria" panose="02040503050406030204" pitchFamily="18" charset="0"/>
              </a:rPr>
              <a:t>Stacks are used in algorithms to capture the action and complete the target. A knowledge base is used to hold the current situation and actions.</a:t>
            </a:r>
          </a:p>
          <a:p>
            <a:pPr algn="just"/>
            <a:r>
              <a:rPr lang="en-US" dirty="0">
                <a:latin typeface="Cambria" panose="02040503050406030204" pitchFamily="18" charset="0"/>
                <a:ea typeface="Cambria" panose="02040503050406030204" pitchFamily="18" charset="0"/>
              </a:rPr>
              <a:t>A target stack is similar to a node in a search tree, where branches are created with a choice of action.</a:t>
            </a:r>
          </a:p>
          <a:p>
            <a:endParaRPr lang="en-US" dirty="0"/>
          </a:p>
        </p:txBody>
      </p:sp>
    </p:spTree>
    <p:extLst>
      <p:ext uri="{BB962C8B-B14F-4D97-AF65-F5344CB8AC3E}">
        <p14:creationId xmlns:p14="http://schemas.microsoft.com/office/powerpoint/2010/main" val="3785977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b="1" dirty="0" smtClean="0">
                <a:latin typeface="Cambria" panose="02040503050406030204" pitchFamily="18" charset="0"/>
                <a:ea typeface="Cambria" panose="02040503050406030204" pitchFamily="18" charset="0"/>
              </a:rPr>
              <a:t>The important steps of the algorithm are mentioned below:</a:t>
            </a:r>
            <a:r>
              <a:rPr lang="en-US" sz="3200" dirty="0" smtClean="0">
                <a:latin typeface="Cambria" panose="02040503050406030204" pitchFamily="18" charset="0"/>
                <a:ea typeface="Cambria" panose="02040503050406030204" pitchFamily="18" charset="0"/>
              </a:rPr>
              <a:t/>
            </a:r>
            <a:br>
              <a:rPr lang="en-US" sz="3200" dirty="0" smtClean="0">
                <a:latin typeface="Cambria" panose="02040503050406030204" pitchFamily="18" charset="0"/>
                <a:ea typeface="Cambria" panose="02040503050406030204" pitchFamily="18" charset="0"/>
              </a:rPr>
            </a:br>
            <a:endParaRPr lang="en-US" sz="32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algn="just"/>
            <a:r>
              <a:rPr lang="en-US" dirty="0" smtClean="0">
                <a:latin typeface="Cambria" panose="02040503050406030204" pitchFamily="18" charset="0"/>
                <a:ea typeface="Cambria" panose="02040503050406030204" pitchFamily="18" charset="0"/>
              </a:rPr>
              <a:t>Start </a:t>
            </a:r>
            <a:r>
              <a:rPr lang="en-US" dirty="0">
                <a:latin typeface="Cambria" panose="02040503050406030204" pitchFamily="18" charset="0"/>
                <a:ea typeface="Cambria" panose="02040503050406030204" pitchFamily="18" charset="0"/>
              </a:rPr>
              <a:t>by pushing the original target onto the stack. Repeat this until the pile is empty. If the stack top is a mixed target, push its unsatisfied sub-targets onto the stack.</a:t>
            </a:r>
          </a:p>
          <a:p>
            <a:pPr algn="just"/>
            <a:r>
              <a:rPr lang="en-US" dirty="0">
                <a:latin typeface="Cambria" panose="02040503050406030204" pitchFamily="18" charset="0"/>
                <a:ea typeface="Cambria" panose="02040503050406030204" pitchFamily="18" charset="0"/>
              </a:rPr>
              <a:t>If the stack top is a single unsatisfied target, replace it with action and push the action precondition to the stack to satisfy the condition.</a:t>
            </a:r>
          </a:p>
          <a:p>
            <a:pPr algn="just"/>
            <a:r>
              <a:rPr lang="en-US" dirty="0" smtClean="0">
                <a:latin typeface="Cambria" panose="02040503050406030204" pitchFamily="18" charset="0"/>
                <a:ea typeface="Cambria" panose="02040503050406030204" pitchFamily="18" charset="0"/>
              </a:rPr>
              <a:t>If </a:t>
            </a:r>
            <a:r>
              <a:rPr lang="en-US" dirty="0">
                <a:latin typeface="Cambria" panose="02040503050406030204" pitchFamily="18" charset="0"/>
                <a:ea typeface="Cambria" panose="02040503050406030204" pitchFamily="18" charset="0"/>
              </a:rPr>
              <a:t>the stack top is an action, pop it off the stack, execute it and replace the knowledge base with the action's effect</a:t>
            </a:r>
            <a:r>
              <a:rPr lang="en-US" dirty="0" smtClean="0">
                <a:latin typeface="Cambria" panose="02040503050406030204" pitchFamily="18" charset="0"/>
                <a:ea typeface="Cambria" panose="02040503050406030204" pitchFamily="18" charset="0"/>
              </a:rPr>
              <a:t>.</a:t>
            </a:r>
          </a:p>
          <a:p>
            <a:pPr algn="just"/>
            <a:r>
              <a:rPr lang="en-US" sz="2400" b="1" dirty="0">
                <a:latin typeface="Cambria" panose="02040503050406030204" pitchFamily="18" charset="0"/>
                <a:ea typeface="Cambria" panose="02040503050406030204" pitchFamily="18" charset="0"/>
              </a:rPr>
              <a:t>If the stack top is a satisfactory target, pop it off the stack</a:t>
            </a:r>
            <a:endParaRPr lang="en-US" sz="2400"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28866547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70709" y="309706"/>
            <a:ext cx="10515600" cy="1325563"/>
          </a:xfrm>
        </p:spPr>
        <p:txBody>
          <a:bodyPr/>
          <a:lstStyle/>
          <a:p>
            <a:pPr algn="ctr"/>
            <a:r>
              <a:rPr lang="en-US" dirty="0">
                <a:latin typeface="Cambria" panose="02040503050406030204" pitchFamily="18" charset="0"/>
                <a:ea typeface="Cambria" panose="02040503050406030204" pitchFamily="18" charset="0"/>
              </a:rPr>
              <a:t>First order logic</a:t>
            </a:r>
          </a:p>
        </p:txBody>
      </p:sp>
      <p:sp>
        <p:nvSpPr>
          <p:cNvPr id="3" name="Content Placeholder 2"/>
          <p:cNvSpPr>
            <a:spLocks noGrp="1"/>
          </p:cNvSpPr>
          <p:nvPr>
            <p:ph idx="1"/>
          </p:nvPr>
        </p:nvSpPr>
        <p:spPr/>
        <p:txBody>
          <a:bodyPr/>
          <a:lstStyle/>
          <a:p>
            <a:pPr algn="just"/>
            <a:r>
              <a:rPr lang="en-US" dirty="0">
                <a:latin typeface="Cambria" panose="02040503050406030204" pitchFamily="18" charset="0"/>
                <a:ea typeface="Cambria" panose="02040503050406030204" pitchFamily="18" charset="0"/>
              </a:rPr>
              <a:t>First-order logic is another way of knowledge representation in artificial intelligence. It is an extension to propositional logic.</a:t>
            </a:r>
          </a:p>
          <a:p>
            <a:pPr algn="just"/>
            <a:r>
              <a:rPr lang="en-US" dirty="0">
                <a:latin typeface="Cambria" panose="02040503050406030204" pitchFamily="18" charset="0"/>
                <a:ea typeface="Cambria" panose="02040503050406030204" pitchFamily="18" charset="0"/>
              </a:rPr>
              <a:t>FOL is sufficiently expressive to represent the natural language statements in a concise way.</a:t>
            </a:r>
          </a:p>
          <a:p>
            <a:pPr algn="just"/>
            <a:r>
              <a:rPr lang="en-US" dirty="0">
                <a:latin typeface="Cambria" panose="02040503050406030204" pitchFamily="18" charset="0"/>
                <a:ea typeface="Cambria" panose="02040503050406030204" pitchFamily="18" charset="0"/>
              </a:rPr>
              <a:t>First-order logic is also known as </a:t>
            </a:r>
            <a:r>
              <a:rPr lang="en-US" b="1" dirty="0">
                <a:latin typeface="Cambria" panose="02040503050406030204" pitchFamily="18" charset="0"/>
                <a:ea typeface="Cambria" panose="02040503050406030204" pitchFamily="18" charset="0"/>
              </a:rPr>
              <a:t>Predicate logic or First-order predicate logic</a:t>
            </a:r>
            <a:r>
              <a:rPr lang="en-US" dirty="0">
                <a:latin typeface="Cambria" panose="02040503050406030204" pitchFamily="18" charset="0"/>
                <a:ea typeface="Cambria" panose="02040503050406030204" pitchFamily="18" charset="0"/>
              </a:rPr>
              <a:t>. First-order logic is a powerful language that develops information about the objects in a more easy way and can also express the relationship between those objects.</a:t>
            </a:r>
          </a:p>
          <a:p>
            <a:pPr marL="0" indent="0">
              <a:buNone/>
            </a:pPr>
            <a:r>
              <a:rPr lang="en-US" dirty="0" smtClean="0"/>
              <a:t/>
            </a:r>
            <a:br>
              <a:rPr lang="en-US" dirty="0" smtClean="0"/>
            </a:br>
            <a:endParaRPr lang="en-US" dirty="0"/>
          </a:p>
        </p:txBody>
      </p:sp>
    </p:spTree>
    <p:extLst>
      <p:ext uri="{BB962C8B-B14F-4D97-AF65-F5344CB8AC3E}">
        <p14:creationId xmlns:p14="http://schemas.microsoft.com/office/powerpoint/2010/main" val="168434926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34291" y="675698"/>
            <a:ext cx="11236036" cy="5531138"/>
          </a:xfrm>
        </p:spPr>
        <p:txBody>
          <a:bodyPr>
            <a:normAutofit/>
          </a:bodyPr>
          <a:lstStyle/>
          <a:p>
            <a:pPr algn="just"/>
            <a:r>
              <a:rPr lang="en-US" dirty="0">
                <a:latin typeface="Cambria" panose="02040503050406030204" pitchFamily="18" charset="0"/>
                <a:ea typeface="Cambria" panose="02040503050406030204" pitchFamily="18" charset="0"/>
              </a:rPr>
              <a:t>First-order logic (like natural language) does not only assume that the world contains facts like propositional logic but also assumes the following things in the world:</a:t>
            </a:r>
          </a:p>
          <a:p>
            <a:pPr lvl="1" algn="just"/>
            <a:r>
              <a:rPr lang="en-US" sz="2800" dirty="0">
                <a:latin typeface="Cambria" panose="02040503050406030204" pitchFamily="18" charset="0"/>
                <a:ea typeface="Cambria" panose="02040503050406030204" pitchFamily="18" charset="0"/>
              </a:rPr>
              <a:t>Objects: A, B, people, numbers, colors, wars, theories, squares, pits, </a:t>
            </a:r>
            <a:r>
              <a:rPr lang="en-US" sz="2800" dirty="0" err="1">
                <a:latin typeface="Cambria" panose="02040503050406030204" pitchFamily="18" charset="0"/>
                <a:ea typeface="Cambria" panose="02040503050406030204" pitchFamily="18" charset="0"/>
              </a:rPr>
              <a:t>wumpus</a:t>
            </a:r>
            <a:r>
              <a:rPr lang="en-US" sz="2800" dirty="0">
                <a:latin typeface="Cambria" panose="02040503050406030204" pitchFamily="18" charset="0"/>
                <a:ea typeface="Cambria" panose="02040503050406030204" pitchFamily="18" charset="0"/>
              </a:rPr>
              <a:t>, ......</a:t>
            </a:r>
          </a:p>
          <a:p>
            <a:pPr lvl="1" algn="just"/>
            <a:r>
              <a:rPr lang="en-US" sz="2800" dirty="0">
                <a:latin typeface="Cambria" panose="02040503050406030204" pitchFamily="18" charset="0"/>
                <a:ea typeface="Cambria" panose="02040503050406030204" pitchFamily="18" charset="0"/>
              </a:rPr>
              <a:t>Relations: It can be unary relation such as: red, round, is adjacent, or n-any relation such as: the sister of, brother of, has color, comes between</a:t>
            </a:r>
          </a:p>
          <a:p>
            <a:pPr lvl="1" algn="just"/>
            <a:r>
              <a:rPr lang="en-US" sz="2800" dirty="0">
                <a:latin typeface="Cambria" panose="02040503050406030204" pitchFamily="18" charset="0"/>
                <a:ea typeface="Cambria" panose="02040503050406030204" pitchFamily="18" charset="0"/>
              </a:rPr>
              <a:t>Function: Father of, best friend, third inning of, end of, ......</a:t>
            </a:r>
          </a:p>
          <a:p>
            <a:pPr algn="just"/>
            <a:r>
              <a:rPr lang="en-US" dirty="0">
                <a:latin typeface="Cambria" panose="02040503050406030204" pitchFamily="18" charset="0"/>
                <a:ea typeface="Cambria" panose="02040503050406030204" pitchFamily="18" charset="0"/>
              </a:rPr>
              <a:t>As a natural language, first-order logic also has two main parts:</a:t>
            </a:r>
          </a:p>
          <a:p>
            <a:pPr lvl="1" algn="just"/>
            <a:r>
              <a:rPr lang="en-US" sz="2800" dirty="0">
                <a:latin typeface="Cambria" panose="02040503050406030204" pitchFamily="18" charset="0"/>
                <a:ea typeface="Cambria" panose="02040503050406030204" pitchFamily="18" charset="0"/>
              </a:rPr>
              <a:t>Syntax</a:t>
            </a:r>
          </a:p>
          <a:p>
            <a:pPr lvl="1" algn="just"/>
            <a:r>
              <a:rPr lang="en-US" sz="2800" dirty="0">
                <a:latin typeface="Cambria" panose="02040503050406030204" pitchFamily="18" charset="0"/>
                <a:ea typeface="Cambria" panose="02040503050406030204" pitchFamily="18" charset="0"/>
              </a:rPr>
              <a:t>Semantics</a:t>
            </a:r>
          </a:p>
          <a:p>
            <a:endParaRPr lang="en-US" dirty="0"/>
          </a:p>
        </p:txBody>
      </p:sp>
    </p:spTree>
    <p:extLst>
      <p:ext uri="{BB962C8B-B14F-4D97-AF65-F5344CB8AC3E}">
        <p14:creationId xmlns:p14="http://schemas.microsoft.com/office/powerpoint/2010/main" val="396952768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582" y="152400"/>
            <a:ext cx="10515600" cy="1325563"/>
          </a:xfrm>
        </p:spPr>
        <p:txBody>
          <a:bodyPr/>
          <a:lstStyle/>
          <a:p>
            <a:pPr algn="ctr"/>
            <a:r>
              <a:rPr lang="en-US" dirty="0" smtClean="0">
                <a:latin typeface="Cambria" panose="02040503050406030204" pitchFamily="18" charset="0"/>
                <a:ea typeface="Cambria" panose="02040503050406030204" pitchFamily="18" charset="0"/>
              </a:rPr>
              <a:t>Fundamentals of First-Order Logic</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47254" y="1208015"/>
            <a:ext cx="11242964" cy="4351338"/>
          </a:xfrm>
        </p:spPr>
        <p:txBody>
          <a:bodyPr>
            <a:noAutofit/>
          </a:bodyPr>
          <a:lstStyle/>
          <a:p>
            <a:pPr algn="just"/>
            <a:r>
              <a:rPr lang="en-US" sz="2400" dirty="0" smtClean="0">
                <a:latin typeface="Cambria" panose="02040503050406030204" pitchFamily="18" charset="0"/>
                <a:ea typeface="Cambria" panose="02040503050406030204" pitchFamily="18" charset="0"/>
              </a:rPr>
              <a:t>First-order logic extends propositional logic by incorporating quantifiers and predicates, allowing for more expressive statements about the world. </a:t>
            </a:r>
          </a:p>
          <a:p>
            <a:pPr marL="0" indent="0" algn="just">
              <a:buNone/>
            </a:pPr>
            <a:r>
              <a:rPr lang="en-US" sz="2400" dirty="0" smtClean="0">
                <a:latin typeface="Cambria" panose="02040503050406030204" pitchFamily="18" charset="0"/>
                <a:ea typeface="Cambria" panose="02040503050406030204" pitchFamily="18" charset="0"/>
              </a:rPr>
              <a:t>The key components of FOL include constants, variables, predicates, functions, quantifiers, and logical connectives.</a:t>
            </a:r>
          </a:p>
          <a:p>
            <a:pPr marL="0" indent="0" algn="just">
              <a:buNone/>
            </a:pPr>
            <a:r>
              <a:rPr lang="en-US" sz="2400" dirty="0" smtClean="0">
                <a:latin typeface="Cambria" panose="02040503050406030204" pitchFamily="18" charset="0"/>
                <a:ea typeface="Cambria" panose="02040503050406030204" pitchFamily="18" charset="0"/>
              </a:rPr>
              <a:t>1. Constants: Constants represent specific objects within the domain of discourse. For example, in a given domain, Alice, 2, and </a:t>
            </a:r>
            <a:r>
              <a:rPr lang="en-US" sz="2400" dirty="0" err="1" smtClean="0">
                <a:latin typeface="Cambria" panose="02040503050406030204" pitchFamily="18" charset="0"/>
                <a:ea typeface="Cambria" panose="02040503050406030204" pitchFamily="18" charset="0"/>
              </a:rPr>
              <a:t>NewYork</a:t>
            </a:r>
            <a:r>
              <a:rPr lang="en-US" sz="2400" dirty="0" smtClean="0">
                <a:latin typeface="Cambria" panose="02040503050406030204" pitchFamily="18" charset="0"/>
                <a:ea typeface="Cambria" panose="02040503050406030204" pitchFamily="18" charset="0"/>
              </a:rPr>
              <a:t> could be constants.</a:t>
            </a:r>
          </a:p>
          <a:p>
            <a:pPr marL="0" indent="0" algn="just">
              <a:buNone/>
            </a:pPr>
            <a:r>
              <a:rPr lang="en-US" sz="2400" dirty="0" smtClean="0">
                <a:latin typeface="Cambria" panose="02040503050406030204" pitchFamily="18" charset="0"/>
                <a:ea typeface="Cambria" panose="02040503050406030204" pitchFamily="18" charset="0"/>
              </a:rPr>
              <a:t>2. Variables: Variables stand for unspecified objects in the domain. Commonly used symbols for variables include x, y, and z.</a:t>
            </a:r>
          </a:p>
          <a:p>
            <a:pPr marL="0" indent="0" algn="just">
              <a:buNone/>
            </a:pPr>
            <a:r>
              <a:rPr lang="en-US" sz="2400" dirty="0" smtClean="0">
                <a:latin typeface="Cambria" panose="02040503050406030204" pitchFamily="18" charset="0"/>
                <a:ea typeface="Cambria" panose="02040503050406030204" pitchFamily="18" charset="0"/>
              </a:rPr>
              <a:t>3. Predicates: Predicates are functions that return true or false, representing properties of objects or relationships between them. For example, Likes(Alice, Bob) indicates that Alice likes Bob, and </a:t>
            </a:r>
            <a:r>
              <a:rPr lang="en-US" sz="2400" dirty="0" err="1" smtClean="0">
                <a:latin typeface="Cambria" panose="02040503050406030204" pitchFamily="18" charset="0"/>
                <a:ea typeface="Cambria" panose="02040503050406030204" pitchFamily="18" charset="0"/>
              </a:rPr>
              <a:t>GreaterThan</a:t>
            </a:r>
            <a:r>
              <a:rPr lang="en-US" sz="2400" dirty="0" smtClean="0">
                <a:latin typeface="Cambria" panose="02040503050406030204" pitchFamily="18" charset="0"/>
                <a:ea typeface="Cambria" panose="02040503050406030204" pitchFamily="18" charset="0"/>
              </a:rPr>
              <a:t>(x, 2) means that x is greater than 2.</a:t>
            </a:r>
          </a:p>
          <a:p>
            <a:pPr marL="0" indent="0" algn="just">
              <a:buNone/>
            </a:pPr>
            <a:r>
              <a:rPr lang="en-US" sz="2400" dirty="0" smtClean="0">
                <a:latin typeface="Cambria" panose="02040503050406030204" pitchFamily="18" charset="0"/>
                <a:ea typeface="Cambria" panose="02040503050406030204" pitchFamily="18" charset="0"/>
              </a:rPr>
              <a:t>4. Functions: Functions map objects to other objects. For instance, </a:t>
            </a:r>
            <a:r>
              <a:rPr lang="en-US" sz="2400" dirty="0" err="1" smtClean="0">
                <a:latin typeface="Cambria" panose="02040503050406030204" pitchFamily="18" charset="0"/>
                <a:ea typeface="Cambria" panose="02040503050406030204" pitchFamily="18" charset="0"/>
              </a:rPr>
              <a:t>MotherOf</a:t>
            </a:r>
            <a:r>
              <a:rPr lang="en-US" sz="2400" dirty="0" smtClean="0">
                <a:latin typeface="Cambria" panose="02040503050406030204" pitchFamily="18" charset="0"/>
                <a:ea typeface="Cambria" panose="02040503050406030204" pitchFamily="18" charset="0"/>
              </a:rPr>
              <a:t>(x) might denote the mother of x.</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729111379"/>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8927" y="772679"/>
            <a:ext cx="10577946" cy="5101647"/>
          </a:xfrm>
        </p:spPr>
        <p:txBody>
          <a:bodyPr>
            <a:normAutofit fontScale="92500" lnSpcReduction="10000"/>
          </a:bodyPr>
          <a:lstStyle/>
          <a:p>
            <a:pPr marL="0" indent="0" algn="just">
              <a:buNone/>
            </a:pPr>
            <a:r>
              <a:rPr lang="en-US" dirty="0" smtClean="0">
                <a:latin typeface="Cambria" panose="02040503050406030204" pitchFamily="18" charset="0"/>
                <a:ea typeface="Cambria" panose="02040503050406030204" pitchFamily="18" charset="0"/>
              </a:rPr>
              <a:t>5. Quantifiers: Quantifiers specify the scope of variables. The two main quantifiers are:</a:t>
            </a:r>
          </a:p>
          <a:p>
            <a:pPr algn="just"/>
            <a:r>
              <a:rPr lang="en-US" dirty="0" smtClean="0">
                <a:latin typeface="Cambria" panose="02040503050406030204" pitchFamily="18" charset="0"/>
                <a:ea typeface="Cambria" panose="02040503050406030204" pitchFamily="18" charset="0"/>
              </a:rPr>
              <a:t>Universal Quantifier (∀): Indicates that a predicate applies to all elements in the domain.</a:t>
            </a:r>
          </a:p>
          <a:p>
            <a:pPr algn="just"/>
            <a:r>
              <a:rPr lang="en-US" dirty="0" smtClean="0">
                <a:latin typeface="Cambria" panose="02040503050406030204" pitchFamily="18" charset="0"/>
                <a:ea typeface="Cambria" panose="02040503050406030204" pitchFamily="18" charset="0"/>
              </a:rPr>
              <a:t>For example, ∀x (Person(x) → Mortal(x)) means “All persons are mortal.”</a:t>
            </a:r>
          </a:p>
          <a:p>
            <a:pPr algn="just"/>
            <a:r>
              <a:rPr lang="en-US" dirty="0" smtClean="0">
                <a:latin typeface="Cambria" panose="02040503050406030204" pitchFamily="18" charset="0"/>
                <a:ea typeface="Cambria" panose="02040503050406030204" pitchFamily="18" charset="0"/>
              </a:rPr>
              <a:t>Existential Quantifier (∃): Indicates that there is at least one element in the domain for which the predicate holds.</a:t>
            </a:r>
          </a:p>
          <a:p>
            <a:pPr algn="just"/>
            <a:r>
              <a:rPr lang="en-US" dirty="0" smtClean="0">
                <a:latin typeface="Cambria" panose="02040503050406030204" pitchFamily="18" charset="0"/>
                <a:ea typeface="Cambria" panose="02040503050406030204" pitchFamily="18" charset="0"/>
              </a:rPr>
              <a:t>For example, ∃x (Person(x) ∧ Likes(x, </a:t>
            </a:r>
            <a:r>
              <a:rPr lang="en-US" dirty="0" err="1" smtClean="0">
                <a:latin typeface="Cambria" panose="02040503050406030204" pitchFamily="18" charset="0"/>
                <a:ea typeface="Cambria" panose="02040503050406030204" pitchFamily="18" charset="0"/>
              </a:rPr>
              <a:t>IceCream</a:t>
            </a:r>
            <a:r>
              <a:rPr lang="en-US" dirty="0" smtClean="0">
                <a:latin typeface="Cambria" panose="02040503050406030204" pitchFamily="18" charset="0"/>
                <a:ea typeface="Cambria" panose="02040503050406030204" pitchFamily="18" charset="0"/>
              </a:rPr>
              <a:t>)) means “There exists a person who likes ice cream.”</a:t>
            </a:r>
          </a:p>
          <a:p>
            <a:pPr marL="0" indent="0" algn="just">
              <a:buNone/>
            </a:pPr>
            <a:r>
              <a:rPr lang="en-US" dirty="0" smtClean="0">
                <a:latin typeface="Cambria" panose="02040503050406030204" pitchFamily="18" charset="0"/>
                <a:ea typeface="Cambria" panose="02040503050406030204" pitchFamily="18" charset="0"/>
              </a:rPr>
              <a:t>6. Logical Connectives: Logical connectives include conjunction (∧), disjunction (∨), implication (→), </a:t>
            </a:r>
            <a:r>
              <a:rPr lang="en-US" dirty="0" err="1" smtClean="0">
                <a:latin typeface="Cambria" panose="02040503050406030204" pitchFamily="18" charset="0"/>
                <a:ea typeface="Cambria" panose="02040503050406030204" pitchFamily="18" charset="0"/>
              </a:rPr>
              <a:t>biconditional</a:t>
            </a:r>
            <a:r>
              <a:rPr lang="en-US" dirty="0" smtClean="0">
                <a:latin typeface="Cambria" panose="02040503050406030204" pitchFamily="18" charset="0"/>
                <a:ea typeface="Cambria" panose="02040503050406030204" pitchFamily="18" charset="0"/>
              </a:rPr>
              <a:t> (↔), and negation (¬). </a:t>
            </a:r>
          </a:p>
          <a:p>
            <a:pPr algn="just"/>
            <a:r>
              <a:rPr lang="en-US" dirty="0" smtClean="0">
                <a:latin typeface="Cambria" panose="02040503050406030204" pitchFamily="18" charset="0"/>
                <a:ea typeface="Cambria" panose="02040503050406030204" pitchFamily="18" charset="0"/>
              </a:rPr>
              <a:t>These connectives are used to form complex logical statements.</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2680948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Syntax and Semantics of First-Order Logic</a:t>
            </a:r>
            <a:br>
              <a:rPr lang="en-US" b="1" dirty="0" smtClean="0"/>
            </a:br>
            <a:endParaRPr lang="en-US" dirty="0"/>
          </a:p>
        </p:txBody>
      </p:sp>
      <p:sp>
        <p:nvSpPr>
          <p:cNvPr id="3" name="Content Placeholder 2"/>
          <p:cNvSpPr>
            <a:spLocks noGrp="1"/>
          </p:cNvSpPr>
          <p:nvPr>
            <p:ph idx="1"/>
          </p:nvPr>
        </p:nvSpPr>
        <p:spPr>
          <a:xfrm>
            <a:off x="658091" y="1562388"/>
            <a:ext cx="10515600" cy="4351338"/>
          </a:xfrm>
        </p:spPr>
        <p:txBody>
          <a:bodyPr>
            <a:normAutofit/>
          </a:bodyPr>
          <a:lstStyle/>
          <a:p>
            <a:pPr algn="just" fontAlgn="base"/>
            <a:r>
              <a:rPr lang="en-US" dirty="0" smtClean="0">
                <a:latin typeface="Cambria" panose="02040503050406030204" pitchFamily="18" charset="0"/>
                <a:ea typeface="Cambria" panose="02040503050406030204" pitchFamily="18" charset="0"/>
              </a:rPr>
              <a:t>The </a:t>
            </a:r>
            <a:r>
              <a:rPr lang="en-US" dirty="0">
                <a:latin typeface="Cambria" panose="02040503050406030204" pitchFamily="18" charset="0"/>
                <a:ea typeface="Cambria" panose="02040503050406030204" pitchFamily="18" charset="0"/>
              </a:rPr>
              <a:t>syntax of first-order logic specifies the rules for constructing valid expressions, including terms and formulas. Terms are expressions that refer to objects and include constants, variables, and functions. Formulas are logical statements formed by combining predicates, terms, quantifiers, and logical connectives.</a:t>
            </a:r>
          </a:p>
          <a:p>
            <a:pPr algn="just" fontAlgn="base"/>
            <a:r>
              <a:rPr lang="en-US" dirty="0">
                <a:latin typeface="Cambria" panose="02040503050406030204" pitchFamily="18" charset="0"/>
                <a:ea typeface="Cambria" panose="02040503050406030204" pitchFamily="18" charset="0"/>
              </a:rPr>
              <a:t>The semantics of FOL define the meaning of the expressions. An interpretation assigns a domain of discourse and provides meaning to the constants, functions, and predicates. A formula is considered true under an interpretation if it accurately describes the relationships and properties of the objects in the domain.</a:t>
            </a:r>
          </a:p>
          <a:p>
            <a:endParaRPr lang="en-US" dirty="0"/>
          </a:p>
        </p:txBody>
      </p:sp>
    </p:spTree>
    <p:extLst>
      <p:ext uri="{BB962C8B-B14F-4D97-AF65-F5344CB8AC3E}">
        <p14:creationId xmlns:p14="http://schemas.microsoft.com/office/powerpoint/2010/main" val="1670000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First-Order Logic in AI</a:t>
            </a:r>
            <a:br>
              <a:rPr lang="en-US" b="1" dirty="0"/>
            </a:br>
            <a:endParaRPr lang="en-US" dirty="0"/>
          </a:p>
        </p:txBody>
      </p:sp>
      <p:sp>
        <p:nvSpPr>
          <p:cNvPr id="3" name="Content Placeholder 2"/>
          <p:cNvSpPr>
            <a:spLocks noGrp="1"/>
          </p:cNvSpPr>
          <p:nvPr>
            <p:ph idx="1"/>
          </p:nvPr>
        </p:nvSpPr>
        <p:spPr>
          <a:xfrm>
            <a:off x="484909" y="1219200"/>
            <a:ext cx="11000509" cy="5237018"/>
          </a:xfrm>
        </p:spPr>
        <p:txBody>
          <a:bodyPr>
            <a:normAutofit fontScale="62500" lnSpcReduction="20000"/>
          </a:bodyPr>
          <a:lstStyle/>
          <a:p>
            <a:pPr algn="just" fontAlgn="base">
              <a:lnSpc>
                <a:spcPct val="120000"/>
              </a:lnSpc>
            </a:pPr>
            <a:r>
              <a:rPr lang="en-US" b="1" dirty="0">
                <a:latin typeface="Cambria" panose="02040503050406030204" pitchFamily="18" charset="0"/>
                <a:ea typeface="Cambria" panose="02040503050406030204" pitchFamily="18" charset="0"/>
              </a:rPr>
              <a:t>Knowledge Representation</a:t>
            </a:r>
            <a:r>
              <a:rPr lang="en-US" dirty="0">
                <a:latin typeface="Cambria" panose="02040503050406030204" pitchFamily="18" charset="0"/>
                <a:ea typeface="Cambria" panose="02040503050406030204" pitchFamily="18" charset="0"/>
              </a:rPr>
              <a:t>: FOL provides a robust framework for representing complex relationships and properties of objects. For example, in a medical diagnosis system, predicates can represent symptoms, diseases, and their relationships, allowing the system to reason about potential diagnoses.</a:t>
            </a:r>
          </a:p>
          <a:p>
            <a:pPr algn="just" fontAlgn="base">
              <a:lnSpc>
                <a:spcPct val="120000"/>
              </a:lnSpc>
            </a:pPr>
            <a:r>
              <a:rPr lang="en-US" b="1" dirty="0">
                <a:latin typeface="Cambria" panose="02040503050406030204" pitchFamily="18" charset="0"/>
                <a:ea typeface="Cambria" panose="02040503050406030204" pitchFamily="18" charset="0"/>
              </a:rPr>
              <a:t>Automated Theorem Proving</a:t>
            </a:r>
            <a:r>
              <a:rPr lang="en-US" dirty="0">
                <a:latin typeface="Cambria" panose="02040503050406030204" pitchFamily="18" charset="0"/>
                <a:ea typeface="Cambria" panose="02040503050406030204" pitchFamily="18" charset="0"/>
              </a:rPr>
              <a:t>: Automated theorem proving involves using algorithms to prove mathematical theorems. FOL provides the foundational structure for many theorem proving systems, enabling them to verify software and hardware correctness, prove mathematical theorems, and more.</a:t>
            </a:r>
          </a:p>
          <a:p>
            <a:pPr algn="just" fontAlgn="base">
              <a:lnSpc>
                <a:spcPct val="120000"/>
              </a:lnSpc>
            </a:pPr>
            <a:r>
              <a:rPr lang="en-US" b="1" u="sng" dirty="0">
                <a:latin typeface="Cambria" panose="02040503050406030204" pitchFamily="18" charset="0"/>
                <a:ea typeface="Cambria" panose="02040503050406030204" pitchFamily="18" charset="0"/>
                <a:hlinkClick r:id="rId2"/>
              </a:rPr>
              <a:t>Natural Language Processing (NLP)</a:t>
            </a:r>
            <a:r>
              <a:rPr lang="en-US" dirty="0">
                <a:latin typeface="Cambria" panose="02040503050406030204" pitchFamily="18" charset="0"/>
                <a:ea typeface="Cambria" panose="02040503050406030204" pitchFamily="18" charset="0"/>
              </a:rPr>
              <a:t>: In NLP, FOL is used to parse and understand natural language by representing the meaning of sentences in a formal, logical manner. This allows AI systems to perform tasks such as question answering, machine translation, and text summarization.</a:t>
            </a:r>
          </a:p>
          <a:p>
            <a:pPr algn="just" fontAlgn="base">
              <a:lnSpc>
                <a:spcPct val="120000"/>
              </a:lnSpc>
            </a:pPr>
            <a:r>
              <a:rPr lang="en-US" b="1" u="sng" dirty="0">
                <a:latin typeface="Cambria" panose="02040503050406030204" pitchFamily="18" charset="0"/>
                <a:ea typeface="Cambria" panose="02040503050406030204" pitchFamily="18" charset="0"/>
                <a:hlinkClick r:id="rId3"/>
              </a:rPr>
              <a:t>Expert Systems</a:t>
            </a:r>
            <a:r>
              <a:rPr lang="en-US" dirty="0">
                <a:latin typeface="Cambria" panose="02040503050406030204" pitchFamily="18" charset="0"/>
                <a:ea typeface="Cambria" panose="02040503050406030204" pitchFamily="18" charset="0"/>
              </a:rPr>
              <a:t>: Expert systems encode expert knowledge using FOL and reason about it to make decisions. For example, a legal expert system might use FOL to represent legal rules and infer outcomes based on given facts, aiding in legal decision-making processes.</a:t>
            </a:r>
          </a:p>
          <a:p>
            <a:pPr algn="just" fontAlgn="base">
              <a:lnSpc>
                <a:spcPct val="120000"/>
              </a:lnSpc>
            </a:pPr>
            <a:r>
              <a:rPr lang="en-US" b="1" u="sng" dirty="0">
                <a:latin typeface="Cambria" panose="02040503050406030204" pitchFamily="18" charset="0"/>
                <a:ea typeface="Cambria" panose="02040503050406030204" pitchFamily="18" charset="0"/>
                <a:hlinkClick r:id="rId4"/>
              </a:rPr>
              <a:t>Semantic Web</a:t>
            </a:r>
            <a:r>
              <a:rPr lang="en-US" dirty="0">
                <a:latin typeface="Cambria" panose="02040503050406030204" pitchFamily="18" charset="0"/>
                <a:ea typeface="Cambria" panose="02040503050406030204" pitchFamily="18" charset="0"/>
              </a:rPr>
              <a:t>: The Semantic Web uses FOL to describe relationships between web resources, enabling more intelligent information retrieval and processing. This enhances the ability of AI systems to understand and interact with web content.</a:t>
            </a:r>
          </a:p>
          <a:p>
            <a:endParaRPr lang="en-US" dirty="0"/>
          </a:p>
        </p:txBody>
      </p:sp>
    </p:spTree>
    <p:extLst>
      <p:ext uri="{BB962C8B-B14F-4D97-AF65-F5344CB8AC3E}">
        <p14:creationId xmlns:p14="http://schemas.microsoft.com/office/powerpoint/2010/main" val="7086017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46" y="129598"/>
            <a:ext cx="10515600" cy="1325563"/>
          </a:xfrm>
        </p:spPr>
        <p:txBody>
          <a:bodyPr>
            <a:normAutofit fontScale="90000"/>
          </a:bodyPr>
          <a:lstStyle/>
          <a:p>
            <a:r>
              <a:rPr lang="en-US" dirty="0" smtClean="0"/>
              <a:t>Example: Using First-Order Logic for Reasoning</a:t>
            </a:r>
            <a:br>
              <a:rPr lang="en-US" dirty="0" smtClean="0"/>
            </a:br>
            <a:endParaRPr lang="en-US" dirty="0"/>
          </a:p>
        </p:txBody>
      </p:sp>
      <p:sp>
        <p:nvSpPr>
          <p:cNvPr id="3" name="Content Placeholder 2"/>
          <p:cNvSpPr>
            <a:spLocks noGrp="1"/>
          </p:cNvSpPr>
          <p:nvPr>
            <p:ph idx="1"/>
          </p:nvPr>
        </p:nvSpPr>
        <p:spPr>
          <a:xfrm>
            <a:off x="318656" y="1160607"/>
            <a:ext cx="11526980" cy="4351338"/>
          </a:xfrm>
        </p:spPr>
        <p:txBody>
          <a:bodyPr>
            <a:noAutofit/>
          </a:bodyPr>
          <a:lstStyle/>
          <a:p>
            <a:pPr marL="0" indent="0">
              <a:buNone/>
            </a:pPr>
            <a:r>
              <a:rPr lang="en-US" sz="2400" dirty="0" smtClean="0">
                <a:latin typeface="Cambria" panose="02040503050406030204" pitchFamily="18" charset="0"/>
                <a:ea typeface="Cambria" panose="02040503050406030204" pitchFamily="18" charset="0"/>
              </a:rPr>
              <a:t>To illustrate the use of FOL in reasoning, consider the following knowledge base:</a:t>
            </a:r>
          </a:p>
          <a:p>
            <a:pPr marL="0" indent="0">
              <a:buNone/>
            </a:pP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∀x (Cat(x) → Mammal(x)) (All cats are mammals)</a:t>
            </a:r>
          </a:p>
          <a:p>
            <a:pPr marL="0" indent="0">
              <a:buNone/>
            </a:pPr>
            <a:r>
              <a:rPr lang="en-US" sz="2400" dirty="0" smtClean="0">
                <a:latin typeface="Cambria" panose="02040503050406030204" pitchFamily="18" charset="0"/>
                <a:ea typeface="Cambria" panose="02040503050406030204" pitchFamily="18" charset="0"/>
              </a:rPr>
              <a:t>∀x (Mammal(x) → Animal(x)) (All mammals are animals)</a:t>
            </a:r>
          </a:p>
          <a:p>
            <a:pPr marL="0" indent="0">
              <a:buNone/>
            </a:pPr>
            <a:r>
              <a:rPr lang="en-US" sz="2400" dirty="0" smtClean="0">
                <a:latin typeface="Cambria" panose="02040503050406030204" pitchFamily="18" charset="0"/>
                <a:ea typeface="Cambria" panose="02040503050406030204" pitchFamily="18" charset="0"/>
              </a:rPr>
              <a:t>Cat(Tom) (Tom is a cat)</a:t>
            </a:r>
          </a:p>
          <a:p>
            <a:pPr marL="0" indent="0">
              <a:buNone/>
            </a:pPr>
            <a:r>
              <a:rPr lang="en-US" sz="2400" dirty="0" smtClean="0">
                <a:latin typeface="Cambria" panose="02040503050406030204" pitchFamily="18" charset="0"/>
                <a:ea typeface="Cambria" panose="02040503050406030204" pitchFamily="18" charset="0"/>
              </a:rPr>
              <a:t>From these statements, we can infer:</a:t>
            </a:r>
          </a:p>
          <a:p>
            <a:pPr marL="0" indent="0">
              <a:buNone/>
            </a:pPr>
            <a:r>
              <a:rPr lang="en-US" sz="2400" dirty="0" smtClean="0">
                <a:latin typeface="Cambria" panose="02040503050406030204" pitchFamily="18" charset="0"/>
                <a:ea typeface="Cambria" panose="02040503050406030204" pitchFamily="18" charset="0"/>
              </a:rPr>
              <a:t>Mammal(Tom) (Since Tom is a cat, and all cats are mammals)</a:t>
            </a:r>
          </a:p>
          <a:p>
            <a:pPr marL="0" indent="0">
              <a:buNone/>
            </a:pPr>
            <a:r>
              <a:rPr lang="en-US" sz="2400" dirty="0" smtClean="0">
                <a:latin typeface="Cambria" panose="02040503050406030204" pitchFamily="18" charset="0"/>
                <a:ea typeface="Cambria" panose="02040503050406030204" pitchFamily="18" charset="0"/>
              </a:rPr>
              <a:t>Animal(Tom) (Since Tom is a mammal, and all mammals are animals)</a:t>
            </a:r>
          </a:p>
          <a:p>
            <a:pPr marL="0" indent="0">
              <a:buNone/>
            </a:pPr>
            <a:r>
              <a:rPr lang="en-US" sz="2400" dirty="0" smtClean="0">
                <a:latin typeface="Cambria" panose="02040503050406030204" pitchFamily="18" charset="0"/>
                <a:ea typeface="Cambria" panose="02040503050406030204" pitchFamily="18" charset="0"/>
              </a:rPr>
              <a:t>These inferences demonstrate how FOL can be used to derive new knowledge from existing facts. </a:t>
            </a:r>
          </a:p>
          <a:p>
            <a:pPr marL="0" indent="0">
              <a:buNone/>
            </a:pPr>
            <a:r>
              <a:rPr lang="en-US" sz="2400" dirty="0" smtClean="0">
                <a:latin typeface="Cambria" panose="02040503050406030204" pitchFamily="18" charset="0"/>
                <a:ea typeface="Cambria" panose="02040503050406030204" pitchFamily="18" charset="0"/>
              </a:rPr>
              <a:t>The ability to reason logically about relationships and properties is a key strength of FOL in AI.</a:t>
            </a:r>
            <a:endParaRPr lang="en-US"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2094921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Challenges and Limitations</a:t>
            </a:r>
            <a:br>
              <a:rPr lang="en-US" b="1" dirty="0" smtClean="0"/>
            </a:br>
            <a:endParaRPr lang="en-US" dirty="0"/>
          </a:p>
        </p:txBody>
      </p:sp>
      <p:sp>
        <p:nvSpPr>
          <p:cNvPr id="3" name="Content Placeholder 2"/>
          <p:cNvSpPr>
            <a:spLocks noGrp="1"/>
          </p:cNvSpPr>
          <p:nvPr>
            <p:ph idx="1"/>
          </p:nvPr>
        </p:nvSpPr>
        <p:spPr>
          <a:xfrm>
            <a:off x="644236" y="1313007"/>
            <a:ext cx="10709564" cy="5004666"/>
          </a:xfrm>
        </p:spPr>
        <p:txBody>
          <a:bodyPr>
            <a:normAutofit fontScale="85000" lnSpcReduction="10000"/>
          </a:bodyPr>
          <a:lstStyle/>
          <a:p>
            <a:pPr marL="0" indent="0" algn="just" fontAlgn="base">
              <a:lnSpc>
                <a:spcPct val="110000"/>
              </a:lnSpc>
              <a:buNone/>
            </a:pPr>
            <a:r>
              <a:rPr lang="en-US" dirty="0" smtClean="0">
                <a:latin typeface="Cambria" panose="02040503050406030204" pitchFamily="18" charset="0"/>
                <a:ea typeface="Cambria" panose="02040503050406030204" pitchFamily="18" charset="0"/>
              </a:rPr>
              <a:t>Despite </a:t>
            </a:r>
            <a:r>
              <a:rPr lang="en-US" dirty="0">
                <a:latin typeface="Cambria" panose="02040503050406030204" pitchFamily="18" charset="0"/>
                <a:ea typeface="Cambria" panose="02040503050406030204" pitchFamily="18" charset="0"/>
              </a:rPr>
              <a:t>its power and expressiveness, FOL has some limitations and challenges:</a:t>
            </a:r>
          </a:p>
          <a:p>
            <a:pPr algn="just" fontAlgn="base">
              <a:lnSpc>
                <a:spcPct val="110000"/>
              </a:lnSpc>
            </a:pPr>
            <a:r>
              <a:rPr lang="en-US" b="1" dirty="0">
                <a:latin typeface="Cambria" panose="02040503050406030204" pitchFamily="18" charset="0"/>
                <a:ea typeface="Cambria" panose="02040503050406030204" pitchFamily="18" charset="0"/>
              </a:rPr>
              <a:t>Computational Complexity</a:t>
            </a:r>
            <a:r>
              <a:rPr lang="en-US" dirty="0">
                <a:latin typeface="Cambria" panose="02040503050406030204" pitchFamily="18" charset="0"/>
                <a:ea typeface="Cambria" panose="02040503050406030204" pitchFamily="18" charset="0"/>
              </a:rPr>
              <a:t>: Reasoning in FOL can be computationally expensive, particularly for large knowledge bases. Finding efficient algorithms for reasoning in FOL is an ongoing research area in AI.</a:t>
            </a:r>
          </a:p>
          <a:p>
            <a:pPr algn="just" fontAlgn="base">
              <a:lnSpc>
                <a:spcPct val="110000"/>
              </a:lnSpc>
            </a:pPr>
            <a:r>
              <a:rPr lang="en-US" b="1" dirty="0">
                <a:latin typeface="Cambria" panose="02040503050406030204" pitchFamily="18" charset="0"/>
                <a:ea typeface="Cambria" panose="02040503050406030204" pitchFamily="18" charset="0"/>
              </a:rPr>
              <a:t>Expressiveness vs. Decidability</a:t>
            </a:r>
            <a:r>
              <a:rPr lang="en-US" dirty="0">
                <a:latin typeface="Cambria" panose="02040503050406030204" pitchFamily="18" charset="0"/>
                <a:ea typeface="Cambria" panose="02040503050406030204" pitchFamily="18" charset="0"/>
              </a:rPr>
              <a:t>: While FOL is more expressive than propositional logic, it is also undecidable, meaning there is no general algorithm that can determine the truth of all FOL statements. This trade-off between expressiveness and decidability is a key consideration in AI.</a:t>
            </a:r>
          </a:p>
          <a:p>
            <a:pPr algn="just" fontAlgn="base">
              <a:lnSpc>
                <a:spcPct val="110000"/>
              </a:lnSpc>
            </a:pPr>
            <a:r>
              <a:rPr lang="en-US" b="1" dirty="0">
                <a:latin typeface="Cambria" panose="02040503050406030204" pitchFamily="18" charset="0"/>
                <a:ea typeface="Cambria" panose="02040503050406030204" pitchFamily="18" charset="0"/>
              </a:rPr>
              <a:t>Handling Uncertainty</a:t>
            </a:r>
            <a:r>
              <a:rPr lang="en-US" dirty="0">
                <a:latin typeface="Cambria" panose="02040503050406030204" pitchFamily="18" charset="0"/>
                <a:ea typeface="Cambria" panose="02040503050406030204" pitchFamily="18" charset="0"/>
              </a:rPr>
              <a:t>: FOL is not well-suited for handling uncertainty and probabilistic reasoning, which are common in real-world AI applications. Extensions to FOL, such as probabilistic logic and fuzzy logic, have been developed to address these limitations.</a:t>
            </a:r>
          </a:p>
          <a:p>
            <a:pPr algn="just">
              <a:lnSpc>
                <a:spcPct val="110000"/>
              </a:lnSpc>
            </a:pP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5816879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3728" y="143019"/>
            <a:ext cx="10515600" cy="1325563"/>
          </a:xfrm>
        </p:spPr>
        <p:txBody>
          <a:bodyPr/>
          <a:lstStyle/>
          <a:p>
            <a:r>
              <a:rPr lang="en-US" dirty="0">
                <a:latin typeface="Cambria" panose="02040503050406030204" pitchFamily="18" charset="0"/>
                <a:ea typeface="Cambria" panose="02040503050406030204" pitchFamily="18" charset="0"/>
              </a:rPr>
              <a:t>Knowledge </a:t>
            </a:r>
            <a:r>
              <a:rPr lang="en-US" dirty="0" smtClean="0">
                <a:latin typeface="Cambria" panose="02040503050406030204" pitchFamily="18" charset="0"/>
                <a:ea typeface="Cambria" panose="02040503050406030204" pitchFamily="18" charset="0"/>
              </a:rPr>
              <a:t>base System </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95745" y="1468581"/>
            <a:ext cx="10993583" cy="5015345"/>
          </a:xfrm>
        </p:spPr>
        <p:txBody>
          <a:bodyPr>
            <a:normAutofit fontScale="62500" lnSpcReduction="20000"/>
          </a:bodyPr>
          <a:lstStyle/>
          <a:p>
            <a:pPr algn="just" fontAlgn="base">
              <a:lnSpc>
                <a:spcPct val="120000"/>
              </a:lnSpc>
            </a:pPr>
            <a:r>
              <a:rPr lang="en-US" sz="3400" dirty="0">
                <a:latin typeface="Cambria" panose="02040503050406030204" pitchFamily="18" charset="0"/>
                <a:ea typeface="Cambria" panose="02040503050406030204" pitchFamily="18" charset="0"/>
              </a:rPr>
              <a:t>A knowledge-based system is a system that uses artificial intelligence techniques to store and reason with knowledge. The knowledge is typically represented in the form of rules or facts, which can be used to draw conclusions or make decisions.</a:t>
            </a:r>
          </a:p>
          <a:p>
            <a:pPr algn="just" fontAlgn="base">
              <a:lnSpc>
                <a:spcPct val="120000"/>
              </a:lnSpc>
            </a:pPr>
            <a:r>
              <a:rPr lang="en-US" sz="3400" dirty="0">
                <a:latin typeface="Cambria" panose="02040503050406030204" pitchFamily="18" charset="0"/>
                <a:ea typeface="Cambria" panose="02040503050406030204" pitchFamily="18" charset="0"/>
              </a:rPr>
              <a:t>One of the key benefits of a knowledge-based system is that it can help to automate decision-making processes. For example, a knowledge-based system could be used to diagnose a medical condition, by reasoning over a set of rules that describe the symptoms and possible causes of the condition.</a:t>
            </a:r>
          </a:p>
          <a:p>
            <a:pPr algn="just" fontAlgn="base">
              <a:lnSpc>
                <a:spcPct val="120000"/>
              </a:lnSpc>
            </a:pPr>
            <a:r>
              <a:rPr lang="en-US" sz="3400" dirty="0">
                <a:latin typeface="Cambria" panose="02040503050406030204" pitchFamily="18" charset="0"/>
                <a:ea typeface="Cambria" panose="02040503050406030204" pitchFamily="18" charset="0"/>
              </a:rPr>
              <a:t>Another benefit of knowledge-based systems is that they can be used to explain their decisions to humans. This can be useful, for example, in a customer service setting, where a knowledge-based system can help a human agent understand why a particular decision was made.</a:t>
            </a:r>
          </a:p>
          <a:p>
            <a:pPr algn="just" fontAlgn="base">
              <a:lnSpc>
                <a:spcPct val="120000"/>
              </a:lnSpc>
            </a:pPr>
            <a:r>
              <a:rPr lang="en-US" sz="3400" dirty="0">
                <a:latin typeface="Cambria" panose="02040503050406030204" pitchFamily="18" charset="0"/>
                <a:ea typeface="Cambria" panose="02040503050406030204" pitchFamily="18" charset="0"/>
              </a:rPr>
              <a:t>Knowledge-based systems are a type of artificial intelligence and have been used in a variety of applications including medical diagnosis, expert systems, and decision support systems.</a:t>
            </a:r>
          </a:p>
          <a:p>
            <a:endParaRPr lang="en-US" dirty="0"/>
          </a:p>
        </p:txBody>
      </p:sp>
    </p:spTree>
    <p:extLst>
      <p:ext uri="{BB962C8B-B14F-4D97-AF65-F5344CB8AC3E}">
        <p14:creationId xmlns:p14="http://schemas.microsoft.com/office/powerpoint/2010/main" val="80732620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69925"/>
            <a:ext cx="10515600" cy="1325563"/>
          </a:xfrm>
        </p:spPr>
        <p:txBody>
          <a:bodyPr>
            <a:normAutofit/>
          </a:bodyPr>
          <a:lstStyle/>
          <a:p>
            <a:r>
              <a:rPr lang="en-US" sz="3600" dirty="0">
                <a:latin typeface="Cambria" panose="02040503050406030204" pitchFamily="18" charset="0"/>
                <a:ea typeface="Cambria" panose="02040503050406030204" pitchFamily="18" charset="0"/>
              </a:rPr>
              <a:t>Knowledge-Based System in Artificial Intelligence</a:t>
            </a:r>
            <a:r>
              <a:rPr lang="en-US" b="1" dirty="0"/>
              <a:t/>
            </a:r>
            <a:br>
              <a:rPr lang="en-US" b="1" dirty="0"/>
            </a:br>
            <a:endParaRPr lang="en-US" dirty="0"/>
          </a:p>
        </p:txBody>
      </p:sp>
      <p:sp>
        <p:nvSpPr>
          <p:cNvPr id="3" name="Content Placeholder 2"/>
          <p:cNvSpPr>
            <a:spLocks noGrp="1"/>
          </p:cNvSpPr>
          <p:nvPr>
            <p:ph idx="1"/>
          </p:nvPr>
        </p:nvSpPr>
        <p:spPr/>
        <p:txBody>
          <a:bodyPr/>
          <a:lstStyle/>
          <a:p>
            <a:pPr algn="just" fontAlgn="base"/>
            <a:r>
              <a:rPr lang="en-US" dirty="0">
                <a:latin typeface="Cambria" panose="02040503050406030204" pitchFamily="18" charset="0"/>
                <a:ea typeface="Cambria" panose="02040503050406030204" pitchFamily="18" charset="0"/>
              </a:rPr>
              <a:t>An intelligent agent needs knowledge about the real world to make decisions and reasoning to act efficiently.</a:t>
            </a:r>
          </a:p>
          <a:p>
            <a:pPr algn="just" fontAlgn="base"/>
            <a:r>
              <a:rPr lang="en-US" dirty="0">
                <a:latin typeface="Cambria" panose="02040503050406030204" pitchFamily="18" charset="0"/>
                <a:ea typeface="Cambria" panose="02040503050406030204" pitchFamily="18" charset="0"/>
              </a:rPr>
              <a:t>Knowledge-based agents are those agents who have the capability of maintaining an internal state of knowledge, reason over that knowledge, update their knowledge after observations and take action. These agents can represent the world with some formal representation and act intelligently.</a:t>
            </a:r>
          </a:p>
          <a:p>
            <a:endParaRPr lang="en-US" dirty="0"/>
          </a:p>
        </p:txBody>
      </p:sp>
    </p:spTree>
    <p:extLst>
      <p:ext uri="{BB962C8B-B14F-4D97-AF65-F5344CB8AC3E}">
        <p14:creationId xmlns:p14="http://schemas.microsoft.com/office/powerpoint/2010/main" val="452638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latin typeface="Cambria" panose="02040503050406030204" pitchFamily="18" charset="0"/>
                <a:ea typeface="Cambria" panose="02040503050406030204" pitchFamily="18" charset="0"/>
              </a:rPr>
              <a:t>The architecture of knowledge-based agent:</a:t>
            </a:r>
            <a:br>
              <a:rPr lang="en-US" dirty="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pic>
        <p:nvPicPr>
          <p:cNvPr id="4" name="Content Placeholder 3"/>
          <p:cNvPicPr>
            <a:picLocks noGrp="1" noChangeAspect="1"/>
          </p:cNvPicPr>
          <p:nvPr>
            <p:ph idx="1"/>
          </p:nvPr>
        </p:nvPicPr>
        <p:blipFill>
          <a:blip r:embed="rId2"/>
          <a:stretch>
            <a:fillRect/>
          </a:stretch>
        </p:blipFill>
        <p:spPr>
          <a:xfrm>
            <a:off x="2850573" y="3748590"/>
            <a:ext cx="5583382" cy="3109410"/>
          </a:xfrm>
          <a:prstGeom prst="rect">
            <a:avLst/>
          </a:prstGeom>
        </p:spPr>
      </p:pic>
      <p:sp>
        <p:nvSpPr>
          <p:cNvPr id="5" name="TextBox 4"/>
          <p:cNvSpPr txBox="1"/>
          <p:nvPr/>
        </p:nvSpPr>
        <p:spPr>
          <a:xfrm>
            <a:off x="554181" y="1191924"/>
            <a:ext cx="10543310" cy="3046988"/>
          </a:xfrm>
          <a:prstGeom prst="rect">
            <a:avLst/>
          </a:prstGeom>
          <a:noFill/>
        </p:spPr>
        <p:txBody>
          <a:bodyPr wrap="square" rtlCol="0">
            <a:spAutoFit/>
          </a:bodyPr>
          <a:lstStyle/>
          <a:p>
            <a:pPr marL="285750" indent="-285750" algn="just">
              <a:buFont typeface="Arial" panose="020B0604020202020204" pitchFamily="34" charset="0"/>
              <a:buChar char="•"/>
            </a:pPr>
            <a:r>
              <a:rPr lang="en-US" sz="2400" dirty="0">
                <a:latin typeface="Cambria" panose="02040503050406030204" pitchFamily="18" charset="0"/>
                <a:ea typeface="Cambria" panose="02040503050406030204" pitchFamily="18" charset="0"/>
              </a:rPr>
              <a:t>The above diagram is representing a generalized architecture for a knowledge-based agent. </a:t>
            </a:r>
            <a:endParaRPr lang="en-US" sz="2400" dirty="0" smtClean="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knowledge-based agent (KBA) take input from the environment by perceiving the environment. </a:t>
            </a:r>
            <a:endParaRPr lang="en-US" sz="2400" dirty="0" smtClean="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input is taken by the inference engine of the agent and which also communicate with KB to decide as per the knowledge store in KB. </a:t>
            </a:r>
            <a:endParaRPr lang="en-US" sz="2400" dirty="0" smtClean="0">
              <a:latin typeface="Cambria" panose="02040503050406030204" pitchFamily="18" charset="0"/>
              <a:ea typeface="Cambria" panose="02040503050406030204" pitchFamily="18" charset="0"/>
            </a:endParaRPr>
          </a:p>
          <a:p>
            <a:pPr marL="285750" indent="-285750" algn="just">
              <a:buFont typeface="Arial" panose="020B0604020202020204" pitchFamily="34" charset="0"/>
              <a:buChar char="•"/>
            </a:pPr>
            <a:r>
              <a:rPr lang="en-US" sz="2400" dirty="0" smtClean="0">
                <a:latin typeface="Cambria" panose="02040503050406030204" pitchFamily="18" charset="0"/>
                <a:ea typeface="Cambria" panose="02040503050406030204" pitchFamily="18" charset="0"/>
              </a:rPr>
              <a:t>The </a:t>
            </a:r>
            <a:r>
              <a:rPr lang="en-US" sz="2400" dirty="0">
                <a:latin typeface="Cambria" panose="02040503050406030204" pitchFamily="18" charset="0"/>
                <a:ea typeface="Cambria" panose="02040503050406030204" pitchFamily="18" charset="0"/>
              </a:rPr>
              <a:t>learning element of KBA regularly updates the KB by learning new knowledge.</a:t>
            </a:r>
          </a:p>
        </p:txBody>
      </p:sp>
    </p:spTree>
    <p:extLst>
      <p:ext uri="{BB962C8B-B14F-4D97-AF65-F5344CB8AC3E}">
        <p14:creationId xmlns:p14="http://schemas.microsoft.com/office/powerpoint/2010/main" val="2751791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00062"/>
            <a:ext cx="10515600" cy="1325563"/>
          </a:xfrm>
        </p:spPr>
        <p:txBody>
          <a:bodyPr>
            <a:noAutofit/>
          </a:bodyPr>
          <a:lstStyle/>
          <a:p>
            <a:r>
              <a:rPr lang="en-US" sz="3200" dirty="0" smtClean="0">
                <a:latin typeface="Cambria" panose="02040503050406030204" pitchFamily="18" charset="0"/>
                <a:ea typeface="Cambria" panose="02040503050406030204" pitchFamily="18" charset="0"/>
              </a:rPr>
              <a:t>A knowledge-based agent must able to do the following:</a:t>
            </a:r>
            <a:br>
              <a:rPr lang="en-US" sz="3200" dirty="0" smtClean="0">
                <a:latin typeface="Cambria" panose="02040503050406030204" pitchFamily="18" charset="0"/>
                <a:ea typeface="Cambria" panose="02040503050406030204" pitchFamily="18" charset="0"/>
              </a:rPr>
            </a:br>
            <a:endParaRPr lang="en-US" sz="32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603952"/>
            <a:ext cx="10515600" cy="4351338"/>
          </a:xfrm>
        </p:spPr>
        <p:txBody>
          <a:bodyPr/>
          <a:lstStyle/>
          <a:p>
            <a:pPr marL="0" indent="0">
              <a:buNone/>
            </a:pPr>
            <a:r>
              <a:rPr lang="en-US" dirty="0">
                <a:latin typeface="Cambria" panose="02040503050406030204" pitchFamily="18" charset="0"/>
                <a:ea typeface="Cambria" panose="02040503050406030204" pitchFamily="18" charset="0"/>
              </a:rPr>
              <a:t>A knowledge-based agent must able to do the following:</a:t>
            </a:r>
          </a:p>
          <a:p>
            <a:r>
              <a:rPr lang="en-US" dirty="0">
                <a:latin typeface="Cambria" panose="02040503050406030204" pitchFamily="18" charset="0"/>
                <a:ea typeface="Cambria" panose="02040503050406030204" pitchFamily="18" charset="0"/>
              </a:rPr>
              <a:t>An agent should be able to represent states, actions, etc.</a:t>
            </a:r>
          </a:p>
          <a:p>
            <a:r>
              <a:rPr lang="en-US" dirty="0">
                <a:latin typeface="Cambria" panose="02040503050406030204" pitchFamily="18" charset="0"/>
                <a:ea typeface="Cambria" panose="02040503050406030204" pitchFamily="18" charset="0"/>
              </a:rPr>
              <a:t>An agent Should be able to incorporate new percepts</a:t>
            </a:r>
          </a:p>
          <a:p>
            <a:r>
              <a:rPr lang="en-US" dirty="0">
                <a:latin typeface="Cambria" panose="02040503050406030204" pitchFamily="18" charset="0"/>
                <a:ea typeface="Cambria" panose="02040503050406030204" pitchFamily="18" charset="0"/>
              </a:rPr>
              <a:t>An agent can update the internal representation of the world</a:t>
            </a:r>
          </a:p>
          <a:p>
            <a:r>
              <a:rPr lang="en-US" dirty="0">
                <a:latin typeface="Cambria" panose="02040503050406030204" pitchFamily="18" charset="0"/>
                <a:ea typeface="Cambria" panose="02040503050406030204" pitchFamily="18" charset="0"/>
              </a:rPr>
              <a:t>An agent can deduce the internal representation of the world</a:t>
            </a:r>
          </a:p>
          <a:p>
            <a:r>
              <a:rPr lang="en-US" dirty="0">
                <a:latin typeface="Cambria" panose="02040503050406030204" pitchFamily="18" charset="0"/>
                <a:ea typeface="Cambria" panose="02040503050406030204" pitchFamily="18" charset="0"/>
              </a:rPr>
              <a:t>An agent can deduce appropriate actions.</a:t>
            </a:r>
          </a:p>
          <a:p>
            <a:endParaRPr lang="en-US" dirty="0"/>
          </a:p>
        </p:txBody>
      </p:sp>
    </p:spTree>
    <p:extLst>
      <p:ext uri="{BB962C8B-B14F-4D97-AF65-F5344CB8AC3E}">
        <p14:creationId xmlns:p14="http://schemas.microsoft.com/office/powerpoint/2010/main" val="6763439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Operations Performed by KBA</a:t>
            </a:r>
            <a:br>
              <a:rPr lang="en-US" dirty="0" smtClean="0"/>
            </a:br>
            <a:endParaRPr lang="en-US" dirty="0"/>
          </a:p>
        </p:txBody>
      </p:sp>
      <p:sp>
        <p:nvSpPr>
          <p:cNvPr id="3" name="Content Placeholder 2"/>
          <p:cNvSpPr>
            <a:spLocks noGrp="1"/>
          </p:cNvSpPr>
          <p:nvPr>
            <p:ph idx="1"/>
          </p:nvPr>
        </p:nvSpPr>
        <p:spPr>
          <a:xfrm>
            <a:off x="741217" y="1400175"/>
            <a:ext cx="10910455" cy="4351338"/>
          </a:xfrm>
        </p:spPr>
        <p:txBody>
          <a:bodyPr/>
          <a:lstStyle/>
          <a:p>
            <a:pPr marL="0" indent="0">
              <a:buNone/>
            </a:pPr>
            <a:r>
              <a:rPr lang="en-US" dirty="0" smtClean="0">
                <a:latin typeface="Cambria" panose="02040503050406030204" pitchFamily="18" charset="0"/>
                <a:ea typeface="Cambria" panose="02040503050406030204" pitchFamily="18" charset="0"/>
              </a:rPr>
              <a:t>Following </a:t>
            </a:r>
            <a:r>
              <a:rPr lang="en-US" dirty="0">
                <a:latin typeface="Cambria" panose="02040503050406030204" pitchFamily="18" charset="0"/>
                <a:ea typeface="Cambria" panose="02040503050406030204" pitchFamily="18" charset="0"/>
              </a:rPr>
              <a:t>are three operations which are performed by KBA in order to show the intelligent behavior:</a:t>
            </a:r>
          </a:p>
          <a:p>
            <a:r>
              <a:rPr lang="en-US" dirty="0">
                <a:latin typeface="Cambria" panose="02040503050406030204" pitchFamily="18" charset="0"/>
                <a:ea typeface="Cambria" panose="02040503050406030204" pitchFamily="18" charset="0"/>
              </a:rPr>
              <a:t>TELL: This operation tells the knowledge base what it perceives from the environment.</a:t>
            </a:r>
          </a:p>
          <a:p>
            <a:r>
              <a:rPr lang="en-US" dirty="0">
                <a:latin typeface="Cambria" panose="02040503050406030204" pitchFamily="18" charset="0"/>
                <a:ea typeface="Cambria" panose="02040503050406030204" pitchFamily="18" charset="0"/>
              </a:rPr>
              <a:t>ASK: This operation asks the knowledge base what action it should perform.</a:t>
            </a:r>
          </a:p>
          <a:p>
            <a:r>
              <a:rPr lang="en-US" dirty="0">
                <a:latin typeface="Cambria" panose="02040503050406030204" pitchFamily="18" charset="0"/>
                <a:ea typeface="Cambria" panose="02040503050406030204" pitchFamily="18" charset="0"/>
              </a:rPr>
              <a:t>Perform: It performs the selected action.</a:t>
            </a:r>
          </a:p>
          <a:p>
            <a:endParaRPr lang="en-US" dirty="0"/>
          </a:p>
        </p:txBody>
      </p:sp>
    </p:spTree>
    <p:extLst>
      <p:ext uri="{BB962C8B-B14F-4D97-AF65-F5344CB8AC3E}">
        <p14:creationId xmlns:p14="http://schemas.microsoft.com/office/powerpoint/2010/main" val="114055279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43346" y="841951"/>
            <a:ext cx="11346872" cy="6016049"/>
          </a:xfrm>
        </p:spPr>
        <p:txBody>
          <a:bodyPr>
            <a:normAutofit/>
          </a:bodyPr>
          <a:lstStyle/>
          <a:p>
            <a:pPr algn="just">
              <a:lnSpc>
                <a:spcPct val="110000"/>
              </a:lnSpc>
            </a:pPr>
            <a:r>
              <a:rPr lang="en-US" sz="2600" dirty="0">
                <a:latin typeface="Cambria" panose="02040503050406030204" pitchFamily="18" charset="0"/>
                <a:ea typeface="Cambria" panose="02040503050406030204" pitchFamily="18" charset="0"/>
              </a:rPr>
              <a:t>The knowledge-based agent takes percept as input and returns an action as output. The agent maintains the knowledge base, KB, and it initially has some background knowledge of the real world. It also has a counter to indicate the time for the whole process, and this counter is initialized with zero.</a:t>
            </a:r>
          </a:p>
          <a:p>
            <a:pPr algn="just"/>
            <a:r>
              <a:rPr lang="en-US" sz="2600" dirty="0">
                <a:latin typeface="Cambria" panose="02040503050406030204" pitchFamily="18" charset="0"/>
                <a:ea typeface="Cambria" panose="02040503050406030204" pitchFamily="18" charset="0"/>
              </a:rPr>
              <a:t>Each time when the function is called, it performs its three operations</a:t>
            </a:r>
            <a:r>
              <a:rPr lang="en-US" sz="2600" dirty="0" smtClean="0">
                <a:latin typeface="Cambria" panose="02040503050406030204" pitchFamily="18" charset="0"/>
                <a:ea typeface="Cambria" panose="02040503050406030204" pitchFamily="18" charset="0"/>
              </a:rPr>
              <a:t>:</a:t>
            </a:r>
          </a:p>
          <a:p>
            <a:pPr algn="just"/>
            <a:r>
              <a:rPr lang="en-US" sz="2600" dirty="0">
                <a:latin typeface="Cambria" panose="02040503050406030204" pitchFamily="18" charset="0"/>
                <a:ea typeface="Cambria" panose="02040503050406030204" pitchFamily="18" charset="0"/>
              </a:rPr>
              <a:t>Firstly it TELLs the KB what it perceives.</a:t>
            </a:r>
          </a:p>
          <a:p>
            <a:pPr algn="just"/>
            <a:r>
              <a:rPr lang="en-US" sz="2600" dirty="0">
                <a:latin typeface="Cambria" panose="02040503050406030204" pitchFamily="18" charset="0"/>
                <a:ea typeface="Cambria" panose="02040503050406030204" pitchFamily="18" charset="0"/>
              </a:rPr>
              <a:t>Secondly, it asks KB what action it should take</a:t>
            </a:r>
          </a:p>
          <a:p>
            <a:pPr algn="just"/>
            <a:r>
              <a:rPr lang="en-US" sz="2600" dirty="0">
                <a:latin typeface="Cambria" panose="02040503050406030204" pitchFamily="18" charset="0"/>
                <a:ea typeface="Cambria" panose="02040503050406030204" pitchFamily="18" charset="0"/>
              </a:rPr>
              <a:t>Third agent program TELLS the KB that which action was chosen.</a:t>
            </a:r>
          </a:p>
          <a:p>
            <a:pPr marL="0" indent="0" algn="just">
              <a:buNone/>
            </a:pPr>
            <a:endParaRPr lang="en-US" dirty="0">
              <a:latin typeface="Cambria" panose="02040503050406030204" pitchFamily="18" charset="0"/>
              <a:ea typeface="Cambria" panose="02040503050406030204" pitchFamily="18" charset="0"/>
            </a:endParaRPr>
          </a:p>
          <a:p>
            <a:endParaRPr lang="en-US" dirty="0"/>
          </a:p>
        </p:txBody>
      </p:sp>
    </p:spTree>
    <p:extLst>
      <p:ext uri="{BB962C8B-B14F-4D97-AF65-F5344CB8AC3E}">
        <p14:creationId xmlns:p14="http://schemas.microsoft.com/office/powerpoint/2010/main" val="36520146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96636" y="1188316"/>
            <a:ext cx="10515600" cy="4351338"/>
          </a:xfrm>
        </p:spPr>
        <p:txBody>
          <a:bodyPr/>
          <a:lstStyle/>
          <a:p>
            <a:r>
              <a:rPr lang="en-US" dirty="0"/>
              <a:t>The MAKE-PERCEPT-SENTENCE generates a sentence as setting that the agent perceived the given percept at the given time.</a:t>
            </a:r>
          </a:p>
          <a:p>
            <a:r>
              <a:rPr lang="en-US" dirty="0"/>
              <a:t>The MAKE-ACTION-QUERY generates a sentence to ask which action should be done at the current time.</a:t>
            </a:r>
          </a:p>
          <a:p>
            <a:r>
              <a:rPr lang="en-US" dirty="0"/>
              <a:t>MAKE-ACTION-SENTENCE generates a sentence which asserts that the chosen action was executed.</a:t>
            </a:r>
          </a:p>
          <a:p>
            <a:endParaRPr lang="en-US" dirty="0"/>
          </a:p>
        </p:txBody>
      </p:sp>
    </p:spTree>
    <p:extLst>
      <p:ext uri="{BB962C8B-B14F-4D97-AF65-F5344CB8AC3E}">
        <p14:creationId xmlns:p14="http://schemas.microsoft.com/office/powerpoint/2010/main" val="167083966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latin typeface="Cambria" panose="02040503050406030204" pitchFamily="18" charset="0"/>
                <a:ea typeface="Cambria" panose="02040503050406030204" pitchFamily="18" charset="0"/>
              </a:rPr>
              <a:t>Why use a knowledge base?</a:t>
            </a:r>
            <a:br>
              <a:rPr lang="en-US" sz="3600" dirty="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85800" y="1382280"/>
            <a:ext cx="10515600" cy="4351338"/>
          </a:xfrm>
        </p:spPr>
        <p:txBody>
          <a:bodyPr>
            <a:normAutofit/>
          </a:bodyPr>
          <a:lstStyle/>
          <a:p>
            <a:pPr fontAlgn="base"/>
            <a:r>
              <a:rPr lang="en-US" sz="2600" dirty="0">
                <a:latin typeface="Cambria" panose="02040503050406030204" pitchFamily="18" charset="0"/>
                <a:ea typeface="Cambria" panose="02040503050406030204" pitchFamily="18" charset="0"/>
              </a:rPr>
              <a:t>A knowledge base</a:t>
            </a:r>
            <a:r>
              <a:rPr lang="en-US" sz="2600" b="1" dirty="0">
                <a:latin typeface="Cambria" panose="02040503050406030204" pitchFamily="18" charset="0"/>
                <a:ea typeface="Cambria" panose="02040503050406030204" pitchFamily="18" charset="0"/>
              </a:rPr>
              <a:t> inference</a:t>
            </a:r>
            <a:r>
              <a:rPr lang="en-US" sz="2600" dirty="0">
                <a:latin typeface="Cambria" panose="02040503050406030204" pitchFamily="18" charset="0"/>
                <a:ea typeface="Cambria" panose="02040503050406030204" pitchFamily="18" charset="0"/>
              </a:rPr>
              <a:t> is required for updating knowledge for an agent to learn with experiences and take action as per the knowledge.</a:t>
            </a:r>
          </a:p>
          <a:p>
            <a:pPr fontAlgn="base"/>
            <a:r>
              <a:rPr lang="en-US" sz="2600" dirty="0">
                <a:latin typeface="Cambria" panose="02040503050406030204" pitchFamily="18" charset="0"/>
                <a:ea typeface="Cambria" panose="02040503050406030204" pitchFamily="18" charset="0"/>
              </a:rPr>
              <a:t>Inference means deriving new sentences from old. The inference-</a:t>
            </a:r>
            <a:r>
              <a:rPr lang="en-US" sz="2600" b="1" dirty="0">
                <a:latin typeface="Cambria" panose="02040503050406030204" pitchFamily="18" charset="0"/>
                <a:ea typeface="Cambria" panose="02040503050406030204" pitchFamily="18" charset="0"/>
              </a:rPr>
              <a:t>based</a:t>
            </a:r>
            <a:r>
              <a:rPr lang="en-US" sz="2600" dirty="0">
                <a:latin typeface="Cambria" panose="02040503050406030204" pitchFamily="18" charset="0"/>
                <a:ea typeface="Cambria" panose="02040503050406030204" pitchFamily="18" charset="0"/>
              </a:rPr>
              <a:t> system allows us to add a new sentence to the knowledge base. A sentence is a proposition about the world. The inference system applies logical rules to the KB to deduce new information.</a:t>
            </a:r>
          </a:p>
          <a:p>
            <a:pPr fontAlgn="base"/>
            <a:r>
              <a:rPr lang="en-US" sz="2600" b="1" dirty="0">
                <a:latin typeface="Cambria" panose="02040503050406030204" pitchFamily="18" charset="0"/>
                <a:ea typeface="Cambria" panose="02040503050406030204" pitchFamily="18" charset="0"/>
              </a:rPr>
              <a:t>The inference</a:t>
            </a:r>
            <a:r>
              <a:rPr lang="en-US" sz="2600" dirty="0">
                <a:latin typeface="Cambria" panose="02040503050406030204" pitchFamily="18" charset="0"/>
                <a:ea typeface="Cambria" panose="02040503050406030204" pitchFamily="18" charset="0"/>
              </a:rPr>
              <a:t> system generates new facts so that an agent can update the KB. An inference system works mainly in two rules which are given:</a:t>
            </a:r>
          </a:p>
          <a:p>
            <a:pPr lvl="1" fontAlgn="base"/>
            <a:r>
              <a:rPr lang="en-US" sz="2600" dirty="0">
                <a:latin typeface="Cambria" panose="02040503050406030204" pitchFamily="18" charset="0"/>
                <a:ea typeface="Cambria" panose="02040503050406030204" pitchFamily="18" charset="0"/>
              </a:rPr>
              <a:t>Forward chaining</a:t>
            </a:r>
          </a:p>
          <a:p>
            <a:pPr lvl="1" fontAlgn="base"/>
            <a:r>
              <a:rPr lang="en-US" sz="2600" dirty="0">
                <a:latin typeface="Cambria" panose="02040503050406030204" pitchFamily="18" charset="0"/>
                <a:ea typeface="Cambria" panose="02040503050406030204" pitchFamily="18" charset="0"/>
              </a:rPr>
              <a:t>Backward chaining</a:t>
            </a:r>
          </a:p>
          <a:p>
            <a:endParaRPr lang="en-US" dirty="0"/>
          </a:p>
        </p:txBody>
      </p:sp>
    </p:spTree>
    <p:extLst>
      <p:ext uri="{BB962C8B-B14F-4D97-AF65-F5344CB8AC3E}">
        <p14:creationId xmlns:p14="http://schemas.microsoft.com/office/powerpoint/2010/main" val="195262068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Cambria" panose="02040503050406030204" pitchFamily="18" charset="0"/>
                <a:ea typeface="Cambria" panose="02040503050406030204" pitchFamily="18" charset="0"/>
              </a:rPr>
              <a:t>Various levels of knowledge-based agents</a:t>
            </a:r>
            <a:r>
              <a:rPr lang="en-US" b="1" dirty="0" smtClean="0"/>
              <a:t/>
            </a:r>
            <a:br>
              <a:rPr lang="en-US" b="1" dirty="0" smtClean="0"/>
            </a:br>
            <a:endParaRPr lang="en-US" dirty="0"/>
          </a:p>
        </p:txBody>
      </p:sp>
      <p:sp>
        <p:nvSpPr>
          <p:cNvPr id="3" name="Content Placeholder 2"/>
          <p:cNvSpPr>
            <a:spLocks noGrp="1"/>
          </p:cNvSpPr>
          <p:nvPr>
            <p:ph idx="1"/>
          </p:nvPr>
        </p:nvSpPr>
        <p:spPr>
          <a:xfrm>
            <a:off x="623455" y="1396133"/>
            <a:ext cx="10522527" cy="5184775"/>
          </a:xfrm>
        </p:spPr>
        <p:txBody>
          <a:bodyPr>
            <a:normAutofit fontScale="85000" lnSpcReduction="20000"/>
          </a:bodyPr>
          <a:lstStyle/>
          <a:p>
            <a:pPr marL="0" indent="0" algn="just" fontAlgn="base">
              <a:buNone/>
            </a:pPr>
            <a:r>
              <a:rPr lang="en-US" dirty="0" smtClean="0">
                <a:latin typeface="Cambria" panose="02040503050406030204" pitchFamily="18" charset="0"/>
                <a:ea typeface="Cambria" panose="02040503050406030204" pitchFamily="18" charset="0"/>
              </a:rPr>
              <a:t>A </a:t>
            </a:r>
            <a:r>
              <a:rPr lang="en-US" dirty="0">
                <a:latin typeface="Cambria" panose="02040503050406030204" pitchFamily="18" charset="0"/>
                <a:ea typeface="Cambria" panose="02040503050406030204" pitchFamily="18" charset="0"/>
              </a:rPr>
              <a:t>knowledge-based agent can be viewed at different levels which are given below:</a:t>
            </a:r>
          </a:p>
          <a:p>
            <a:pPr marL="0" indent="0" algn="just" fontAlgn="base">
              <a:lnSpc>
                <a:spcPct val="120000"/>
              </a:lnSpc>
              <a:buNone/>
            </a:pPr>
            <a:r>
              <a:rPr lang="en-US" sz="2600" b="1" dirty="0">
                <a:latin typeface="Cambria" panose="02040503050406030204" pitchFamily="18" charset="0"/>
                <a:ea typeface="Cambria" panose="02040503050406030204" pitchFamily="18" charset="0"/>
              </a:rPr>
              <a:t>1. Knowledge level</a:t>
            </a:r>
            <a:endParaRPr lang="en-US" sz="2600" dirty="0">
              <a:latin typeface="Cambria" panose="02040503050406030204" pitchFamily="18" charset="0"/>
              <a:ea typeface="Cambria" panose="02040503050406030204" pitchFamily="18" charset="0"/>
            </a:endParaRPr>
          </a:p>
          <a:p>
            <a:pPr marL="0" indent="0" algn="just" fontAlgn="base">
              <a:lnSpc>
                <a:spcPct val="120000"/>
              </a:lnSpc>
              <a:buNone/>
            </a:pPr>
            <a:r>
              <a:rPr lang="en-US" sz="2600" dirty="0">
                <a:latin typeface="Cambria" panose="02040503050406030204" pitchFamily="18" charset="0"/>
                <a:ea typeface="Cambria" panose="02040503050406030204" pitchFamily="18" charset="0"/>
              </a:rPr>
              <a:t>Knowledge level is the first level of knowledge-based agent, and in this level, we need to specify what the agent knows, and what the agent goals are. With these specifications, we can fix its behavior. For example, suppose an automated taxi agent needs to go from a station A to station B, and he knows the way from A to B, so this comes at the knowledge level</a:t>
            </a:r>
            <a:r>
              <a:rPr lang="en-US" sz="2600" dirty="0" smtClean="0">
                <a:latin typeface="Cambria" panose="02040503050406030204" pitchFamily="18" charset="0"/>
                <a:ea typeface="Cambria" panose="02040503050406030204" pitchFamily="18" charset="0"/>
              </a:rPr>
              <a:t>.</a:t>
            </a:r>
          </a:p>
          <a:p>
            <a:pPr marL="0" indent="0" algn="just" fontAlgn="base">
              <a:lnSpc>
                <a:spcPct val="120000"/>
              </a:lnSpc>
              <a:buNone/>
            </a:pPr>
            <a:r>
              <a:rPr lang="en-US" sz="2600" b="1" dirty="0">
                <a:latin typeface="Cambria" panose="02040503050406030204" pitchFamily="18" charset="0"/>
                <a:ea typeface="Cambria" panose="02040503050406030204" pitchFamily="18" charset="0"/>
              </a:rPr>
              <a:t>2. Logical level</a:t>
            </a:r>
            <a:endParaRPr lang="en-US" sz="2600" dirty="0">
              <a:latin typeface="Cambria" panose="02040503050406030204" pitchFamily="18" charset="0"/>
              <a:ea typeface="Cambria" panose="02040503050406030204" pitchFamily="18" charset="0"/>
            </a:endParaRPr>
          </a:p>
          <a:p>
            <a:pPr marL="0" indent="0" algn="just" fontAlgn="base">
              <a:lnSpc>
                <a:spcPct val="120000"/>
              </a:lnSpc>
              <a:buNone/>
            </a:pPr>
            <a:r>
              <a:rPr lang="en-US" sz="2600" dirty="0">
                <a:latin typeface="Cambria" panose="02040503050406030204" pitchFamily="18" charset="0"/>
                <a:ea typeface="Cambria" panose="02040503050406030204" pitchFamily="18" charset="0"/>
              </a:rPr>
              <a:t>At this level, we understand that how the knowledge representation of knowledge is stored. At this level, sentences are encoded into different logics. At the logical level, an encoding of knowledge into logical sentences occurs. At the logical level we can expect to the automated taxi agent to reach to the destination B.</a:t>
            </a:r>
          </a:p>
          <a:p>
            <a:pPr marL="0" indent="0" algn="just" fontAlgn="base">
              <a:buNone/>
            </a:pPr>
            <a:endParaRPr lang="en-US" sz="2400" dirty="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823618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62000" y="647988"/>
            <a:ext cx="10564091" cy="5600412"/>
          </a:xfrm>
        </p:spPr>
        <p:txBody>
          <a:bodyPr>
            <a:normAutofit fontScale="92500"/>
          </a:bodyPr>
          <a:lstStyle/>
          <a:p>
            <a:pPr marL="0" indent="0" algn="just" fontAlgn="base">
              <a:buNone/>
            </a:pPr>
            <a:r>
              <a:rPr lang="en-US" b="1" dirty="0">
                <a:latin typeface="Cambria" panose="02040503050406030204" pitchFamily="18" charset="0"/>
                <a:ea typeface="Cambria" panose="02040503050406030204" pitchFamily="18" charset="0"/>
              </a:rPr>
              <a:t>3. Implementation level</a:t>
            </a:r>
            <a:endParaRPr lang="en-US" dirty="0">
              <a:latin typeface="Cambria" panose="02040503050406030204" pitchFamily="18" charset="0"/>
              <a:ea typeface="Cambria" panose="02040503050406030204" pitchFamily="18" charset="0"/>
            </a:endParaRPr>
          </a:p>
          <a:p>
            <a:pPr marL="0" indent="0" algn="just" fontAlgn="base">
              <a:buNone/>
            </a:pPr>
            <a:r>
              <a:rPr lang="en-US" dirty="0">
                <a:latin typeface="Cambria" panose="02040503050406030204" pitchFamily="18" charset="0"/>
                <a:ea typeface="Cambria" panose="02040503050406030204" pitchFamily="18" charset="0"/>
              </a:rPr>
              <a:t>This is the physical representation of logic and knowledge. At the implementation level agent perform actions as per logical and knowledge level. At this level, an automated taxi agent actually implement his knowledge and logic so that he can reach to the destination</a:t>
            </a:r>
            <a:r>
              <a:rPr lang="en-US" dirty="0" smtClean="0">
                <a:latin typeface="Cambria" panose="02040503050406030204" pitchFamily="18" charset="0"/>
                <a:ea typeface="Cambria" panose="02040503050406030204" pitchFamily="18" charset="0"/>
              </a:rPr>
              <a:t>.</a:t>
            </a:r>
          </a:p>
          <a:p>
            <a:pPr algn="just" fontAlgn="base"/>
            <a:endParaRPr lang="en-US" dirty="0">
              <a:latin typeface="Cambria" panose="02040503050406030204" pitchFamily="18" charset="0"/>
              <a:ea typeface="Cambria" panose="02040503050406030204" pitchFamily="18" charset="0"/>
            </a:endParaRPr>
          </a:p>
          <a:p>
            <a:pPr marL="0" indent="0" algn="just" fontAlgn="base">
              <a:buNone/>
            </a:pPr>
            <a:r>
              <a:rPr lang="en-US" b="1" dirty="0">
                <a:latin typeface="Cambria" panose="02040503050406030204" pitchFamily="18" charset="0"/>
                <a:ea typeface="Cambria" panose="02040503050406030204" pitchFamily="18" charset="0"/>
              </a:rPr>
              <a:t>Knowledge-based agents</a:t>
            </a:r>
            <a:r>
              <a:rPr lang="en-US" dirty="0">
                <a:latin typeface="Cambria" panose="02040503050406030204" pitchFamily="18" charset="0"/>
                <a:ea typeface="Cambria" panose="02040503050406030204" pitchFamily="18" charset="0"/>
              </a:rPr>
              <a:t> have explicit representation of knowledge that can be reasoned. They maintain internal state of knowledge, reason over it, update it  and perform actions accordingly. These agents act intelligently according to requirements.</a:t>
            </a:r>
          </a:p>
          <a:p>
            <a:pPr algn="just" fontAlgn="base"/>
            <a:r>
              <a:rPr lang="en-US" dirty="0">
                <a:latin typeface="Cambria" panose="02040503050406030204" pitchFamily="18" charset="0"/>
                <a:ea typeface="Cambria" panose="02040503050406030204" pitchFamily="18" charset="0"/>
              </a:rPr>
              <a:t>Knowledge based agents give the current situation in the form of sentences. They have complete knowledge of current situation of mini-world and its surroundings. These agents manipulate knowledge to infer new things at “Knowledge level”.</a:t>
            </a:r>
          </a:p>
          <a:p>
            <a:endParaRPr lang="en-US" dirty="0"/>
          </a:p>
        </p:txBody>
      </p:sp>
    </p:spTree>
    <p:extLst>
      <p:ext uri="{BB962C8B-B14F-4D97-AF65-F5344CB8AC3E}">
        <p14:creationId xmlns:p14="http://schemas.microsoft.com/office/powerpoint/2010/main" val="7755632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smtClean="0">
                <a:latin typeface="Cambria" panose="02040503050406030204" pitchFamily="18" charset="0"/>
                <a:ea typeface="Cambria" panose="02040503050406030204" pitchFamily="18" charset="0"/>
              </a:rPr>
              <a:t>Approaches to designing a knowledge-based agent:</a:t>
            </a:r>
            <a:br>
              <a:rPr lang="en-US" sz="3600" dirty="0" smtClean="0">
                <a:latin typeface="Cambria" panose="02040503050406030204" pitchFamily="18" charset="0"/>
                <a:ea typeface="Cambria" panose="02040503050406030204" pitchFamily="18" charset="0"/>
              </a:rPr>
            </a:br>
            <a:endParaRPr lang="en-US" sz="36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5463" y="1285297"/>
            <a:ext cx="10813473" cy="4769139"/>
          </a:xfrm>
        </p:spPr>
        <p:txBody>
          <a:bodyPr>
            <a:normAutofit fontScale="92500"/>
          </a:bodyPr>
          <a:lstStyle/>
          <a:p>
            <a:pPr marL="0" indent="0" algn="just">
              <a:buNone/>
            </a:pPr>
            <a:r>
              <a:rPr lang="en-US" dirty="0" smtClean="0">
                <a:latin typeface="Cambria" panose="02040503050406030204" pitchFamily="18" charset="0"/>
                <a:ea typeface="Cambria" panose="02040503050406030204" pitchFamily="18" charset="0"/>
              </a:rPr>
              <a:t>There </a:t>
            </a:r>
            <a:r>
              <a:rPr lang="en-US" dirty="0">
                <a:latin typeface="Cambria" panose="02040503050406030204" pitchFamily="18" charset="0"/>
                <a:ea typeface="Cambria" panose="02040503050406030204" pitchFamily="18" charset="0"/>
              </a:rPr>
              <a:t>are mainly two approaches to build a knowledge-based agent:</a:t>
            </a:r>
          </a:p>
          <a:p>
            <a:pPr marL="0" indent="0" algn="just">
              <a:buNone/>
            </a:pPr>
            <a:r>
              <a:rPr lang="en-US" b="1" dirty="0">
                <a:latin typeface="Cambria" panose="02040503050406030204" pitchFamily="18" charset="0"/>
                <a:ea typeface="Cambria" panose="02040503050406030204" pitchFamily="18" charset="0"/>
              </a:rPr>
              <a:t>1. Declarative approach:</a:t>
            </a:r>
            <a:r>
              <a:rPr lang="en-US" dirty="0">
                <a:latin typeface="Cambria" panose="02040503050406030204" pitchFamily="18" charset="0"/>
                <a:ea typeface="Cambria" panose="02040503050406030204" pitchFamily="18" charset="0"/>
              </a:rPr>
              <a:t> We can create a knowledge-based agent by initializing with an empty knowledge base and telling the agent all the sentences with which we want to start with. This approach is called Declarative approach.</a:t>
            </a:r>
          </a:p>
          <a:p>
            <a:pPr marL="0" indent="0" algn="just">
              <a:buNone/>
            </a:pPr>
            <a:r>
              <a:rPr lang="en-US" b="1" dirty="0">
                <a:latin typeface="Cambria" panose="02040503050406030204" pitchFamily="18" charset="0"/>
                <a:ea typeface="Cambria" panose="02040503050406030204" pitchFamily="18" charset="0"/>
              </a:rPr>
              <a:t>2. Procedural approach:</a:t>
            </a:r>
            <a:r>
              <a:rPr lang="en-US" dirty="0">
                <a:latin typeface="Cambria" panose="02040503050406030204" pitchFamily="18" charset="0"/>
                <a:ea typeface="Cambria" panose="02040503050406030204" pitchFamily="18" charset="0"/>
              </a:rPr>
              <a:t> In the procedural approach, we directly encode desired behavior as a program code. Which means we just need to write a program that already encodes the desired behavior or agent.</a:t>
            </a:r>
          </a:p>
          <a:p>
            <a:pPr algn="just"/>
            <a:r>
              <a:rPr lang="en-US" dirty="0">
                <a:latin typeface="Cambria" panose="02040503050406030204" pitchFamily="18" charset="0"/>
                <a:ea typeface="Cambria" panose="02040503050406030204" pitchFamily="18" charset="0"/>
              </a:rPr>
              <a:t>However, in the real world, a successful agent can be built by combining both declarative and procedural approaches, and declarative knowledge can often be compiled into more efficient procedural code.</a:t>
            </a:r>
          </a:p>
          <a:p>
            <a:endParaRPr lang="en-US" dirty="0"/>
          </a:p>
        </p:txBody>
      </p:sp>
    </p:spTree>
    <p:extLst>
      <p:ext uri="{BB962C8B-B14F-4D97-AF65-F5344CB8AC3E}">
        <p14:creationId xmlns:p14="http://schemas.microsoft.com/office/powerpoint/2010/main" val="33558927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62891" y="0"/>
            <a:ext cx="10515600" cy="1325563"/>
          </a:xfrm>
        </p:spPr>
        <p:txBody>
          <a:bodyPr/>
          <a:lstStyle/>
          <a:p>
            <a:r>
              <a:rPr lang="en-US" dirty="0">
                <a:latin typeface="Cambria" panose="02040503050406030204" pitchFamily="18" charset="0"/>
                <a:ea typeface="Cambria" panose="02040503050406030204" pitchFamily="18" charset="0"/>
              </a:rPr>
              <a:t>A Logic based Financial Advisor</a:t>
            </a:r>
          </a:p>
        </p:txBody>
      </p:sp>
      <p:sp>
        <p:nvSpPr>
          <p:cNvPr id="3" name="Content Placeholder 2"/>
          <p:cNvSpPr>
            <a:spLocks noGrp="1"/>
          </p:cNvSpPr>
          <p:nvPr>
            <p:ph idx="1"/>
          </p:nvPr>
        </p:nvSpPr>
        <p:spPr>
          <a:xfrm>
            <a:off x="290945" y="1119042"/>
            <a:ext cx="11416146" cy="5461867"/>
          </a:xfrm>
        </p:spPr>
        <p:txBody>
          <a:bodyPr>
            <a:normAutofit fontScale="85000" lnSpcReduction="20000"/>
          </a:bodyPr>
          <a:lstStyle/>
          <a:p>
            <a:pPr marL="0" indent="0" algn="just">
              <a:lnSpc>
                <a:spcPct val="110000"/>
              </a:lnSpc>
              <a:buNone/>
            </a:pPr>
            <a:r>
              <a:rPr lang="en-US" dirty="0">
                <a:latin typeface="Cambria" panose="02040503050406030204" pitchFamily="18" charset="0"/>
                <a:ea typeface="Cambria" panose="02040503050406030204" pitchFamily="18" charset="0"/>
              </a:rPr>
              <a:t>As a final example, let's use FOL to represent and reason about a sample problem domain: financial analysis. Although simple, it illustrates many issues involved in real applications. The function is to advise a user about whether to invest in stocks or savings. </a:t>
            </a:r>
            <a:endParaRPr lang="en-US" dirty="0" smtClean="0">
              <a:latin typeface="Cambria" panose="02040503050406030204" pitchFamily="18" charset="0"/>
              <a:ea typeface="Cambria" panose="02040503050406030204" pitchFamily="18" charset="0"/>
            </a:endParaRPr>
          </a:p>
          <a:p>
            <a:pPr marL="0" indent="0" algn="just">
              <a:lnSpc>
                <a:spcPct val="110000"/>
              </a:lnSpc>
              <a:buNone/>
            </a:pPr>
            <a:r>
              <a:rPr lang="en-US" dirty="0" smtClean="0">
                <a:latin typeface="Cambria" panose="02040503050406030204" pitchFamily="18" charset="0"/>
                <a:ea typeface="Cambria" panose="02040503050406030204" pitchFamily="18" charset="0"/>
              </a:rPr>
              <a:t>Some </a:t>
            </a:r>
            <a:r>
              <a:rPr lang="en-US" dirty="0">
                <a:latin typeface="Cambria" panose="02040503050406030204" pitchFamily="18" charset="0"/>
                <a:ea typeface="Cambria" panose="02040503050406030204" pitchFamily="18" charset="0"/>
              </a:rPr>
              <a:t>investors might want to split their money. Let's say that we have determined the following rules: </a:t>
            </a:r>
            <a:endParaRPr lang="en-US" dirty="0" smtClean="0">
              <a:latin typeface="Cambria" panose="02040503050406030204" pitchFamily="18" charset="0"/>
              <a:ea typeface="Cambria" panose="02040503050406030204" pitchFamily="18" charset="0"/>
            </a:endParaRPr>
          </a:p>
          <a:p>
            <a:pPr marL="514350" indent="-514350" algn="just">
              <a:lnSpc>
                <a:spcPct val="110000"/>
              </a:lnSpc>
              <a:buAutoNum type="arabicPeriod"/>
            </a:pPr>
            <a:r>
              <a:rPr lang="en-US" dirty="0" smtClean="0">
                <a:latin typeface="Cambria" panose="02040503050406030204" pitchFamily="18" charset="0"/>
                <a:ea typeface="Cambria" panose="02040503050406030204" pitchFamily="18" charset="0"/>
              </a:rPr>
              <a:t>Individuals </a:t>
            </a:r>
            <a:r>
              <a:rPr lang="en-US" dirty="0">
                <a:latin typeface="Cambria" panose="02040503050406030204" pitchFamily="18" charset="0"/>
                <a:ea typeface="Cambria" panose="02040503050406030204" pitchFamily="18" charset="0"/>
              </a:rPr>
              <a:t>with inadequate savings should make increasing savings their top priority, regardless of income. </a:t>
            </a:r>
            <a:endParaRPr lang="en-US" dirty="0" smtClean="0">
              <a:latin typeface="Cambria" panose="02040503050406030204" pitchFamily="18" charset="0"/>
              <a:ea typeface="Cambria" panose="02040503050406030204" pitchFamily="18" charset="0"/>
            </a:endParaRPr>
          </a:p>
          <a:p>
            <a:pPr marL="514350" indent="-514350" algn="just">
              <a:lnSpc>
                <a:spcPct val="110000"/>
              </a:lnSpc>
              <a:buAutoNum type="arabicPeriod"/>
            </a:pPr>
            <a:r>
              <a:rPr lang="en-US" dirty="0" smtClean="0">
                <a:latin typeface="Cambria" panose="02040503050406030204" pitchFamily="18" charset="0"/>
                <a:ea typeface="Cambria" panose="02040503050406030204" pitchFamily="18" charset="0"/>
              </a:rPr>
              <a:t>Individuals </a:t>
            </a:r>
            <a:r>
              <a:rPr lang="en-US" dirty="0">
                <a:latin typeface="Cambria" panose="02040503050406030204" pitchFamily="18" charset="0"/>
                <a:ea typeface="Cambria" panose="02040503050406030204" pitchFamily="18" charset="0"/>
              </a:rPr>
              <a:t>with adequate savings and adequate income should consider stocks, which are riskier but potentially more profit. </a:t>
            </a:r>
            <a:endParaRPr lang="en-US" dirty="0" smtClean="0">
              <a:latin typeface="Cambria" panose="02040503050406030204" pitchFamily="18" charset="0"/>
              <a:ea typeface="Cambria" panose="02040503050406030204" pitchFamily="18" charset="0"/>
            </a:endParaRPr>
          </a:p>
          <a:p>
            <a:pPr marL="514350" indent="-514350" algn="just">
              <a:lnSpc>
                <a:spcPct val="110000"/>
              </a:lnSpc>
              <a:buAutoNum type="arabicPeriod"/>
            </a:pPr>
            <a:r>
              <a:rPr lang="en-US" dirty="0" smtClean="0">
                <a:latin typeface="Cambria" panose="02040503050406030204" pitchFamily="18" charset="0"/>
                <a:ea typeface="Cambria" panose="02040503050406030204" pitchFamily="18" charset="0"/>
              </a:rPr>
              <a:t>Individuals </a:t>
            </a:r>
            <a:r>
              <a:rPr lang="en-US" dirty="0">
                <a:latin typeface="Cambria" panose="02040503050406030204" pitchFamily="18" charset="0"/>
                <a:ea typeface="Cambria" panose="02040503050406030204" pitchFamily="18" charset="0"/>
              </a:rPr>
              <a:t>with a lower income and already have adequate savings should split their income between savings and stocks. Our rule is to have at least $5000 in the bank for each dependent. An adequate income must be steady and supply at least $15000 per year plus $4000 for each dependent. </a:t>
            </a:r>
          </a:p>
        </p:txBody>
      </p:sp>
    </p:spTree>
    <p:extLst>
      <p:ext uri="{BB962C8B-B14F-4D97-AF65-F5344CB8AC3E}">
        <p14:creationId xmlns:p14="http://schemas.microsoft.com/office/powerpoint/2010/main" val="115601899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32509" y="204642"/>
            <a:ext cx="11457709" cy="6514813"/>
          </a:xfrm>
        </p:spPr>
        <p:txBody>
          <a:bodyPr>
            <a:normAutofit/>
          </a:bodyPr>
          <a:lstStyle/>
          <a:p>
            <a:pPr marL="0" indent="0">
              <a:buNone/>
            </a:pPr>
            <a:r>
              <a:rPr lang="en-US" sz="2400" dirty="0">
                <a:latin typeface="Cambria" panose="02040503050406030204" pitchFamily="18" charset="0"/>
                <a:ea typeface="Cambria" panose="02040503050406030204" pitchFamily="18" charset="0"/>
              </a:rPr>
              <a:t>Our rule is to have at least $5000 in the bank for each dependent. An adequate income must be steady and supply at least $15000 per year plus $4000 for each dependent. </a:t>
            </a: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Let's </a:t>
            </a:r>
            <a:r>
              <a:rPr lang="en-US" sz="2400" dirty="0">
                <a:latin typeface="Cambria" panose="02040503050406030204" pitchFamily="18" charset="0"/>
                <a:ea typeface="Cambria" panose="02040503050406030204" pitchFamily="18" charset="0"/>
              </a:rPr>
              <a:t>start coding up some rules: </a:t>
            </a:r>
            <a:endParaRPr lang="en-US" sz="2400" dirty="0" smtClean="0">
              <a:latin typeface="Cambria" panose="02040503050406030204" pitchFamily="18" charset="0"/>
              <a:ea typeface="Cambria" panose="02040503050406030204" pitchFamily="18" charset="0"/>
            </a:endParaRPr>
          </a:p>
          <a:p>
            <a:pPr marL="514350" indent="-514350">
              <a:buAutoNum type="arabicPeriod"/>
            </a:pPr>
            <a:r>
              <a:rPr lang="en-US" sz="2400" dirty="0" err="1" smtClean="0">
                <a:latin typeface="Cambria" panose="02040503050406030204" pitchFamily="18" charset="0"/>
                <a:ea typeface="Cambria" panose="02040503050406030204" pitchFamily="18" charset="0"/>
              </a:rPr>
              <a:t>Savings_account</a:t>
            </a:r>
            <a:r>
              <a:rPr lang="en-US" sz="2400" dirty="0" smtClean="0">
                <a:latin typeface="Cambria" panose="02040503050406030204" pitchFamily="18" charset="0"/>
                <a:ea typeface="Cambria" panose="02040503050406030204" pitchFamily="18" charset="0"/>
              </a:rPr>
              <a:t>(inadequate</a:t>
            </a:r>
            <a:r>
              <a:rPr lang="en-US" sz="2400" dirty="0">
                <a:latin typeface="Cambria" panose="02040503050406030204" pitchFamily="18" charset="0"/>
                <a:ea typeface="Cambria" panose="02040503050406030204" pitchFamily="18" charset="0"/>
              </a:rPr>
              <a:t>) → Investment(savings). </a:t>
            </a:r>
            <a:endParaRPr lang="en-US" sz="2400" dirty="0" smtClean="0">
              <a:latin typeface="Cambria" panose="02040503050406030204" pitchFamily="18" charset="0"/>
              <a:ea typeface="Cambria" panose="02040503050406030204" pitchFamily="18" charset="0"/>
            </a:endParaRPr>
          </a:p>
          <a:p>
            <a:pPr marL="514350" indent="-514350">
              <a:buAutoNum type="arabicPeriod"/>
            </a:pPr>
            <a:r>
              <a:rPr lang="en-US" sz="2400" dirty="0" err="1" smtClean="0">
                <a:latin typeface="Cambria" panose="02040503050406030204" pitchFamily="18" charset="0"/>
                <a:ea typeface="Cambria" panose="02040503050406030204" pitchFamily="18" charset="0"/>
              </a:rPr>
              <a:t>Savings_account</a:t>
            </a:r>
            <a:r>
              <a:rPr lang="en-US" sz="2400" dirty="0" smtClean="0">
                <a:latin typeface="Cambria" panose="02040503050406030204" pitchFamily="18" charset="0"/>
                <a:ea typeface="Cambria" panose="02040503050406030204" pitchFamily="18" charset="0"/>
              </a:rPr>
              <a:t>(adequate</a:t>
            </a:r>
            <a:r>
              <a:rPr lang="en-US" sz="2400" dirty="0">
                <a:latin typeface="Cambria" panose="02040503050406030204" pitchFamily="18" charset="0"/>
                <a:ea typeface="Cambria" panose="02040503050406030204" pitchFamily="18" charset="0"/>
              </a:rPr>
              <a:t>) ^ Income(adequate)→ Investment(stocks). </a:t>
            </a:r>
          </a:p>
          <a:p>
            <a:pPr marL="514350" indent="-514350">
              <a:buAutoNum type="arabicPeriod" startAt="3"/>
            </a:pPr>
            <a:r>
              <a:rPr lang="en-US" sz="2400" dirty="0" err="1" smtClean="0">
                <a:latin typeface="Cambria" panose="02040503050406030204" pitchFamily="18" charset="0"/>
                <a:ea typeface="Cambria" panose="02040503050406030204" pitchFamily="18" charset="0"/>
              </a:rPr>
              <a:t>Savings_account</a:t>
            </a:r>
            <a:r>
              <a:rPr lang="en-US" sz="2400" dirty="0" smtClean="0">
                <a:latin typeface="Cambria" panose="02040503050406030204" pitchFamily="18" charset="0"/>
                <a:ea typeface="Cambria" panose="02040503050406030204" pitchFamily="18" charset="0"/>
              </a:rPr>
              <a:t>(adequate</a:t>
            </a:r>
            <a:r>
              <a:rPr lang="en-US" sz="2400" dirty="0">
                <a:latin typeface="Cambria" panose="02040503050406030204" pitchFamily="18" charset="0"/>
                <a:ea typeface="Cambria" panose="02040503050406030204" pitchFamily="18" charset="0"/>
              </a:rPr>
              <a:t>) ^ Income(inadequate) → </a:t>
            </a:r>
            <a:r>
              <a:rPr lang="en-US" sz="2400" dirty="0" smtClean="0">
                <a:latin typeface="Cambria" panose="02040503050406030204" pitchFamily="18" charset="0"/>
                <a:ea typeface="Cambria" panose="02040503050406030204" pitchFamily="18" charset="0"/>
              </a:rPr>
              <a:t>investment(combination</a:t>
            </a:r>
            <a:r>
              <a:rPr lang="en-US" sz="2400" dirty="0">
                <a:latin typeface="Cambria" panose="02040503050406030204" pitchFamily="18" charset="0"/>
                <a:ea typeface="Cambria" panose="02040503050406030204" pitchFamily="18" charset="0"/>
              </a:rPr>
              <a:t>). Now we have to determine when savings and income are adequate or inadequate. Let's define </a:t>
            </a:r>
            <a:r>
              <a:rPr lang="en-US" sz="2400" dirty="0" err="1">
                <a:latin typeface="Cambria" panose="02040503050406030204" pitchFamily="18" charset="0"/>
                <a:ea typeface="Cambria" panose="02040503050406030204" pitchFamily="18" charset="0"/>
              </a:rPr>
              <a:t>minsavings</a:t>
            </a:r>
            <a:r>
              <a:rPr lang="en-US" sz="2400" dirty="0">
                <a:latin typeface="Cambria" panose="02040503050406030204" pitchFamily="18" charset="0"/>
                <a:ea typeface="Cambria" panose="02040503050406030204" pitchFamily="18" charset="0"/>
              </a:rPr>
              <a:t> and the adequacy of savings: </a:t>
            </a:r>
            <a:r>
              <a:rPr lang="en-US" sz="2400" dirty="0" err="1">
                <a:latin typeface="Cambria" panose="02040503050406030204" pitchFamily="18" charset="0"/>
                <a:ea typeface="Cambria" panose="02040503050406030204" pitchFamily="18" charset="0"/>
              </a:rPr>
              <a:t>MinSavings</a:t>
            </a:r>
            <a:r>
              <a:rPr lang="en-US" sz="2400" dirty="0">
                <a:latin typeface="Cambria" panose="02040503050406030204" pitchFamily="18" charset="0"/>
                <a:ea typeface="Cambria" panose="02040503050406030204" pitchFamily="18" charset="0"/>
              </a:rPr>
              <a:t>(Z) = 5000*Z </a:t>
            </a:r>
            <a:endParaRPr lang="en-US" sz="2400" dirty="0" smtClean="0">
              <a:latin typeface="Cambria" panose="02040503050406030204" pitchFamily="18" charset="0"/>
              <a:ea typeface="Cambria" panose="02040503050406030204" pitchFamily="18" charset="0"/>
            </a:endParaRPr>
          </a:p>
          <a:p>
            <a:pPr marL="514350" indent="-514350">
              <a:buAutoNum type="arabicPeriod" startAt="3"/>
            </a:pPr>
            <a:r>
              <a:rPr lang="en-US" sz="2400" dirty="0" smtClean="0">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x </a:t>
            </a:r>
            <a:r>
              <a:rPr lang="en-US" sz="2400" dirty="0" err="1">
                <a:latin typeface="Cambria" panose="02040503050406030204" pitchFamily="18" charset="0"/>
                <a:ea typeface="Cambria" panose="02040503050406030204" pitchFamily="18" charset="0"/>
              </a:rPr>
              <a:t>Amount_saved</a:t>
            </a:r>
            <a:r>
              <a:rPr lang="en-US" sz="2400" dirty="0">
                <a:latin typeface="Cambria" panose="02040503050406030204" pitchFamily="18" charset="0"/>
                <a:ea typeface="Cambria" panose="02040503050406030204" pitchFamily="18" charset="0"/>
              </a:rPr>
              <a:t>(x) ^ ∃y (dependents(y) ^ greater(</a:t>
            </a:r>
            <a:r>
              <a:rPr lang="en-US" sz="2400" dirty="0" err="1">
                <a:latin typeface="Cambria" panose="02040503050406030204" pitchFamily="18" charset="0"/>
                <a:ea typeface="Cambria" panose="02040503050406030204" pitchFamily="18" charset="0"/>
              </a:rPr>
              <a:t>x,MinSavings</a:t>
            </a:r>
            <a:r>
              <a:rPr lang="en-US" sz="2400" dirty="0">
                <a:latin typeface="Cambria" panose="02040503050406030204" pitchFamily="18" charset="0"/>
                <a:ea typeface="Cambria" panose="02040503050406030204" pitchFamily="18" charset="0"/>
              </a:rPr>
              <a:t>(y))) → </a:t>
            </a:r>
            <a:r>
              <a:rPr lang="en-US" sz="2400" dirty="0" err="1">
                <a:latin typeface="Cambria" panose="02040503050406030204" pitchFamily="18" charset="0"/>
                <a:ea typeface="Cambria" panose="02040503050406030204" pitchFamily="18" charset="0"/>
              </a:rPr>
              <a:t>Savings_Account</a:t>
            </a:r>
            <a:r>
              <a:rPr lang="en-US" sz="2400" dirty="0">
                <a:latin typeface="Cambria" panose="02040503050406030204" pitchFamily="18" charset="0"/>
                <a:ea typeface="Cambria" panose="02040503050406030204" pitchFamily="18" charset="0"/>
              </a:rPr>
              <a:t>(adequate) </a:t>
            </a:r>
            <a:endParaRPr lang="en-US" sz="2400" dirty="0" smtClean="0">
              <a:latin typeface="Cambria" panose="02040503050406030204" pitchFamily="18" charset="0"/>
              <a:ea typeface="Cambria" panose="02040503050406030204" pitchFamily="18" charset="0"/>
            </a:endParaRPr>
          </a:p>
          <a:p>
            <a:pPr marL="514350" indent="-514350">
              <a:buAutoNum type="arabicPeriod" startAt="3"/>
            </a:pPr>
            <a:r>
              <a:rPr lang="en-US" sz="2400" dirty="0" smtClean="0">
                <a:latin typeface="Cambria" panose="02040503050406030204" pitchFamily="18" charset="0"/>
                <a:ea typeface="Cambria" panose="02040503050406030204" pitchFamily="18" charset="0"/>
              </a:rPr>
              <a:t>∀</a:t>
            </a:r>
            <a:r>
              <a:rPr lang="en-US" sz="2400" dirty="0">
                <a:latin typeface="Cambria" panose="02040503050406030204" pitchFamily="18" charset="0"/>
                <a:ea typeface="Cambria" panose="02040503050406030204" pitchFamily="18" charset="0"/>
              </a:rPr>
              <a:t>x </a:t>
            </a:r>
            <a:r>
              <a:rPr lang="en-US" sz="2400" dirty="0" err="1">
                <a:latin typeface="Cambria" panose="02040503050406030204" pitchFamily="18" charset="0"/>
                <a:ea typeface="Cambria" panose="02040503050406030204" pitchFamily="18" charset="0"/>
              </a:rPr>
              <a:t>Amount_saved</a:t>
            </a:r>
            <a:r>
              <a:rPr lang="en-US" sz="2400" dirty="0">
                <a:latin typeface="Cambria" panose="02040503050406030204" pitchFamily="18" charset="0"/>
                <a:ea typeface="Cambria" panose="02040503050406030204" pitchFamily="18" charset="0"/>
              </a:rPr>
              <a:t>(x) ^ ∃y (dependents(y) ^ not(greater(</a:t>
            </a:r>
            <a:r>
              <a:rPr lang="en-US" sz="2400" dirty="0" err="1">
                <a:latin typeface="Cambria" panose="02040503050406030204" pitchFamily="18" charset="0"/>
                <a:ea typeface="Cambria" panose="02040503050406030204" pitchFamily="18" charset="0"/>
              </a:rPr>
              <a:t>x,MinSavings</a:t>
            </a:r>
            <a:r>
              <a:rPr lang="en-US" sz="2400" dirty="0">
                <a:latin typeface="Cambria" panose="02040503050406030204" pitchFamily="18" charset="0"/>
                <a:ea typeface="Cambria" panose="02040503050406030204" pitchFamily="18" charset="0"/>
              </a:rPr>
              <a:t>(y))))→ </a:t>
            </a:r>
            <a:r>
              <a:rPr lang="en-US" sz="2400" dirty="0" err="1">
                <a:latin typeface="Cambria" panose="02040503050406030204" pitchFamily="18" charset="0"/>
                <a:ea typeface="Cambria" panose="02040503050406030204" pitchFamily="18" charset="0"/>
              </a:rPr>
              <a:t>Savings_Account</a:t>
            </a:r>
            <a:r>
              <a:rPr lang="en-US" sz="2400" dirty="0">
                <a:latin typeface="Cambria" panose="02040503050406030204" pitchFamily="18" charset="0"/>
                <a:ea typeface="Cambria" panose="02040503050406030204" pitchFamily="18" charset="0"/>
              </a:rPr>
              <a:t>(inadequate) </a:t>
            </a:r>
          </a:p>
          <a:p>
            <a:pPr marL="0" indent="0">
              <a:buNone/>
            </a:pPr>
            <a:r>
              <a:rPr lang="en-US" sz="2400" dirty="0" smtClean="0">
                <a:latin typeface="Cambria" panose="02040503050406030204" pitchFamily="18" charset="0"/>
                <a:ea typeface="Cambria" panose="02040503050406030204" pitchFamily="18" charset="0"/>
              </a:rPr>
              <a:t>5a</a:t>
            </a:r>
            <a:r>
              <a:rPr lang="en-US" sz="2400" dirty="0">
                <a:latin typeface="Cambria" panose="02040503050406030204" pitchFamily="18" charset="0"/>
                <a:ea typeface="Cambria" panose="02040503050406030204" pitchFamily="18" charset="0"/>
              </a:rPr>
              <a:t>. ¬∃y dependents(y) → </a:t>
            </a:r>
            <a:r>
              <a:rPr lang="en-US" sz="2400" dirty="0" err="1">
                <a:latin typeface="Cambria" panose="02040503050406030204" pitchFamily="18" charset="0"/>
                <a:ea typeface="Cambria" panose="02040503050406030204" pitchFamily="18" charset="0"/>
              </a:rPr>
              <a:t>Savings_Account</a:t>
            </a:r>
            <a:r>
              <a:rPr lang="en-US" sz="2400" dirty="0">
                <a:latin typeface="Cambria" panose="02040503050406030204" pitchFamily="18" charset="0"/>
                <a:ea typeface="Cambria" panose="02040503050406030204" pitchFamily="18" charset="0"/>
              </a:rPr>
              <a:t>(adequate)</a:t>
            </a:r>
          </a:p>
        </p:txBody>
      </p:sp>
    </p:spTree>
    <p:extLst>
      <p:ext uri="{BB962C8B-B14F-4D97-AF65-F5344CB8AC3E}">
        <p14:creationId xmlns:p14="http://schemas.microsoft.com/office/powerpoint/2010/main" val="306864241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65018" y="800389"/>
            <a:ext cx="10917382" cy="4351338"/>
          </a:xfrm>
        </p:spPr>
        <p:txBody>
          <a:bodyPr>
            <a:normAutofit/>
          </a:bodyPr>
          <a:lstStyle/>
          <a:p>
            <a:pPr marL="0" indent="0">
              <a:buNone/>
            </a:pPr>
            <a:r>
              <a:rPr lang="en-US" sz="2400" dirty="0">
                <a:latin typeface="Cambria" panose="02040503050406030204" pitchFamily="18" charset="0"/>
                <a:ea typeface="Cambria" panose="02040503050406030204" pitchFamily="18" charset="0"/>
              </a:rPr>
              <a:t>Now we need to define adequacy of income: </a:t>
            </a:r>
            <a:r>
              <a:rPr lang="en-US" sz="2400" dirty="0" err="1">
                <a:latin typeface="Cambria" panose="02040503050406030204" pitchFamily="18" charset="0"/>
                <a:ea typeface="Cambria" panose="02040503050406030204" pitchFamily="18" charset="0"/>
              </a:rPr>
              <a:t>MinIncome</a:t>
            </a:r>
            <a:r>
              <a:rPr lang="en-US" sz="2400" dirty="0">
                <a:latin typeface="Cambria" panose="02040503050406030204" pitchFamily="18" charset="0"/>
                <a:ea typeface="Cambria" panose="02040503050406030204" pitchFamily="18" charset="0"/>
              </a:rPr>
              <a:t>(Z) = 15000 + (4000*Z) </a:t>
            </a:r>
            <a:endParaRPr lang="en-US" sz="2400" dirty="0" smtClean="0">
              <a:latin typeface="Cambria" panose="02040503050406030204" pitchFamily="18" charset="0"/>
              <a:ea typeface="Cambria" panose="02040503050406030204" pitchFamily="18" charset="0"/>
            </a:endParaRPr>
          </a:p>
          <a:p>
            <a:pPr marL="0" indent="0">
              <a:buNone/>
            </a:pP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6</a:t>
            </a:r>
            <a:r>
              <a:rPr lang="en-US" sz="2400" dirty="0">
                <a:latin typeface="Cambria" panose="02040503050406030204" pitchFamily="18" charset="0"/>
                <a:ea typeface="Cambria" panose="02040503050406030204" pitchFamily="18" charset="0"/>
              </a:rPr>
              <a:t>. ∀x Earnings(x, steady) ^ ∃y (dependents(y) ^ greater(</a:t>
            </a:r>
            <a:r>
              <a:rPr lang="en-US" sz="2400" dirty="0" err="1">
                <a:latin typeface="Cambria" panose="02040503050406030204" pitchFamily="18" charset="0"/>
                <a:ea typeface="Cambria" panose="02040503050406030204" pitchFamily="18" charset="0"/>
              </a:rPr>
              <a:t>x,MinIncome</a:t>
            </a:r>
            <a:r>
              <a:rPr lang="en-US" sz="2400" dirty="0">
                <a:latin typeface="Cambria" panose="02040503050406030204" pitchFamily="18" charset="0"/>
                <a:ea typeface="Cambria" panose="02040503050406030204" pitchFamily="18" charset="0"/>
              </a:rPr>
              <a:t>(y))) → income(adequate). </a:t>
            </a: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7</a:t>
            </a:r>
            <a:r>
              <a:rPr lang="en-US" sz="2400" dirty="0">
                <a:latin typeface="Cambria" panose="02040503050406030204" pitchFamily="18" charset="0"/>
                <a:ea typeface="Cambria" panose="02040503050406030204" pitchFamily="18" charset="0"/>
              </a:rPr>
              <a:t>. ∀x Earnings(x, steady) ^ ∃y (dependents(y) ^ Not(greater(</a:t>
            </a:r>
            <a:r>
              <a:rPr lang="en-US" sz="2400" dirty="0" err="1">
                <a:latin typeface="Cambria" panose="02040503050406030204" pitchFamily="18" charset="0"/>
                <a:ea typeface="Cambria" panose="02040503050406030204" pitchFamily="18" charset="0"/>
              </a:rPr>
              <a:t>x,MinIncome</a:t>
            </a:r>
            <a:r>
              <a:rPr lang="en-US" sz="2400" dirty="0">
                <a:latin typeface="Cambria" panose="02040503050406030204" pitchFamily="18" charset="0"/>
                <a:ea typeface="Cambria" panose="02040503050406030204" pitchFamily="18" charset="0"/>
              </a:rPr>
              <a:t>(y)))) → income(inadequate). </a:t>
            </a: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8</a:t>
            </a:r>
            <a:r>
              <a:rPr lang="en-US" sz="2400" dirty="0">
                <a:latin typeface="Cambria" panose="02040503050406030204" pitchFamily="18" charset="0"/>
                <a:ea typeface="Cambria" panose="02040503050406030204" pitchFamily="18" charset="0"/>
              </a:rPr>
              <a:t>. ∀x Earnings(</a:t>
            </a:r>
            <a:r>
              <a:rPr lang="en-US" sz="2400" dirty="0" err="1">
                <a:latin typeface="Cambria" panose="02040503050406030204" pitchFamily="18" charset="0"/>
                <a:ea typeface="Cambria" panose="02040503050406030204" pitchFamily="18" charset="0"/>
              </a:rPr>
              <a:t>x,unsteady</a:t>
            </a:r>
            <a:r>
              <a:rPr lang="en-US" sz="2400" dirty="0">
                <a:latin typeface="Cambria" panose="02040503050406030204" pitchFamily="18" charset="0"/>
                <a:ea typeface="Cambria" panose="02040503050406030204" pitchFamily="18" charset="0"/>
              </a:rPr>
              <a:t>) → income(inadequate). </a:t>
            </a:r>
            <a:endParaRPr lang="en-US" sz="2400" dirty="0" smtClean="0">
              <a:latin typeface="Cambria" panose="02040503050406030204" pitchFamily="18" charset="0"/>
              <a:ea typeface="Cambria" panose="02040503050406030204" pitchFamily="18" charset="0"/>
            </a:endParaRPr>
          </a:p>
          <a:p>
            <a:pPr marL="0" indent="0">
              <a:buNone/>
            </a:pPr>
            <a:r>
              <a:rPr lang="en-US" sz="2400" dirty="0" smtClean="0">
                <a:latin typeface="Cambria" panose="02040503050406030204" pitchFamily="18" charset="0"/>
                <a:ea typeface="Cambria" panose="02040503050406030204" pitchFamily="18" charset="0"/>
              </a:rPr>
              <a:t>8a</a:t>
            </a:r>
            <a:r>
              <a:rPr lang="en-US" sz="2400" dirty="0">
                <a:latin typeface="Cambria" panose="02040503050406030204" pitchFamily="18" charset="0"/>
                <a:ea typeface="Cambria" panose="02040503050406030204" pitchFamily="18" charset="0"/>
              </a:rPr>
              <a:t>. ∀x Earnings(</a:t>
            </a:r>
            <a:r>
              <a:rPr lang="en-US" sz="2400" dirty="0" err="1">
                <a:latin typeface="Cambria" panose="02040503050406030204" pitchFamily="18" charset="0"/>
                <a:ea typeface="Cambria" panose="02040503050406030204" pitchFamily="18" charset="0"/>
              </a:rPr>
              <a:t>x,steady</a:t>
            </a:r>
            <a:r>
              <a:rPr lang="en-US" sz="2400" dirty="0">
                <a:latin typeface="Cambria" panose="02040503050406030204" pitchFamily="18" charset="0"/>
                <a:ea typeface="Cambria" panose="02040503050406030204" pitchFamily="18" charset="0"/>
              </a:rPr>
              <a:t>) ^ ¬∃y dependents(y) → income(adequate) </a:t>
            </a:r>
          </a:p>
        </p:txBody>
      </p:sp>
    </p:spTree>
    <p:extLst>
      <p:ext uri="{BB962C8B-B14F-4D97-AF65-F5344CB8AC3E}">
        <p14:creationId xmlns:p14="http://schemas.microsoft.com/office/powerpoint/2010/main" val="53240560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55073" y="1008207"/>
            <a:ext cx="10515600" cy="4351338"/>
          </a:xfrm>
        </p:spPr>
        <p:txBody>
          <a:bodyPr>
            <a:normAutofit/>
          </a:bodyPr>
          <a:lstStyle/>
          <a:p>
            <a:pPr marL="0" indent="0">
              <a:lnSpc>
                <a:spcPct val="100000"/>
              </a:lnSpc>
              <a:buNone/>
            </a:pPr>
            <a:r>
              <a:rPr lang="en-US" sz="2400" dirty="0">
                <a:latin typeface="Cambria" panose="02040503050406030204" pitchFamily="18" charset="0"/>
                <a:ea typeface="Cambria" panose="02040503050406030204" pitchFamily="18" charset="0"/>
              </a:rPr>
              <a:t>That's all the knowledge we need for our system. </a:t>
            </a:r>
            <a:endParaRPr lang="en-US" sz="2400" dirty="0" smtClean="0">
              <a:latin typeface="Cambria" panose="02040503050406030204" pitchFamily="18" charset="0"/>
              <a:ea typeface="Cambria" panose="02040503050406030204" pitchFamily="18" charset="0"/>
            </a:endParaRPr>
          </a:p>
          <a:p>
            <a:pPr marL="0" indent="0">
              <a:lnSpc>
                <a:spcPct val="100000"/>
              </a:lnSpc>
              <a:buNone/>
            </a:pPr>
            <a:r>
              <a:rPr lang="en-US" sz="2400" dirty="0" smtClean="0">
                <a:latin typeface="Cambria" panose="02040503050406030204" pitchFamily="18" charset="0"/>
                <a:ea typeface="Cambria" panose="02040503050406030204" pitchFamily="18" charset="0"/>
              </a:rPr>
              <a:t>Now </a:t>
            </a:r>
            <a:r>
              <a:rPr lang="en-US" sz="2400" dirty="0">
                <a:latin typeface="Cambria" panose="02040503050406030204" pitchFamily="18" charset="0"/>
                <a:ea typeface="Cambria" panose="02040503050406030204" pitchFamily="18" charset="0"/>
              </a:rPr>
              <a:t>let's give our system some sample data for Herman. Toiling as an instructor, Herman makes only $25000 a year. </a:t>
            </a:r>
            <a:endParaRPr lang="en-US" sz="2400" dirty="0" smtClean="0">
              <a:latin typeface="Cambria" panose="02040503050406030204" pitchFamily="18" charset="0"/>
              <a:ea typeface="Cambria" panose="02040503050406030204" pitchFamily="18" charset="0"/>
            </a:endParaRPr>
          </a:p>
          <a:p>
            <a:pPr marL="0" indent="0">
              <a:lnSpc>
                <a:spcPct val="100000"/>
              </a:lnSpc>
              <a:buNone/>
            </a:pPr>
            <a:r>
              <a:rPr lang="en-US" sz="2400" dirty="0" smtClean="0">
                <a:latin typeface="Cambria" panose="02040503050406030204" pitchFamily="18" charset="0"/>
                <a:ea typeface="Cambria" panose="02040503050406030204" pitchFamily="18" charset="0"/>
              </a:rPr>
              <a:t>However</a:t>
            </a:r>
            <a:r>
              <a:rPr lang="en-US" sz="2400" dirty="0">
                <a:latin typeface="Cambria" panose="02040503050406030204" pitchFamily="18" charset="0"/>
                <a:ea typeface="Cambria" panose="02040503050406030204" pitchFamily="18" charset="0"/>
              </a:rPr>
              <a:t>, he had the good fortune of inheriting some money and has $22000 saved. He has three dependents. </a:t>
            </a:r>
            <a:endParaRPr lang="en-US" sz="2400" dirty="0" smtClean="0">
              <a:latin typeface="Cambria" panose="02040503050406030204" pitchFamily="18" charset="0"/>
              <a:ea typeface="Cambria" panose="02040503050406030204" pitchFamily="18" charset="0"/>
            </a:endParaRPr>
          </a:p>
          <a:p>
            <a:pPr marL="0" indent="0">
              <a:lnSpc>
                <a:spcPct val="100000"/>
              </a:lnSpc>
              <a:buNone/>
            </a:pPr>
            <a:r>
              <a:rPr lang="en-US" sz="2400" dirty="0" smtClean="0">
                <a:latin typeface="Cambria" panose="02040503050406030204" pitchFamily="18" charset="0"/>
                <a:ea typeface="Cambria" panose="02040503050406030204" pitchFamily="18" charset="0"/>
              </a:rPr>
              <a:t>9</a:t>
            </a:r>
            <a:r>
              <a:rPr lang="en-US" sz="2400" dirty="0">
                <a:latin typeface="Cambria" panose="02040503050406030204" pitchFamily="18" charset="0"/>
                <a:ea typeface="Cambria" panose="02040503050406030204" pitchFamily="18" charset="0"/>
              </a:rPr>
              <a:t>. </a:t>
            </a:r>
            <a:r>
              <a:rPr lang="en-US" sz="2400" dirty="0" err="1">
                <a:latin typeface="Cambria" panose="02040503050406030204" pitchFamily="18" charset="0"/>
                <a:ea typeface="Cambria" panose="02040503050406030204" pitchFamily="18" charset="0"/>
              </a:rPr>
              <a:t>amount_saved</a:t>
            </a:r>
            <a:r>
              <a:rPr lang="en-US" sz="2400" dirty="0">
                <a:latin typeface="Cambria" panose="02040503050406030204" pitchFamily="18" charset="0"/>
                <a:ea typeface="Cambria" panose="02040503050406030204" pitchFamily="18" charset="0"/>
              </a:rPr>
              <a:t>(22000) </a:t>
            </a:r>
            <a:endParaRPr lang="en-US" sz="2400" dirty="0" smtClean="0">
              <a:latin typeface="Cambria" panose="02040503050406030204" pitchFamily="18" charset="0"/>
              <a:ea typeface="Cambria" panose="02040503050406030204" pitchFamily="18" charset="0"/>
            </a:endParaRPr>
          </a:p>
          <a:p>
            <a:pPr marL="0" indent="0">
              <a:lnSpc>
                <a:spcPct val="100000"/>
              </a:lnSpc>
              <a:buNone/>
            </a:pPr>
            <a:r>
              <a:rPr lang="en-US" sz="2400" dirty="0" smtClean="0">
                <a:latin typeface="Cambria" panose="02040503050406030204" pitchFamily="18" charset="0"/>
                <a:ea typeface="Cambria" panose="02040503050406030204" pitchFamily="18" charset="0"/>
              </a:rPr>
              <a:t>10</a:t>
            </a:r>
            <a:r>
              <a:rPr lang="en-US" sz="2400" dirty="0">
                <a:latin typeface="Cambria" panose="02040503050406030204" pitchFamily="18" charset="0"/>
                <a:ea typeface="Cambria" panose="02040503050406030204" pitchFamily="18" charset="0"/>
              </a:rPr>
              <a:t>. earnings(25000, steady) </a:t>
            </a:r>
            <a:endParaRPr lang="en-US" sz="2400" dirty="0" smtClean="0">
              <a:latin typeface="Cambria" panose="02040503050406030204" pitchFamily="18" charset="0"/>
              <a:ea typeface="Cambria" panose="02040503050406030204" pitchFamily="18" charset="0"/>
            </a:endParaRPr>
          </a:p>
          <a:p>
            <a:pPr marL="0" indent="0">
              <a:lnSpc>
                <a:spcPct val="100000"/>
              </a:lnSpc>
              <a:buNone/>
            </a:pPr>
            <a:r>
              <a:rPr lang="en-US" sz="2400" dirty="0" smtClean="0">
                <a:latin typeface="Cambria" panose="02040503050406030204" pitchFamily="18" charset="0"/>
                <a:ea typeface="Cambria" panose="02040503050406030204" pitchFamily="18" charset="0"/>
              </a:rPr>
              <a:t>11</a:t>
            </a:r>
            <a:r>
              <a:rPr lang="en-US" sz="2400" dirty="0">
                <a:latin typeface="Cambria" panose="02040503050406030204" pitchFamily="18" charset="0"/>
                <a:ea typeface="Cambria" panose="02040503050406030204" pitchFamily="18" charset="0"/>
              </a:rPr>
              <a:t>. dependents(3)</a:t>
            </a:r>
          </a:p>
        </p:txBody>
      </p:sp>
    </p:spTree>
    <p:extLst>
      <p:ext uri="{BB962C8B-B14F-4D97-AF65-F5344CB8AC3E}">
        <p14:creationId xmlns:p14="http://schemas.microsoft.com/office/powerpoint/2010/main" val="33577821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4344" y="156873"/>
            <a:ext cx="10515600" cy="1325563"/>
          </a:xfrm>
        </p:spPr>
        <p:txBody>
          <a:bodyPr/>
          <a:lstStyle/>
          <a:p>
            <a:pPr algn="ctr"/>
            <a:r>
              <a:rPr lang="en-US" dirty="0">
                <a:latin typeface="Cambria" panose="02040503050406030204" pitchFamily="18" charset="0"/>
                <a:ea typeface="Cambria" panose="02040503050406030204" pitchFamily="18" charset="0"/>
              </a:rPr>
              <a:t>Programming using Prolog</a:t>
            </a:r>
          </a:p>
        </p:txBody>
      </p:sp>
      <p:sp>
        <p:nvSpPr>
          <p:cNvPr id="3" name="Content Placeholder 2"/>
          <p:cNvSpPr>
            <a:spLocks noGrp="1"/>
          </p:cNvSpPr>
          <p:nvPr>
            <p:ph idx="1"/>
          </p:nvPr>
        </p:nvSpPr>
        <p:spPr>
          <a:xfrm>
            <a:off x="415635" y="1482436"/>
            <a:ext cx="11333019" cy="5140037"/>
          </a:xfrm>
        </p:spPr>
        <p:txBody>
          <a:bodyPr>
            <a:normAutofit fontScale="85000" lnSpcReduction="20000"/>
          </a:bodyPr>
          <a:lstStyle/>
          <a:p>
            <a:pPr algn="just">
              <a:lnSpc>
                <a:spcPct val="120000"/>
              </a:lnSpc>
            </a:pPr>
            <a:r>
              <a:rPr lang="en-US" dirty="0" smtClean="0">
                <a:latin typeface="Cambria" panose="02040503050406030204" pitchFamily="18" charset="0"/>
                <a:ea typeface="Cambria" panose="02040503050406030204" pitchFamily="18" charset="0"/>
              </a:rPr>
              <a:t>Prolog </a:t>
            </a:r>
            <a:r>
              <a:rPr lang="en-US" dirty="0">
                <a:latin typeface="Cambria" panose="02040503050406030204" pitchFamily="18" charset="0"/>
                <a:ea typeface="Cambria" panose="02040503050406030204" pitchFamily="18" charset="0"/>
              </a:rPr>
              <a:t>stands for programming in logic. In the logic programming paradigm, prolog language is most widely available. </a:t>
            </a:r>
            <a:endParaRPr lang="en-US" dirty="0" smtClean="0">
              <a:latin typeface="Cambria" panose="02040503050406030204" pitchFamily="18" charset="0"/>
              <a:ea typeface="Cambria" panose="02040503050406030204" pitchFamily="18" charset="0"/>
            </a:endParaRPr>
          </a:p>
          <a:p>
            <a:pPr algn="just">
              <a:lnSpc>
                <a:spcPct val="120000"/>
              </a:lnSpc>
            </a:pPr>
            <a:r>
              <a:rPr lang="en-US" dirty="0" smtClean="0">
                <a:latin typeface="Cambria" panose="02040503050406030204" pitchFamily="18" charset="0"/>
                <a:ea typeface="Cambria" panose="02040503050406030204" pitchFamily="18" charset="0"/>
              </a:rPr>
              <a:t>Prolog </a:t>
            </a:r>
            <a:r>
              <a:rPr lang="en-US" dirty="0">
                <a:latin typeface="Cambria" panose="02040503050406030204" pitchFamily="18" charset="0"/>
                <a:ea typeface="Cambria" panose="02040503050406030204" pitchFamily="18" charset="0"/>
              </a:rPr>
              <a:t>is a declarative language, which means that a program consists of data based on the facts and rules (Logical relationship) rather than computing how to find a solution. A logical relationship describes the relationships which hold for the given application.</a:t>
            </a:r>
          </a:p>
          <a:p>
            <a:pPr algn="just">
              <a:lnSpc>
                <a:spcPct val="120000"/>
              </a:lnSpc>
            </a:pPr>
            <a:r>
              <a:rPr lang="en-US" dirty="0">
                <a:latin typeface="Cambria" panose="02040503050406030204" pitchFamily="18" charset="0"/>
                <a:ea typeface="Cambria" panose="02040503050406030204" pitchFamily="18" charset="0"/>
              </a:rPr>
              <a:t>To obtain the solution, the user asks a question rather than running a program. When a user asks a question, then to determine the answer, the run time system searches through the database of facts and rules.</a:t>
            </a:r>
          </a:p>
          <a:p>
            <a:pPr algn="just">
              <a:lnSpc>
                <a:spcPct val="120000"/>
              </a:lnSpc>
            </a:pPr>
            <a:r>
              <a:rPr lang="en-US" dirty="0">
                <a:latin typeface="Cambria" panose="02040503050406030204" pitchFamily="18" charset="0"/>
                <a:ea typeface="Cambria" panose="02040503050406030204" pitchFamily="18" charset="0"/>
              </a:rPr>
              <a:t>The first Prolog was 'Marseille Prolog', which is based on work by </a:t>
            </a:r>
            <a:r>
              <a:rPr lang="en-US" dirty="0" err="1">
                <a:latin typeface="Cambria" panose="02040503050406030204" pitchFamily="18" charset="0"/>
                <a:ea typeface="Cambria" panose="02040503050406030204" pitchFamily="18" charset="0"/>
              </a:rPr>
              <a:t>Colmerauer</a:t>
            </a:r>
            <a:r>
              <a:rPr lang="en-US" dirty="0">
                <a:latin typeface="Cambria" panose="02040503050406030204" pitchFamily="18" charset="0"/>
                <a:ea typeface="Cambria" panose="02040503050406030204" pitchFamily="18" charset="0"/>
              </a:rPr>
              <a:t>. The major example of fourth-generation programming language was prolog. It supports the declarative programming paradigm.</a:t>
            </a:r>
          </a:p>
          <a:p>
            <a:pPr algn="just"/>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72489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29491" y="457200"/>
            <a:ext cx="11305309" cy="5943600"/>
          </a:xfrm>
        </p:spPr>
        <p:txBody>
          <a:bodyPr>
            <a:normAutofit fontScale="85000" lnSpcReduction="10000"/>
          </a:bodyPr>
          <a:lstStyle/>
          <a:p>
            <a:pPr algn="just">
              <a:lnSpc>
                <a:spcPct val="110000"/>
              </a:lnSpc>
            </a:pPr>
            <a:endParaRPr lang="en-US" dirty="0" smtClean="0">
              <a:latin typeface="Cambria" panose="02040503050406030204" pitchFamily="18" charset="0"/>
              <a:ea typeface="Cambria" panose="02040503050406030204" pitchFamily="18" charset="0"/>
            </a:endParaRPr>
          </a:p>
          <a:p>
            <a:pPr algn="just">
              <a:lnSpc>
                <a:spcPct val="110000"/>
              </a:lnSpc>
            </a:pPr>
            <a:r>
              <a:rPr lang="en-US" dirty="0">
                <a:latin typeface="Cambria" panose="02040503050406030204" pitchFamily="18" charset="0"/>
                <a:ea typeface="Cambria" panose="02040503050406030204" pitchFamily="18" charset="0"/>
              </a:rPr>
              <a:t>In 1981, a Japanese computer Project of 5</a:t>
            </a:r>
            <a:r>
              <a:rPr lang="en-US" baseline="30000" dirty="0">
                <a:latin typeface="Cambria" panose="02040503050406030204" pitchFamily="18" charset="0"/>
                <a:ea typeface="Cambria" panose="02040503050406030204" pitchFamily="18" charset="0"/>
              </a:rPr>
              <a:t>th</a:t>
            </a:r>
            <a:r>
              <a:rPr lang="en-US" dirty="0">
                <a:latin typeface="Cambria" panose="02040503050406030204" pitchFamily="18" charset="0"/>
                <a:ea typeface="Cambria" panose="02040503050406030204" pitchFamily="18" charset="0"/>
              </a:rPr>
              <a:t> generation was announced. After that, it was adopted Prolog as a development language. In this tutorial, the program was written in the 'Standard' Edinburgh Prolog. Prologs of </a:t>
            </a:r>
            <a:r>
              <a:rPr lang="en-US" dirty="0" err="1">
                <a:latin typeface="Cambria" panose="02040503050406030204" pitchFamily="18" charset="0"/>
                <a:ea typeface="Cambria" panose="02040503050406030204" pitchFamily="18" charset="0"/>
              </a:rPr>
              <a:t>PrologII</a:t>
            </a:r>
            <a:r>
              <a:rPr lang="en-US" dirty="0">
                <a:latin typeface="Cambria" panose="02040503050406030204" pitchFamily="18" charset="0"/>
                <a:ea typeface="Cambria" panose="02040503050406030204" pitchFamily="18" charset="0"/>
              </a:rPr>
              <a:t> family are the other kind of prologs which are descendants of Marseille Prolog.</a:t>
            </a:r>
          </a:p>
          <a:p>
            <a:pPr algn="just">
              <a:lnSpc>
                <a:spcPct val="110000"/>
              </a:lnSpc>
            </a:pPr>
            <a:r>
              <a:rPr lang="en-US" dirty="0" smtClean="0">
                <a:latin typeface="Cambria" panose="02040503050406030204" pitchFamily="18" charset="0"/>
                <a:ea typeface="Cambria" panose="02040503050406030204" pitchFamily="18" charset="0"/>
              </a:rPr>
              <a:t>Prolog </a:t>
            </a:r>
            <a:r>
              <a:rPr lang="en-US" dirty="0">
                <a:latin typeface="Cambria" panose="02040503050406030204" pitchFamily="18" charset="0"/>
                <a:ea typeface="Cambria" panose="02040503050406030204" pitchFamily="18" charset="0"/>
              </a:rPr>
              <a:t>features are 'Logical variable', which means that they behave like uniform data structure, a backtracking strategy to search for proofs, a pattern-matching facility, mathematical variable, and input and out are interchangeable.</a:t>
            </a:r>
          </a:p>
          <a:p>
            <a:pPr algn="just">
              <a:lnSpc>
                <a:spcPct val="110000"/>
              </a:lnSpc>
            </a:pPr>
            <a:r>
              <a:rPr lang="en-US" dirty="0">
                <a:latin typeface="Cambria" panose="02040503050406030204" pitchFamily="18" charset="0"/>
                <a:ea typeface="Cambria" panose="02040503050406030204" pitchFamily="18" charset="0"/>
              </a:rPr>
              <a:t>To deduce the answer, there will be more than one way. In such case, the run time system will be asked to find another solution. To generate another solution, use the backtracking strategy. Prolog is a weakly typed language with static scope rules and dynamic type checking.</a:t>
            </a:r>
          </a:p>
          <a:p>
            <a:pPr algn="just">
              <a:lnSpc>
                <a:spcPct val="110000"/>
              </a:lnSpc>
            </a:pPr>
            <a:r>
              <a:rPr lang="en-US" dirty="0">
                <a:latin typeface="Cambria" panose="02040503050406030204" pitchFamily="18" charset="0"/>
                <a:ea typeface="Cambria" panose="02040503050406030204" pitchFamily="18" charset="0"/>
              </a:rPr>
              <a:t>Prolog is a declarative language that means we can specify what problem we want to solve rather than how to solve it.</a:t>
            </a:r>
          </a:p>
          <a:p>
            <a:pPr algn="just">
              <a:lnSpc>
                <a:spcPct val="110000"/>
              </a:lnSpc>
            </a:pPr>
            <a:endParaRPr lang="en-US" dirty="0"/>
          </a:p>
          <a:p>
            <a:endParaRPr lang="en-US" dirty="0"/>
          </a:p>
        </p:txBody>
      </p:sp>
    </p:spTree>
    <p:extLst>
      <p:ext uri="{BB962C8B-B14F-4D97-AF65-F5344CB8AC3E}">
        <p14:creationId xmlns:p14="http://schemas.microsoft.com/office/powerpoint/2010/main" val="4273846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1" y="592569"/>
            <a:ext cx="11568546" cy="6126886"/>
          </a:xfrm>
        </p:spPr>
        <p:txBody>
          <a:bodyPr>
            <a:normAutofit fontScale="77500" lnSpcReduction="20000"/>
          </a:bodyPr>
          <a:lstStyle/>
          <a:p>
            <a:pPr algn="just">
              <a:lnSpc>
                <a:spcPct val="120000"/>
              </a:lnSpc>
            </a:pPr>
            <a:r>
              <a:rPr lang="en-US" dirty="0">
                <a:latin typeface="Cambria" panose="02040503050406030204" pitchFamily="18" charset="0"/>
                <a:ea typeface="Cambria" panose="02040503050406030204" pitchFamily="18" charset="0"/>
              </a:rPr>
              <a:t>Prolog is used in some areas like database, natural language processing, artificial intelligence, but it is pretty useless in some areas like a numerical algorithm or instance graphics.</a:t>
            </a:r>
          </a:p>
          <a:p>
            <a:pPr algn="just">
              <a:lnSpc>
                <a:spcPct val="120000"/>
              </a:lnSpc>
            </a:pPr>
            <a:r>
              <a:rPr lang="en-US" dirty="0" smtClean="0">
                <a:latin typeface="Cambria" panose="02040503050406030204" pitchFamily="18" charset="0"/>
                <a:ea typeface="Cambria" panose="02040503050406030204" pitchFamily="18" charset="0"/>
              </a:rPr>
              <a:t>In </a:t>
            </a:r>
            <a:r>
              <a:rPr lang="en-US" dirty="0">
                <a:latin typeface="Cambria" panose="02040503050406030204" pitchFamily="18" charset="0"/>
                <a:ea typeface="Cambria" panose="02040503050406030204" pitchFamily="18" charset="0"/>
              </a:rPr>
              <a:t>artificial intelligence applications, prolog is used. The artificial intelligence applications can be automated reasoning systems, natural language interfaces, and expert systems. The expert system consists of an interface engine and a database of facts. The prolog's run time system provides the service of an interface engine.</a:t>
            </a:r>
          </a:p>
          <a:p>
            <a:pPr algn="just">
              <a:lnSpc>
                <a:spcPct val="120000"/>
              </a:lnSpc>
            </a:pPr>
            <a:r>
              <a:rPr lang="en-US" dirty="0">
                <a:latin typeface="Cambria" panose="02040503050406030204" pitchFamily="18" charset="0"/>
                <a:ea typeface="Cambria" panose="02040503050406030204" pitchFamily="18" charset="0"/>
              </a:rPr>
              <a:t>A basic logic programming environment has no literal values. An identifier with upper case letters and other identifiers denote variables. Identifiers that start with lower-case letters denote data values. The basic Prolog elements are </a:t>
            </a:r>
            <a:r>
              <a:rPr lang="en-US" dirty="0" err="1">
                <a:latin typeface="Cambria" panose="02040503050406030204" pitchFamily="18" charset="0"/>
                <a:ea typeface="Cambria" panose="02040503050406030204" pitchFamily="18" charset="0"/>
              </a:rPr>
              <a:t>typeless</a:t>
            </a:r>
            <a:r>
              <a:rPr lang="en-US" dirty="0">
                <a:latin typeface="Cambria" panose="02040503050406030204" pitchFamily="18" charset="0"/>
                <a:ea typeface="Cambria" panose="02040503050406030204" pitchFamily="18" charset="0"/>
              </a:rPr>
              <a:t>. The most implementations of prolog have been enhanced to include integer value, characters, and operations. The Mechanism of prolog describes the tuples and lists.</a:t>
            </a:r>
          </a:p>
          <a:p>
            <a:pPr algn="just">
              <a:lnSpc>
                <a:spcPct val="120000"/>
              </a:lnSpc>
            </a:pPr>
            <a:r>
              <a:rPr lang="en-US" dirty="0">
                <a:latin typeface="Cambria" panose="02040503050406030204" pitchFamily="18" charset="0"/>
                <a:ea typeface="Cambria" panose="02040503050406030204" pitchFamily="18" charset="0"/>
              </a:rPr>
              <a:t>Functional programming language and prolog have some similarities like Hugs. A logic program is used to consist of relation definition. A functional programming language is used to consist of a sequence of function definitions. Both the logical programming and functional programming rely heavily on recursive definitions.</a:t>
            </a:r>
          </a:p>
          <a:p>
            <a:endParaRPr lang="en-US" dirty="0"/>
          </a:p>
        </p:txBody>
      </p:sp>
    </p:spTree>
    <p:extLst>
      <p:ext uri="{BB962C8B-B14F-4D97-AF65-F5344CB8AC3E}">
        <p14:creationId xmlns:p14="http://schemas.microsoft.com/office/powerpoint/2010/main" val="36059777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Cambria" panose="02040503050406030204" pitchFamily="18" charset="0"/>
                <a:ea typeface="Cambria" panose="02040503050406030204" pitchFamily="18" charset="0"/>
              </a:rPr>
              <a:t>Prolog Examples</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p:txBody>
          <a:bodyPr/>
          <a:lstStyle/>
          <a:p>
            <a:pPr marL="0" indent="0" algn="just">
              <a:buNone/>
            </a:pPr>
            <a:r>
              <a:rPr lang="en-US" dirty="0">
                <a:latin typeface="Cambria" panose="02040503050406030204" pitchFamily="18" charset="0"/>
                <a:ea typeface="Cambria" panose="02040503050406030204" pitchFamily="18" charset="0"/>
              </a:rPr>
              <a:t>The following example shows a simple program of Prolog. The program contains three components, which are known as clauses. Each clause is terminated using </a:t>
            </a:r>
            <a:endParaRPr lang="en-US" dirty="0" smtClean="0">
              <a:latin typeface="Cambria" panose="02040503050406030204" pitchFamily="18" charset="0"/>
              <a:ea typeface="Cambria" panose="02040503050406030204" pitchFamily="18" charset="0"/>
            </a:endParaRPr>
          </a:p>
          <a:p>
            <a:pPr marL="0" indent="0">
              <a:buNone/>
            </a:pPr>
            <a:r>
              <a:rPr lang="en-US" dirty="0" smtClean="0"/>
              <a:t>	</a:t>
            </a:r>
            <a:r>
              <a:rPr lang="en-US" dirty="0" smtClean="0">
                <a:latin typeface="Cambria" panose="02040503050406030204" pitchFamily="18" charset="0"/>
                <a:ea typeface="Cambria" panose="02040503050406030204" pitchFamily="18" charset="0"/>
              </a:rPr>
              <a:t>dog(</a:t>
            </a:r>
            <a:r>
              <a:rPr lang="en-US" dirty="0" err="1" smtClean="0">
                <a:latin typeface="Cambria" panose="02040503050406030204" pitchFamily="18" charset="0"/>
                <a:ea typeface="Cambria" panose="02040503050406030204" pitchFamily="18" charset="0"/>
              </a:rPr>
              <a:t>rottweiler</a:t>
            </a:r>
            <a:r>
              <a:rPr lang="en-US" dirty="0">
                <a:latin typeface="Cambria" panose="02040503050406030204" pitchFamily="18" charset="0"/>
                <a:ea typeface="Cambria" panose="02040503050406030204" pitchFamily="18" charset="0"/>
              </a:rPr>
              <a:t>).  </a:t>
            </a:r>
          </a:p>
          <a:p>
            <a:pPr marL="0" indent="0">
              <a:buNone/>
            </a:pPr>
            <a:r>
              <a:rPr lang="en-US" dirty="0" smtClean="0">
                <a:latin typeface="Cambria" panose="02040503050406030204" pitchFamily="18" charset="0"/>
                <a:ea typeface="Cambria" panose="02040503050406030204" pitchFamily="18" charset="0"/>
              </a:rPr>
              <a:t>	cat(munchkin</a:t>
            </a:r>
            <a:r>
              <a:rPr lang="en-US" dirty="0">
                <a:latin typeface="Cambria" panose="02040503050406030204" pitchFamily="18" charset="0"/>
                <a:ea typeface="Cambria" panose="02040503050406030204" pitchFamily="18" charset="0"/>
              </a:rPr>
              <a:t>).  </a:t>
            </a:r>
          </a:p>
          <a:p>
            <a:pPr marL="0" indent="0">
              <a:buNone/>
            </a:pPr>
            <a:r>
              <a:rPr lang="en-US" dirty="0" smtClean="0">
                <a:latin typeface="Cambria" panose="02040503050406030204" pitchFamily="18" charset="0"/>
                <a:ea typeface="Cambria" panose="02040503050406030204" pitchFamily="18" charset="0"/>
              </a:rPr>
              <a:t>	animal(A</a:t>
            </a:r>
            <a:r>
              <a:rPr lang="en-US" dirty="0">
                <a:latin typeface="Cambria" panose="02040503050406030204" pitchFamily="18" charset="0"/>
                <a:ea typeface="Cambria" panose="02040503050406030204" pitchFamily="18" charset="0"/>
              </a:rPr>
              <a:t>) :- cat(A).  </a:t>
            </a:r>
            <a:r>
              <a:rPr lang="en-US" dirty="0" smtClean="0">
                <a:latin typeface="Cambria" panose="02040503050406030204" pitchFamily="18" charset="0"/>
                <a:ea typeface="Cambria" panose="02040503050406030204" pitchFamily="18" charset="0"/>
              </a:rPr>
              <a:t>a </a:t>
            </a:r>
            <a:r>
              <a:rPr lang="en-US" dirty="0">
                <a:latin typeface="Cambria" panose="02040503050406030204" pitchFamily="18" charset="0"/>
                <a:ea typeface="Cambria" panose="02040503050406030204" pitchFamily="18" charset="0"/>
              </a:rPr>
              <a:t>full stop.</a:t>
            </a:r>
          </a:p>
        </p:txBody>
      </p:sp>
    </p:spTree>
    <p:extLst>
      <p:ext uri="{BB962C8B-B14F-4D97-AF65-F5344CB8AC3E}">
        <p14:creationId xmlns:p14="http://schemas.microsoft.com/office/powerpoint/2010/main" val="225842297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01782" y="647988"/>
            <a:ext cx="11443854" cy="5295611"/>
          </a:xfrm>
        </p:spPr>
        <p:txBody>
          <a:bodyPr>
            <a:normAutofit fontScale="92500" lnSpcReduction="10000"/>
          </a:bodyPr>
          <a:lstStyle/>
          <a:p>
            <a:pPr marL="0" indent="0">
              <a:lnSpc>
                <a:spcPct val="110000"/>
              </a:lnSpc>
              <a:buNone/>
            </a:pPr>
            <a:r>
              <a:rPr lang="en-US" dirty="0">
                <a:latin typeface="Cambria" panose="02040503050406030204" pitchFamily="18" charset="0"/>
                <a:ea typeface="Cambria" panose="02040503050406030204" pitchFamily="18" charset="0"/>
              </a:rPr>
              <a:t>The following program shows another example about animals. It comprises eight </a:t>
            </a:r>
            <a:r>
              <a:rPr lang="en-US" dirty="0" smtClean="0">
                <a:latin typeface="Cambria" panose="02040503050406030204" pitchFamily="18" charset="0"/>
                <a:ea typeface="Cambria" panose="02040503050406030204" pitchFamily="18" charset="0"/>
              </a:rPr>
              <a:t>clauses</a:t>
            </a:r>
            <a:r>
              <a:rPr lang="en-US" dirty="0">
                <a:latin typeface="Cambria" panose="02040503050406030204" pitchFamily="18" charset="0"/>
                <a:ea typeface="Cambria" panose="02040503050406030204" pitchFamily="18" charset="0"/>
              </a:rPr>
              <a:t>. The comment is shown by all the text between the /* and </a:t>
            </a:r>
            <a:r>
              <a:rPr lang="en-US" dirty="0" smtClean="0">
                <a:latin typeface="Cambria" panose="02040503050406030204" pitchFamily="18" charset="0"/>
                <a:ea typeface="Cambria" panose="02040503050406030204" pitchFamily="18" charset="0"/>
              </a:rPr>
              <a:t>*/.</a:t>
            </a:r>
          </a:p>
          <a:p>
            <a:pPr marL="0" indent="0">
              <a:buNone/>
            </a:pPr>
            <a:endParaRPr lang="en-US" dirty="0" smtClean="0">
              <a:latin typeface="Cambria" panose="02040503050406030204" pitchFamily="18" charset="0"/>
              <a:ea typeface="Cambria" panose="02040503050406030204" pitchFamily="18" charset="0"/>
            </a:endParaRPr>
          </a:p>
          <a:p>
            <a:pPr marL="0" indent="0">
              <a:buNone/>
            </a:pPr>
            <a:r>
              <a:rPr lang="en-US" dirty="0" smtClean="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Another Program of Animal */  </a:t>
            </a:r>
          </a:p>
          <a:p>
            <a:pPr marL="0" indent="0">
              <a:buNone/>
            </a:pPr>
            <a:r>
              <a:rPr lang="en-US" dirty="0">
                <a:latin typeface="Cambria" panose="02040503050406030204" pitchFamily="18" charset="0"/>
                <a:ea typeface="Cambria" panose="02040503050406030204" pitchFamily="18" charset="0"/>
              </a:rPr>
              <a:t>Dog(</a:t>
            </a:r>
            <a:r>
              <a:rPr lang="en-US" dirty="0" err="1">
                <a:latin typeface="Cambria" panose="02040503050406030204" pitchFamily="18" charset="0"/>
                <a:ea typeface="Cambria" panose="02040503050406030204" pitchFamily="18" charset="0"/>
              </a:rPr>
              <a:t>rottweiler</a:t>
            </a:r>
            <a:r>
              <a:rPr lang="en-US" dirty="0">
                <a:latin typeface="Cambria" panose="02040503050406030204" pitchFamily="18" charset="0"/>
                <a:ea typeface="Cambria" panose="02040503050406030204" pitchFamily="18" charset="0"/>
              </a:rPr>
              <a:t>).  </a:t>
            </a:r>
          </a:p>
          <a:p>
            <a:pPr marL="0" indent="0">
              <a:buNone/>
            </a:pPr>
            <a:r>
              <a:rPr lang="en-US" dirty="0">
                <a:latin typeface="Cambria" panose="02040503050406030204" pitchFamily="18" charset="0"/>
                <a:ea typeface="Cambria" panose="02040503050406030204" pitchFamily="18" charset="0"/>
              </a:rPr>
              <a:t>cat(</a:t>
            </a:r>
            <a:r>
              <a:rPr lang="en-US" dirty="0" err="1">
                <a:latin typeface="Cambria" panose="02040503050406030204" pitchFamily="18" charset="0"/>
                <a:ea typeface="Cambria" panose="02040503050406030204" pitchFamily="18" charset="0"/>
              </a:rPr>
              <a:t>sphynx</a:t>
            </a:r>
            <a:r>
              <a:rPr lang="en-US" dirty="0">
                <a:latin typeface="Cambria" panose="02040503050406030204" pitchFamily="18" charset="0"/>
                <a:ea typeface="Cambria" panose="02040503050406030204" pitchFamily="18" charset="0"/>
              </a:rPr>
              <a:t>).        dog(poodle).  </a:t>
            </a:r>
          </a:p>
          <a:p>
            <a:pPr marL="0" indent="0">
              <a:buNone/>
            </a:pPr>
            <a:r>
              <a:rPr lang="en-US" dirty="0">
                <a:latin typeface="Cambria" panose="02040503050406030204" pitchFamily="18" charset="0"/>
                <a:ea typeface="Cambria" panose="02040503050406030204" pitchFamily="18" charset="0"/>
              </a:rPr>
              <a:t>dog(bulldog).       cat(</a:t>
            </a:r>
            <a:r>
              <a:rPr lang="en-US" dirty="0" err="1">
                <a:latin typeface="Cambria" panose="02040503050406030204" pitchFamily="18" charset="0"/>
                <a:ea typeface="Cambria" panose="02040503050406030204" pitchFamily="18" charset="0"/>
              </a:rPr>
              <a:t>bengal</a:t>
            </a:r>
            <a:r>
              <a:rPr lang="en-US" dirty="0">
                <a:latin typeface="Cambria" panose="02040503050406030204" pitchFamily="18" charset="0"/>
                <a:ea typeface="Cambria" panose="02040503050406030204" pitchFamily="18" charset="0"/>
              </a:rPr>
              <a:t>).  </a:t>
            </a:r>
          </a:p>
          <a:p>
            <a:pPr marL="0" indent="0">
              <a:buNone/>
            </a:pPr>
            <a:r>
              <a:rPr lang="en-US" dirty="0" smtClean="0">
                <a:latin typeface="Cambria" panose="02040503050406030204" pitchFamily="18" charset="0"/>
                <a:ea typeface="Cambria" panose="02040503050406030204" pitchFamily="18" charset="0"/>
              </a:rPr>
              <a:t>dog(</a:t>
            </a:r>
            <a:r>
              <a:rPr lang="en-US" dirty="0" err="1" smtClean="0">
                <a:latin typeface="Cambria" panose="02040503050406030204" pitchFamily="18" charset="0"/>
                <a:ea typeface="Cambria" panose="02040503050406030204" pitchFamily="18" charset="0"/>
              </a:rPr>
              <a:t>dobermann</a:t>
            </a:r>
            <a:r>
              <a:rPr lang="en-US" dirty="0">
                <a:latin typeface="Cambria" panose="02040503050406030204" pitchFamily="18" charset="0"/>
                <a:ea typeface="Cambria" panose="02040503050406030204" pitchFamily="18" charset="0"/>
              </a:rPr>
              <a:t>).  </a:t>
            </a:r>
          </a:p>
          <a:p>
            <a:pPr marL="0" indent="0">
              <a:buNone/>
            </a:pPr>
            <a:r>
              <a:rPr lang="en-US" dirty="0">
                <a:latin typeface="Cambria" panose="02040503050406030204" pitchFamily="18" charset="0"/>
                <a:ea typeface="Cambria" panose="02040503050406030204" pitchFamily="18" charset="0"/>
              </a:rPr>
              <a:t>cat(</a:t>
            </a:r>
            <a:r>
              <a:rPr lang="en-US" dirty="0" err="1">
                <a:latin typeface="Cambria" panose="02040503050406030204" pitchFamily="18" charset="0"/>
                <a:ea typeface="Cambria" panose="02040503050406030204" pitchFamily="18" charset="0"/>
              </a:rPr>
              <a:t>himalayan</a:t>
            </a:r>
            <a:r>
              <a:rPr lang="en-US" dirty="0">
                <a:latin typeface="Cambria" panose="02040503050406030204" pitchFamily="18" charset="0"/>
                <a:ea typeface="Cambria" panose="02040503050406030204" pitchFamily="18" charset="0"/>
              </a:rPr>
              <a:t>). cat(</a:t>
            </a:r>
            <a:r>
              <a:rPr lang="en-US" dirty="0" err="1">
                <a:latin typeface="Cambria" panose="02040503050406030204" pitchFamily="18" charset="0"/>
                <a:ea typeface="Cambria" panose="02040503050406030204" pitchFamily="18" charset="0"/>
              </a:rPr>
              <a:t>singapura</a:t>
            </a:r>
            <a:r>
              <a:rPr lang="en-US" dirty="0">
                <a:latin typeface="Cambria" panose="02040503050406030204" pitchFamily="18" charset="0"/>
                <a:ea typeface="Cambria" panose="02040503050406030204" pitchFamily="18" charset="0"/>
              </a:rPr>
              <a:t>).  </a:t>
            </a:r>
            <a:endParaRPr lang="en-US" dirty="0" smtClean="0">
              <a:latin typeface="Cambria" panose="02040503050406030204" pitchFamily="18" charset="0"/>
              <a:ea typeface="Cambria" panose="02040503050406030204" pitchFamily="18" charset="0"/>
            </a:endParaRPr>
          </a:p>
          <a:p>
            <a:pPr marL="0" indent="0">
              <a:buNone/>
            </a:pPr>
            <a:endParaRPr lang="en-US" dirty="0">
              <a:latin typeface="Cambria" panose="02040503050406030204" pitchFamily="18" charset="0"/>
              <a:ea typeface="Cambria" panose="02040503050406030204" pitchFamily="18" charset="0"/>
            </a:endParaRPr>
          </a:p>
          <a:p>
            <a:pPr marL="0" indent="0">
              <a:buNone/>
            </a:pPr>
            <a:r>
              <a:rPr lang="en-US" dirty="0">
                <a:latin typeface="Cambria" panose="02040503050406030204" pitchFamily="18" charset="0"/>
                <a:ea typeface="Cambria" panose="02040503050406030204" pitchFamily="18" charset="0"/>
              </a:rPr>
              <a:t>/* This Prolog program consists of various clauses. It is always terminated using the full stop.*/</a:t>
            </a:r>
            <a:r>
              <a:rPr lang="en-US" dirty="0"/>
              <a:t>  </a:t>
            </a:r>
          </a:p>
          <a:p>
            <a:pPr marL="0" indent="0">
              <a:buNone/>
            </a:pPr>
            <a:endParaRPr lang="en-US" dirty="0"/>
          </a:p>
        </p:txBody>
      </p:sp>
    </p:spTree>
    <p:extLst>
      <p:ext uri="{BB962C8B-B14F-4D97-AF65-F5344CB8AC3E}">
        <p14:creationId xmlns:p14="http://schemas.microsoft.com/office/powerpoint/2010/main" val="4161239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19907</TotalTime>
  <Words>5528</Words>
  <Application>Microsoft Office PowerPoint</Application>
  <PresentationFormat>Widescreen</PresentationFormat>
  <Paragraphs>399</Paragraphs>
  <Slides>68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68</vt:i4>
      </vt:variant>
    </vt:vector>
  </HeadingPairs>
  <TitlesOfParts>
    <vt:vector size="75" baseType="lpstr">
      <vt:lpstr>Arial</vt:lpstr>
      <vt:lpstr>Calibri</vt:lpstr>
      <vt:lpstr>Calibri Light</vt:lpstr>
      <vt:lpstr>Cambria</vt:lpstr>
      <vt:lpstr>inter-regular</vt:lpstr>
      <vt:lpstr>Times New Roman</vt:lpstr>
      <vt:lpstr>Office Theme</vt:lpstr>
      <vt:lpstr>FIRST ORDER LOGIC AND PROLOG</vt:lpstr>
      <vt:lpstr>First-order logic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Rule Based Expert Systems</vt:lpstr>
      <vt:lpstr>Rules as a Knowledge Representation Technique</vt:lpstr>
      <vt:lpstr>PowerPoint Presentation</vt:lpstr>
      <vt:lpstr>PowerPoint Presentation</vt:lpstr>
      <vt:lpstr>The main players in the development team</vt:lpstr>
      <vt:lpstr>Domain Expert</vt:lpstr>
      <vt:lpstr>Knowledge Engineer</vt:lpstr>
      <vt:lpstr>PowerPoint Presentation</vt:lpstr>
      <vt:lpstr>PowerPoint Presentation</vt:lpstr>
      <vt:lpstr>Reasoning and Planning</vt:lpstr>
      <vt:lpstr>Types of Reasoning  </vt:lpstr>
      <vt:lpstr>Deductive reasoning: </vt:lpstr>
      <vt:lpstr>PowerPoint Presentation</vt:lpstr>
      <vt:lpstr>Inductive Reasoning: </vt:lpstr>
      <vt:lpstr>PowerPoint Presentation</vt:lpstr>
      <vt:lpstr>Common Sense Reasoning </vt:lpstr>
      <vt:lpstr>Monotonic Reasoning: </vt:lpstr>
      <vt:lpstr>PowerPoint Presentation</vt:lpstr>
      <vt:lpstr>Non-monotonic Reasoning </vt:lpstr>
      <vt:lpstr>PowerPoint Presentation</vt:lpstr>
      <vt:lpstr>Planning</vt:lpstr>
      <vt:lpstr>What is a Plan? </vt:lpstr>
      <vt:lpstr>Forward State Space Planning (FSSP) </vt:lpstr>
      <vt:lpstr>Backward State Space Planning (BSSP) </vt:lpstr>
      <vt:lpstr>What is planning in AI? </vt:lpstr>
      <vt:lpstr>Block-world planning problem </vt:lpstr>
      <vt:lpstr>PowerPoint Presentation</vt:lpstr>
      <vt:lpstr>PowerPoint Presentation</vt:lpstr>
      <vt:lpstr>Target stack plan </vt:lpstr>
      <vt:lpstr>The important steps of the algorithm are mentioned below: </vt:lpstr>
      <vt:lpstr>First order logic</vt:lpstr>
      <vt:lpstr>PowerPoint Presentation</vt:lpstr>
      <vt:lpstr>Fundamentals of First-Order Logic </vt:lpstr>
      <vt:lpstr>PowerPoint Presentation</vt:lpstr>
      <vt:lpstr>Syntax and Semantics of First-Order Logic </vt:lpstr>
      <vt:lpstr>Applications of First-Order Logic in AI </vt:lpstr>
      <vt:lpstr>Example: Using First-Order Logic for Reasoning </vt:lpstr>
      <vt:lpstr>Challenges and Limitations </vt:lpstr>
      <vt:lpstr>Knowledge base System </vt:lpstr>
      <vt:lpstr>Knowledge-Based System in Artificial Intelligence </vt:lpstr>
      <vt:lpstr>The architecture of knowledge-based agent: </vt:lpstr>
      <vt:lpstr>A knowledge-based agent must able to do the following: </vt:lpstr>
      <vt:lpstr>Operations Performed by KBA </vt:lpstr>
      <vt:lpstr>PowerPoint Presentation</vt:lpstr>
      <vt:lpstr>PowerPoint Presentation</vt:lpstr>
      <vt:lpstr>Why use a knowledge base? </vt:lpstr>
      <vt:lpstr>Various levels of knowledge-based agents </vt:lpstr>
      <vt:lpstr>PowerPoint Presentation</vt:lpstr>
      <vt:lpstr>Approaches to designing a knowledge-based agent: </vt:lpstr>
      <vt:lpstr>A Logic based Financial Advisor</vt:lpstr>
      <vt:lpstr>PowerPoint Presentation</vt:lpstr>
      <vt:lpstr>PowerPoint Presentation</vt:lpstr>
      <vt:lpstr>PowerPoint Presentation</vt:lpstr>
      <vt:lpstr>Programming using Prolog</vt:lpstr>
      <vt:lpstr>PowerPoint Presentation</vt:lpstr>
      <vt:lpstr>PowerPoint Presentation</vt:lpstr>
      <vt:lpstr>Prolog Examples</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FIRST ORDER LOGIC AND PROLOG</dc:title>
  <dc:creator>Sowmiya</dc:creator>
  <cp:lastModifiedBy>Sowmya M</cp:lastModifiedBy>
  <cp:revision>51</cp:revision>
  <dcterms:created xsi:type="dcterms:W3CDTF">2024-06-21T04:01:39Z</dcterms:created>
  <dcterms:modified xsi:type="dcterms:W3CDTF">2025-05-22T08:27:11Z</dcterms:modified>
</cp:coreProperties>
</file>